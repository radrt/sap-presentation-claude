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Deschiderea: ăsta e un brief intern, nu o prezentare de vânzare. Acoperim ce e Claude Code, vocabularul de reținut (MCP, Skills, Subagents), ce face bine și comenzile pe care merită să le ții minte.
Audiența e mixtă — engineeri ȘI non-engineeri (PM-i, design). Scopul e înțelegere comună, nu evangelizare. La final, toată lumea să știe ce înseamnă când un coleg zice „am folosit Claude Code să fac refactor la auth layer".
Durata: ~15-20 min cu discuție. Pauze pentru întrebări după slide-urile de concepte (MCP, Skills, Subagents) — alea sunt cele mai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e tool-ul de coding agentic al Anthropic, lansat în 2025.
Ideea centrală: descrii un obiectiv în limba normală, Claude citește context-ul relevant din proiect, face un plan, editează fișiere, rulează comenzi (inclusiv teste), iterează dacă ceva nu merge, și îți prezintă rezultatul pentru review.
Terminal-ul din dreapta e un flow real cu un singur prompt: o cerere („adaugă paginare"), mai multe modificări de fișiere, test run, rezultat gata pentru commit. Round-trip-ul ăsta complet — de la intenție la schimbare verificată — e ce descriem prin „agentic" (detaliat pe slide-ul următor).
Notă tehnică: binarul CLI se cheamă literalmente `claude`. Produsul e numit după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înseamnă un sistem cu un scop, acces la tool-uri, și autonomia să continue până termină task-ul sau cere input.
Cele patru etape (Understand → Plan → Act → Verify) sunt un model mental simplificat, nu o taxonomie oficială din docs. Pentru task-uri complexe, bucla se execută de mai multe ori — Claude încearcă ceva, realizează că-i lipsește context, mai citește fișiere, re-planifică, acționează din nou.
Pentru audiența non-tech: AI-ul tradițional răspunde la întrebări. AI-ul agentic execută sarcini — primește un obiectiv, decide singur pașii, folosește tool-uri (citire fișiere, rulare comenzi), verifică rezultatul.
Claude cere permisiune înainte de acțiuni semnificative (rulare comenzi, editări de fișiere). Autonomia e limitată prin permisiuni — tu rămâi la butoane.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Aceste patru nume apar constant în documentația Claude Code. Slide-ul ăsta e glosarul — următoarele slide-uri le aprofundează pe fiecare.
Ordinea în care le vei întâlni:
• CLAUDE.md — din prima sesiune. E mecanismul prin care proiectul își transmite contextul la Claude.
• MCP — când vrei ca Claude să acceseze sisteme externe (ticket-uri, documente, baze de date).
• Skills — când începi să observi pattern-uri repetitive în ce îi ceri.
• Subagents — cazuri avansate, când vrei să izolezi un task mare de contextul principal.
Prioritate practică: CLAUDE.md e primul pe care merită să-l configurezi.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referință pentru unde trăiește configurarea.
Puncte de acoperit:
1. CLAUDE.md e fișierul principal de configurare. Se pune în root-ul repo-ului, se face commit, și Claude îl citește la fiecare sesiune. Docs-urile recomandă sub 200 de linii — fișierele mai lungi reduc cât de consistent le urmează Claude.
2. Ierarhia CLAUDE.md are trei niveluri:
   • ~/.claude/CLAUDE.md (global, aplicat peste toate proiectele)
   • CLAUDE.md (proiect, în repo, partajat cu echipa)
   • CLAUDE.local.md (personal, gitignored)
Claude încarcă toate trei și le concatenează. Când există conflicte, tier-ul mai specific (local &gt; project &gt; global) câștigă.
3. AGENTS.md: Claude Code nu citește direct AGENTS.md. Dacă repo-ul are deja un AGENTS.md (folosit de alte tool-uri AI), poți pune `@AGENTS.md` la începutul CLAUDE.md și conținutul va fi inclus.
4. Folder-ul .claude/ conține restul configurării:
   • skills/ — Skills custom (detaliate pe slide-ul următor)
   • agents/ — definiții de subagents
   • rules/ — reguli modulare cu scope pe path
   • settings.json — permisiuni, hooks, configurare MCP servers
5. Auto memory (v2.1.59+): Claude salvează și singur note între sesiuni, separat de CLAUDE.md manual. Vizualizare cu /memory.
Comanda `/init` rulată în proiect generează un CLAUDE.md de bază pe care îl poți edita.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e un standard deschis. Nu e specific Anthropic — alte tool-uri AI (Cursor, tool-urile OpenAI, etc.) îl suportă și ele. Un server MCP definit o dată poate fi folosit de mai multe clienți.
Cum funcționează: un server MCP expune un set de tool-uri și acces la date pentru un sistem extern. Claude se conectează la el și poate invoca tool-urile acelea în timpul sesiunii.
Cele patru exemple de pe slide (Drive, Slack, Jira, Postgres) sunt servere disponibile public. Mai există multe altele: GitHub, Notion, Linear, Sentry, Datadog, AWS, Google Calendar. Registry-ul MCP public conține lista completă.
Model de permisiuni: Claude cere aprobare prima dată când folosește un tool MCP într-o sesiune. Aprobarea e reținută pentru restul sesiunii.
Pentru utilizarea inițială: serverele de GitHub sau Jira sunt exemple de conectori care dau valoare imediată — interogări de tipul „listează PR-urile deschise" sau „ce ticket-uri sunt asignate 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au fost introduse la finalul lui 2025 ca standard deschis (spec-ul „Agent Skills"). Funcționează peste mai multe produse: Claude.ai, Claude Code, API-ul Anthropic.
Mecanismul de invocare e automat. Claude citește descrierile tuturor skill-urilor instalate la startul sesiunii. Când prompt-ul user-ului se potrivește cu o descriere, Claude încarcă conținutul complet al skill-ului și îl urmează ca instrucțiuni. Câmpul description din YAML frontmatter determină match-ul, deci formularea lui contează.
Skills sunt utile pentru a codifica proceduri pe care echipa le folosește recurent. Exemple:
• Checklist de creare PR în formatul convenit
• Procedura de deployment pentru un serviciu specific
• Reguli de security review
• Pattern-uri de scriere a testelor
Diferența față de CLAUDE.md: CLAUDE.md e încărcat la fiecare sesiune (context permanent). Skills se încarcă on-demand, doar când sunt relevante. Pentru context care e mereu aplicabil — CLAUDE.md. Pentru proceduri care apar situațional — Skills.
Locații: `.claude/skills/` (per proiect, în repo, partajat cu echipa) sau `~/.claude/skills/` (personal, peste toate proiectele).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Subagents rezolvă o problemă specifică: izolarea contextului. Când ai un task care produce mult output intermediar (review-uri, căutări, explorare de cod), acel output ar umple thread-ul principal. Un subagent e o instanță Claude separată, cu propriul context window și propriile tool-uri.
Exemplu tipic: pentru un security review, delegi task-ul unui subagent. Acesta explorează codul, identifică probleme, și returnează doar un sumar. Thread-ul tău principal nu e poluat cu zecile de file reads pe care subagentul le-a făcut.
Built-in subagents (documentate în docs oficial):
• Explore — pentru căutare și analiză read-only de codebase
• Plan — folosit în Plan Mode pentru culegerea de context
• general-purpose — pentru task-uri care necesită și explorare, și modificare
Custom subagents: definiți ca fișiere markdown cu YAML frontmatter în `.claude/agents/`. Câmpul `allowed-tools` restrânge ce poate folosi fiecare subagent (ex: un reviewer nu are acces la Bash, doar la Read/Grep).
Paralelism: subagents pot rula concurent. Când rulează mai mulți simultan, output-urile lor sunt coordonate de agentul principal.
Pentru echipa noastră: subagents sunt utile după ce workflow-ul de bază e stabilit. Recomandabil să ne obișnuim întâi cu CLAUDE.md, MCP și prompting-ul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listează cele șase categorii de acțiuni pentru care Claude Code e folosit cel mai des. Fiecare poate avea un demo de sine stătător.
Categorii de risc (util pentru echipa care începe):
Risc minim, bune ca prim contact:
• Explain code — operații read-only. Util când vrei să înțelegi un modul nou.
• Fix bugs — scope focalizat, ușor de verificat prin teste.
Risc mai mare, atenție la review:
• Refactor — modificări care pot atinge multe fișiere. Diff-ul trebuie citit cu atenție.
• Operații Git — verifică mesajul de commit și ce e în staging înainte să lași comanda să ruleze.
Lucrul peste mai multe fișiere e util în particular pentru refactoruri și schimbări consistente — un exemplu: redenumirea unui concept peste tot în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Bucla abstractă din slide-ul 3, aplicată pe un task concret — „adaugă rate limiting la API".
Timing aproximativ în practică:
• Etapele 1-2 (Understand, Plan) — de obicei secunde, Claude citește câteva fișiere cheie.
• Etapa 3 (Act) — unde se duce majoritatea timpului. Depinde de mărimea task-ului.
• Etapa 4 (Verify) — automată când există teste care rulează rapid.
Dacă planul din etapa 2 nu se aliniază cu ce ai vrut, poți întrerupe cu Ctrl+C și reformula. Nu e necesar să lași bucla să se execute dacă direcția e greșită — devine parte din flow-ul iterativ.
Pentru audiența non-tech: ce trebuie reținut nu sunt detaliile tehnice. E că Claude afișează ce face la fiecare etapă. Procesul e vizibil și întreruptibil — nu e o cutie neagră.
Exemplu similar poate fi folosit ca demo live — mic task pe un proiect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Același agent, interfețe diferite. Alegerea depinde de workflow.
Orientare pentru echipă:
• Terminal CLI — toate feature-urile disponibile, comenzi complete.
• Extensia VS Code — diff viewer integrat, @-mentions în editor.
• JetBrains — plugin cu funcționalitate similară, pentru IntelliJ, PyCharm, WebStorm.
• Desktop app — versiune nativă pentru macOS/Windows.
• Web (claude.ai/code) — rulează în cloud, fără setup local. Util pentru task-uri lungi care pot rula în background.
• iOS — permite începerea unui task de pe telefon, cu rezultatele accesibile ulterior.
GitHub Actions e singurul surface non-interactiv — se invocă prin tag-uirea @claude în PR-uri sau issue-uri, util pentru automatizare CI.
Toate surface-urile împart același cont și configurare — aceleași skills, aceleași MCP servers, aceeași ierarhie 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prompturi template care acoperă tipologii comune de folosire.
Ce au în comun: descriu rezultate, nu pași de execuție. Formulare de tipul „deschide fișierul X, modifică linia Y, salvează" e mai puțin eficientă decât formularea la nivel de obiectiv. Claude decide singur pașii pe baza contextului.
Ordinea în care sunt de încercat (de la cel mai puțin intruziv la cel mai mult):
1. Understand code — read-only, fără modificări. Util pentru familiarizare cu un proiect necunoscut.
2. Fix a bug — scope focalizat, verificabil prin teste.
3. Build a feature — modificări multiple, necesită review atent al diff-ului.
Notă de prompting: specificitatea constraint-urilor influențează calitatea rezultatului. „Adaugă paginare" e vag. „Adaugă paginare cursor-based la /users cu page size 20, urmând pattern-ul de error-handling din /posts" e specific și produce rezultate mai bine aliniate cu proiectul.
Pentru cineva care nu știe vocabularul tehnic: descrierea problemei în limba normală e suficientă. Claude pune întrebări de clarificare când are nevoie.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pentru referință. Nu e necesar de parcurs comandă cu comandă în prezentare — e util post-sesiune.
Cele două care apar cel mai des în folosirea zilnică:
• /clear — resetare a istoricului conversației când se trece la un task nou. Previne aglomerarea context-ului cu informații din task-uri anterioare.
• Shift+Tab — ciclează prin permission modes (Normal → Auto-Accept → Plan). Util când vrei Plan Mode înainte de execuție.
Alte comenzi utile:
• /compact — rezumă history-ul păstrând firul conversației. Alternativă la /clear când vrei să păstrezi contextul.
• `claude -p "..."` — mod non-interactiv. Rulează un prompt, afișează răspunsul, iese. Folosit în shell scripts și pipeline-uri CI.
• `--permission-mode acceptEdits` — auto-aprobă modificările de fișiere. Util după ce workflow-ul e familiar.
• `@` — referință la un fișier în prompt, ex: „explică @src/auth.ts".
Notă: Claude Code funcționează fără să memorezi aceste comenzi. Sunt shortcut-uri pentru folosire frecventă.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Pași concreți de încheiere:
Pentru engineeri:
1. Instalarea Claude Code (instrucțiuni pe docs.claude.com).
2. Scrierea unui CLAUDE.md pentru proiectul principal — convenții, comenzi uzuale, pattern-uri de urmărit.
3. Încercarea unui task concret: explicarea unui modul, fix la un bug, sau adăugarea unui test.
Pentru PM-i / design:
1. Accesarea claude.ai/code în browser — fără instalare.
2. Încercarea pe un task specific muncii: sumar al unui repo, review pe un PR, draft pentru un spec tehnic.
Pentru echipă (discuție ulterioară):
1. Identificarea MCP servers care s-ar potrivi cu workflow-ul nostru (ex: GitHub, Jira).
2. Discutarea experienței pe canalul de echipă.
3. Identificarea pattern-urilor repetitive care ar putea deveni Skills partajate.
Resurse oficiale: docs.claude.com/en/docs/claude-code. Changelog: docs.claude.com/en/release-notes/claude-code. Exemple de skills în repo-ul public anthropics/skills.
Întrebări.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64008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TEAM BRIEF  —  CLAUDE CODE</a:t>
            </a:r>
            <a:endParaRPr lang="en-US" sz="1100" dirty="0"/>
          </a:p>
        </p:txBody>
      </p:sp>
      <p:sp>
        <p:nvSpPr>
          <p:cNvPr id="4" name="Text 2"/>
          <p:cNvSpPr/>
          <p:nvPr/>
        </p:nvSpPr>
        <p:spPr>
          <a:xfrm>
            <a:off x="502920" y="1463040"/>
            <a:ext cx="8229600" cy="868680"/>
          </a:xfrm>
          <a:prstGeom prst="rect">
            <a:avLst/>
          </a:prstGeom>
          <a:noFill/>
          <a:ln/>
        </p:spPr>
        <p:txBody>
          <a:bodyPr wrap="square" lIns="0" tIns="0" rIns="0" bIns="0" rtlCol="0" anchor="ctr"/>
          <a:lstStyle/>
          <a:p>
            <a:pPr indent="0" marL="0">
              <a:buNone/>
            </a:pPr>
            <a:r>
              <a:rPr lang="en-US" sz="5000" b="1" dirty="0">
                <a:solidFill>
                  <a:srgbClr val="F7F5F0"/>
                </a:solidFill>
                <a:latin typeface="Georgia" pitchFamily="34" charset="0"/>
                <a:ea typeface="Georgia" pitchFamily="34" charset="-122"/>
                <a:cs typeface="Georgia" pitchFamily="34" charset="-120"/>
              </a:rPr>
              <a:t>Agentic coding,</a:t>
            </a:r>
            <a:endParaRPr lang="en-US" sz="5000" dirty="0"/>
          </a:p>
        </p:txBody>
      </p:sp>
      <p:sp>
        <p:nvSpPr>
          <p:cNvPr id="5" name="Text 3"/>
          <p:cNvSpPr/>
          <p:nvPr/>
        </p:nvSpPr>
        <p:spPr>
          <a:xfrm>
            <a:off x="502920" y="2331720"/>
            <a:ext cx="8229600" cy="868680"/>
          </a:xfrm>
          <a:prstGeom prst="rect">
            <a:avLst/>
          </a:prstGeom>
          <a:noFill/>
          <a:ln/>
        </p:spPr>
        <p:txBody>
          <a:bodyPr wrap="square" lIns="0" tIns="0" rIns="0" bIns="0" rtlCol="0" anchor="ctr"/>
          <a:lstStyle/>
          <a:p>
            <a:pPr indent="0" marL="0">
              <a:buNone/>
            </a:pPr>
            <a:r>
              <a:rPr lang="en-US" sz="5000" i="1" dirty="0">
                <a:solidFill>
                  <a:srgbClr val="CC785C"/>
                </a:solidFill>
                <a:latin typeface="Georgia" pitchFamily="34" charset="0"/>
                <a:ea typeface="Georgia" pitchFamily="34" charset="-122"/>
                <a:cs typeface="Georgia" pitchFamily="34" charset="-120"/>
              </a:rPr>
              <a:t>right in your terminal.</a:t>
            </a:r>
            <a:endParaRPr lang="en-US" sz="5000" dirty="0"/>
          </a:p>
        </p:txBody>
      </p:sp>
      <p:sp>
        <p:nvSpPr>
          <p:cNvPr id="6" name="Text 4"/>
          <p:cNvSpPr/>
          <p:nvPr/>
        </p:nvSpPr>
        <p:spPr>
          <a:xfrm>
            <a:off x="502920" y="3383280"/>
            <a:ext cx="8138160" cy="822960"/>
          </a:xfrm>
          <a:prstGeom prst="rect">
            <a:avLst/>
          </a:prstGeom>
          <a:noFill/>
          <a:ln/>
        </p:spPr>
        <p:txBody>
          <a:bodyPr wrap="square" lIns="0" tIns="0" rIns="0" bIns="0" rtlCol="0" anchor="ctr"/>
          <a:lstStyle/>
          <a:p>
            <a:pPr indent="0" marL="0">
              <a:buNone/>
            </a:pPr>
            <a:r>
              <a:rPr lang="en-US" sz="1400" dirty="0">
                <a:solidFill>
                  <a:srgbClr val="A9A69E"/>
                </a:solidFill>
                <a:latin typeface="Calibri" pitchFamily="34" charset="0"/>
                <a:ea typeface="Calibri" pitchFamily="34" charset="-122"/>
                <a:cs typeface="Calibri" pitchFamily="34" charset="-120"/>
              </a:rPr>
              <a:t>A technical overview for the team — what Claude Code is, the key concepts (MCP, Skills, Subagents), what it does well, and the commands you'll actually use.</a:t>
            </a:r>
            <a:endParaRPr lang="en-US" sz="1400" dirty="0"/>
          </a:p>
        </p:txBody>
      </p:sp>
      <p:sp>
        <p:nvSpPr>
          <p:cNvPr id="7" name="Shape 5"/>
          <p:cNvSpPr/>
          <p:nvPr/>
        </p:nvSpPr>
        <p:spPr>
          <a:xfrm>
            <a:off x="502920" y="4617720"/>
            <a:ext cx="8138160" cy="0"/>
          </a:xfrm>
          <a:prstGeom prst="line">
            <a:avLst/>
          </a:prstGeom>
          <a:noFill/>
          <a:ln w="12700">
            <a:solidFill>
              <a:srgbClr val="2A2B30"/>
            </a:solidFill>
            <a:prstDash val="solid"/>
          </a:ln>
        </p:spPr>
      </p:sp>
      <p:sp>
        <p:nvSpPr>
          <p:cNvPr id="8" name="Text 6"/>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For internal discussion</a:t>
            </a:r>
            <a:endParaRPr lang="en-US" sz="1000" dirty="0"/>
          </a:p>
        </p:txBody>
      </p:sp>
      <p:sp>
        <p:nvSpPr>
          <p:cNvPr id="9" name="Text 7"/>
          <p:cNvSpPr/>
          <p:nvPr/>
        </p:nvSpPr>
        <p:spPr>
          <a:xfrm>
            <a:off x="6766560" y="4709160"/>
            <a:ext cx="1920240" cy="274320"/>
          </a:xfrm>
          <a:prstGeom prst="rect">
            <a:avLst/>
          </a:prstGeom>
          <a:noFill/>
          <a:ln/>
        </p:spPr>
        <p:txBody>
          <a:bodyPr wrap="square" lIns="0" tIns="0" rIns="0" bIns="0" rtlCol="0" anchor="ctr"/>
          <a:lstStyle/>
          <a:p>
            <a:pPr algn="r" indent="0" marL="0">
              <a:buNone/>
            </a:pPr>
            <a:r>
              <a:rPr lang="en-US" sz="1000" dirty="0">
                <a:solidFill>
                  <a:srgbClr val="CC785C"/>
                </a:solidFill>
                <a:latin typeface="Consolas" pitchFamily="34" charset="0"/>
                <a:ea typeface="Consolas" pitchFamily="34" charset="-122"/>
                <a:cs typeface="Consolas" pitchFamily="34" charset="-120"/>
              </a:rPr>
              <a:t>claude.com/code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01  —  OVERVIEW</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is Claude Code?</a:t>
            </a:r>
            <a:endParaRPr lang="en-US" sz="3600" dirty="0"/>
          </a:p>
        </p:txBody>
      </p:sp>
      <p:sp>
        <p:nvSpPr>
          <p:cNvPr id="4" name="Text 2"/>
          <p:cNvSpPr/>
          <p:nvPr/>
        </p:nvSpPr>
        <p:spPr>
          <a:xfrm>
            <a:off x="502920" y="1737360"/>
            <a:ext cx="4297680" cy="1371600"/>
          </a:xfrm>
          <a:prstGeom prst="rect">
            <a:avLst/>
          </a:prstGeom>
          <a:noFill/>
          <a:ln/>
        </p:spPr>
        <p:txBody>
          <a:bodyPr wrap="square" lIns="0" tIns="0" rIns="0" bIns="0" rtlCol="0" anchor="ctr"/>
          <a:lstStyle/>
          <a:p>
            <a:pPr indent="0" marL="0">
              <a:buNone/>
            </a:pPr>
            <a:r>
              <a:rPr lang="en-US" sz="1500" dirty="0">
                <a:solidFill>
                  <a:srgbClr val="1A1B1F"/>
                </a:solidFill>
                <a:latin typeface="Calibri" pitchFamily="34" charset="0"/>
                <a:ea typeface="Calibri" pitchFamily="34" charset="-122"/>
                <a:cs typeface="Calibri" pitchFamily="34" charset="-120"/>
              </a:rPr>
              <a:t>Claude Code is Anthropic's agentic coding assistant. It understands your codebase and works across files, tools, and terminals — through natural language.</a:t>
            </a:r>
            <a:endParaRPr lang="en-US" sz="1500" dirty="0"/>
          </a:p>
        </p:txBody>
      </p:sp>
      <p:sp>
        <p:nvSpPr>
          <p:cNvPr id="5" name="Text 3"/>
          <p:cNvSpPr/>
          <p:nvPr/>
        </p:nvSpPr>
        <p:spPr>
          <a:xfrm>
            <a:off x="502920" y="3154680"/>
            <a:ext cx="4297680" cy="109728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describe what you want. Claude Code plans the approach, writes the code, runs the tests, and verifies the result.</a:t>
            </a:r>
            <a:endParaRPr lang="en-US" sz="1300" dirty="0"/>
          </a:p>
        </p:txBody>
      </p:sp>
      <p:sp>
        <p:nvSpPr>
          <p:cNvPr id="6" name="Shape 4"/>
          <p:cNvSpPr/>
          <p:nvPr/>
        </p:nvSpPr>
        <p:spPr>
          <a:xfrm>
            <a:off x="5074920" y="1691640"/>
            <a:ext cx="3566160" cy="283464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7" name="Shape 5"/>
          <p:cNvSpPr/>
          <p:nvPr/>
        </p:nvSpPr>
        <p:spPr>
          <a:xfrm>
            <a:off x="5074920" y="1691640"/>
            <a:ext cx="3566160" cy="320040"/>
          </a:xfrm>
          <a:prstGeom prst="rect">
            <a:avLst/>
          </a:prstGeom>
          <a:solidFill>
            <a:srgbClr val="2A2B30"/>
          </a:solidFill>
          <a:ln w="12700">
            <a:solidFill>
              <a:srgbClr val="2A2B30"/>
            </a:solidFill>
            <a:prstDash val="solid"/>
          </a:ln>
        </p:spPr>
      </p:sp>
      <p:sp>
        <p:nvSpPr>
          <p:cNvPr id="8" name="Shape 6"/>
          <p:cNvSpPr/>
          <p:nvPr/>
        </p:nvSpPr>
        <p:spPr>
          <a:xfrm>
            <a:off x="5184648" y="1783080"/>
            <a:ext cx="128016" cy="128016"/>
          </a:xfrm>
          <a:prstGeom prst="ellipse">
            <a:avLst/>
          </a:prstGeom>
          <a:solidFill>
            <a:srgbClr val="FF5F56"/>
          </a:solidFill>
          <a:ln w="12700">
            <a:solidFill>
              <a:srgbClr val="FF5F56"/>
            </a:solidFill>
            <a:prstDash val="solid"/>
          </a:ln>
        </p:spPr>
      </p:sp>
      <p:sp>
        <p:nvSpPr>
          <p:cNvPr id="9" name="Shape 7"/>
          <p:cNvSpPr/>
          <p:nvPr/>
        </p:nvSpPr>
        <p:spPr>
          <a:xfrm>
            <a:off x="5385816" y="1783080"/>
            <a:ext cx="128016" cy="128016"/>
          </a:xfrm>
          <a:prstGeom prst="ellipse">
            <a:avLst/>
          </a:prstGeom>
          <a:solidFill>
            <a:srgbClr val="FFBD2E"/>
          </a:solidFill>
          <a:ln w="12700">
            <a:solidFill>
              <a:srgbClr val="FFBD2E"/>
            </a:solidFill>
            <a:prstDash val="solid"/>
          </a:ln>
        </p:spPr>
      </p:sp>
      <p:sp>
        <p:nvSpPr>
          <p:cNvPr id="10" name="Shape 8"/>
          <p:cNvSpPr/>
          <p:nvPr/>
        </p:nvSpPr>
        <p:spPr>
          <a:xfrm>
            <a:off x="5586984" y="1783080"/>
            <a:ext cx="128016" cy="128016"/>
          </a:xfrm>
          <a:prstGeom prst="ellipse">
            <a:avLst/>
          </a:prstGeom>
          <a:solidFill>
            <a:srgbClr val="27C93F"/>
          </a:solidFill>
          <a:ln w="12700">
            <a:solidFill>
              <a:srgbClr val="27C93F"/>
            </a:solidFill>
            <a:prstDash val="solid"/>
          </a:ln>
        </p:spPr>
      </p:sp>
      <p:sp>
        <p:nvSpPr>
          <p:cNvPr id="11" name="Text 9"/>
          <p:cNvSpPr/>
          <p:nvPr/>
        </p:nvSpPr>
        <p:spPr>
          <a:xfrm>
            <a:off x="5897880" y="1746504"/>
            <a:ext cx="265176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~/my-app</a:t>
            </a:r>
            <a:endParaRPr lang="en-US" sz="1000" dirty="0"/>
          </a:p>
        </p:txBody>
      </p:sp>
      <p:sp>
        <p:nvSpPr>
          <p:cNvPr id="12" name="Text 10"/>
          <p:cNvSpPr/>
          <p:nvPr/>
        </p:nvSpPr>
        <p:spPr>
          <a:xfrm>
            <a:off x="5257800" y="2148840"/>
            <a:ext cx="3200400" cy="2240280"/>
          </a:xfrm>
          <a:prstGeom prst="rect">
            <a:avLst/>
          </a:prstGeom>
          <a:noFill/>
          <a:ln/>
        </p:spPr>
        <p:txBody>
          <a:bodyPr wrap="square" lIns="0" tIns="0" rIns="0" bIns="0" rtlCol="0" anchor="t"/>
          <a:lstStyle/>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 claude</a:t>
            </a:r>
            <a:endParaRPr lang="en-US" sz="1050" dirty="0"/>
          </a:p>
          <a:p>
            <a:pPr indent="0" marL="0">
              <a:spcAft>
                <a:spcPts val="200"/>
              </a:spcAft>
              <a:buNone/>
            </a:pPr>
            <a:r>
              <a:rPr lang="en-US" sz="1050" dirty="0">
                <a:solidFill>
                  <a:srgbClr val="CC785C"/>
                </a:solidFill>
                <a:latin typeface="Consolas" pitchFamily="34" charset="0"/>
                <a:ea typeface="Consolas" pitchFamily="34" charset="-122"/>
                <a:cs typeface="Consolas" pitchFamily="34" charset="-120"/>
              </a:rPr>
              <a:t>&gt; Add pagination to the users endpoint</a:t>
            </a:r>
            <a:endParaRPr lang="en-US" sz="1050" dirty="0"/>
          </a:p>
          <a:p>
            <a:pPr indent="0" marL="0">
              <a:spcAft>
                <a:spcPts val="200"/>
              </a:spcAft>
              <a:buNone/>
            </a:pP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Reading routes/users.js</a:t>
            </a: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Updating controller + adding tests</a:t>
            </a:r>
            <a:endParaRPr lang="en-US" sz="1050" dirty="0"/>
          </a:p>
          <a:p>
            <a:pPr indent="0" marL="0">
              <a:spcAft>
                <a:spcPts val="200"/>
              </a:spcAft>
              <a:buNone/>
            </a:pPr>
            <a:r>
              <a:rPr lang="en-US" sz="1050" dirty="0">
                <a:solidFill>
                  <a:srgbClr val="27C93F"/>
                </a:solidFill>
                <a:latin typeface="Consolas" pitchFamily="34" charset="0"/>
                <a:ea typeface="Consolas" pitchFamily="34" charset="-122"/>
                <a:cs typeface="Consolas" pitchFamily="34" charset="-120"/>
              </a:rPr>
              <a:t>● Running test suite... 14 passed</a:t>
            </a:r>
            <a:endParaRPr lang="en-US" sz="1050" dirty="0"/>
          </a:p>
          <a:p>
            <a:pPr indent="0" marL="0">
              <a:spcAft>
                <a:spcPts val="200"/>
              </a:spcAft>
              <a:buNone/>
            </a:pPr>
            <a:endParaRPr lang="en-US" sz="1050" dirty="0"/>
          </a:p>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Pagination added. Ready to commit?</a:t>
            </a:r>
            <a:endParaRPr lang="en-US" sz="1050" dirty="0"/>
          </a:p>
        </p:txBody>
      </p:sp>
      <p:sp>
        <p:nvSpPr>
          <p:cNvPr id="13" name="Text 1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02  —  THE CORE IDEA</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does "agentic" mean?</a:t>
            </a:r>
            <a:endParaRPr lang="en-US" sz="3600" dirty="0"/>
          </a:p>
        </p:txBody>
      </p:sp>
      <p:sp>
        <p:nvSpPr>
          <p:cNvPr id="4" name="Text 2"/>
          <p:cNvSpPr/>
          <p:nvPr/>
        </p:nvSpPr>
        <p:spPr>
          <a:xfrm>
            <a:off x="502920" y="1417320"/>
            <a:ext cx="8229600" cy="502920"/>
          </a:xfrm>
          <a:prstGeom prst="rect">
            <a:avLst/>
          </a:prstGeom>
          <a:noFill/>
          <a:ln/>
        </p:spPr>
        <p:txBody>
          <a:bodyPr wrap="square" lIns="0" tIns="0" rIns="0" bIns="0" rtlCol="0" anchor="ctr"/>
          <a:lstStyle/>
          <a:p>
            <a:pPr indent="0" marL="0">
              <a:buNone/>
            </a:pPr>
            <a:r>
              <a:rPr lang="en-US" sz="1400" i="1" dirty="0">
                <a:solidFill>
                  <a:srgbClr val="6B6A66"/>
                </a:solidFill>
                <a:latin typeface="Calibri" pitchFamily="34" charset="0"/>
                <a:ea typeface="Calibri" pitchFamily="34" charset="-122"/>
                <a:cs typeface="Calibri" pitchFamily="34" charset="-120"/>
              </a:rPr>
              <a:t>Not autocomplete. An agent plans, takes actions with tools, observes the result, and keeps going until the task is done.</a:t>
            </a:r>
            <a:endParaRPr lang="en-US" sz="1400" dirty="0"/>
          </a:p>
        </p:txBody>
      </p:sp>
      <p:sp>
        <p:nvSpPr>
          <p:cNvPr id="5" name="Shape 3"/>
          <p:cNvSpPr/>
          <p:nvPr/>
        </p:nvSpPr>
        <p:spPr>
          <a:xfrm>
            <a:off x="1783080" y="2926080"/>
            <a:ext cx="1005840" cy="0"/>
          </a:xfrm>
          <a:prstGeom prst="line">
            <a:avLst/>
          </a:prstGeom>
          <a:noFill/>
          <a:ln w="19050">
            <a:solidFill>
              <a:srgbClr val="CC785C"/>
            </a:solidFill>
            <a:prstDash val="solid"/>
            <a:tailEnd type="triangle"/>
          </a:ln>
        </p:spPr>
      </p:sp>
      <p:sp>
        <p:nvSpPr>
          <p:cNvPr id="6" name="Shape 4"/>
          <p:cNvSpPr/>
          <p:nvPr/>
        </p:nvSpPr>
        <p:spPr>
          <a:xfrm>
            <a:off x="3931920" y="2926080"/>
            <a:ext cx="1005840" cy="0"/>
          </a:xfrm>
          <a:prstGeom prst="line">
            <a:avLst/>
          </a:prstGeom>
          <a:noFill/>
          <a:ln w="19050">
            <a:solidFill>
              <a:srgbClr val="CC785C"/>
            </a:solidFill>
            <a:prstDash val="solid"/>
            <a:tailEnd type="triangle"/>
          </a:ln>
        </p:spPr>
      </p:sp>
      <p:sp>
        <p:nvSpPr>
          <p:cNvPr id="7" name="Shape 5"/>
          <p:cNvSpPr/>
          <p:nvPr/>
        </p:nvSpPr>
        <p:spPr>
          <a:xfrm>
            <a:off x="6080760" y="2926080"/>
            <a:ext cx="1005840" cy="0"/>
          </a:xfrm>
          <a:prstGeom prst="line">
            <a:avLst/>
          </a:prstGeom>
          <a:noFill/>
          <a:ln w="19050">
            <a:solidFill>
              <a:srgbClr val="CC785C"/>
            </a:solidFill>
            <a:prstDash val="solid"/>
            <a:tailEnd type="triangle"/>
          </a:ln>
        </p:spPr>
      </p:sp>
      <p:sp>
        <p:nvSpPr>
          <p:cNvPr id="8" name="Shape 6"/>
          <p:cNvSpPr/>
          <p:nvPr/>
        </p:nvSpPr>
        <p:spPr>
          <a:xfrm>
            <a:off x="82296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9" name="Image 0" descr="preencoded.png">    </p:cNvPr>
          <p:cNvPicPr>
            <a:picLocks noChangeAspect="1"/>
          </p:cNvPicPr>
          <p:nvPr/>
        </p:nvPicPr>
        <p:blipFill>
          <a:blip r:embed="rId1"/>
          <a:stretch>
            <a:fillRect/>
          </a:stretch>
        </p:blipFill>
        <p:spPr>
          <a:xfrm>
            <a:off x="1097280" y="2743200"/>
            <a:ext cx="365760" cy="365760"/>
          </a:xfrm>
          <a:prstGeom prst="rect">
            <a:avLst/>
          </a:prstGeom>
        </p:spPr>
      </p:pic>
      <p:sp>
        <p:nvSpPr>
          <p:cNvPr id="10" name="Text 7"/>
          <p:cNvSpPr/>
          <p:nvPr/>
        </p:nvSpPr>
        <p:spPr>
          <a:xfrm>
            <a:off x="82296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1</a:t>
            </a:r>
            <a:endParaRPr lang="en-US" sz="1000" dirty="0"/>
          </a:p>
        </p:txBody>
      </p:sp>
      <p:sp>
        <p:nvSpPr>
          <p:cNvPr id="11" name="Text 8"/>
          <p:cNvSpPr/>
          <p:nvPr/>
        </p:nvSpPr>
        <p:spPr>
          <a:xfrm>
            <a:off x="59436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Understand</a:t>
            </a:r>
            <a:endParaRPr lang="en-US" sz="1500" dirty="0"/>
          </a:p>
        </p:txBody>
      </p:sp>
      <p:sp>
        <p:nvSpPr>
          <p:cNvPr id="12" name="Text 9"/>
          <p:cNvSpPr/>
          <p:nvPr/>
        </p:nvSpPr>
        <p:spPr>
          <a:xfrm>
            <a:off x="45720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Read files, build context</a:t>
            </a:r>
            <a:endParaRPr lang="en-US" sz="1100" dirty="0"/>
          </a:p>
        </p:txBody>
      </p:sp>
      <p:sp>
        <p:nvSpPr>
          <p:cNvPr id="13" name="Shape 10"/>
          <p:cNvSpPr/>
          <p:nvPr/>
        </p:nvSpPr>
        <p:spPr>
          <a:xfrm>
            <a:off x="297180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4" name="Image 1" descr="preencoded.png">    </p:cNvPr>
          <p:cNvPicPr>
            <a:picLocks noChangeAspect="1"/>
          </p:cNvPicPr>
          <p:nvPr/>
        </p:nvPicPr>
        <p:blipFill>
          <a:blip r:embed="rId2"/>
          <a:stretch>
            <a:fillRect/>
          </a:stretch>
        </p:blipFill>
        <p:spPr>
          <a:xfrm>
            <a:off x="3246120" y="2743200"/>
            <a:ext cx="365760" cy="365760"/>
          </a:xfrm>
          <a:prstGeom prst="rect">
            <a:avLst/>
          </a:prstGeom>
        </p:spPr>
      </p:pic>
      <p:sp>
        <p:nvSpPr>
          <p:cNvPr id="15" name="Text 11"/>
          <p:cNvSpPr/>
          <p:nvPr/>
        </p:nvSpPr>
        <p:spPr>
          <a:xfrm>
            <a:off x="297180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2</a:t>
            </a:r>
            <a:endParaRPr lang="en-US" sz="1000" dirty="0"/>
          </a:p>
        </p:txBody>
      </p:sp>
      <p:sp>
        <p:nvSpPr>
          <p:cNvPr id="16" name="Text 12"/>
          <p:cNvSpPr/>
          <p:nvPr/>
        </p:nvSpPr>
        <p:spPr>
          <a:xfrm>
            <a:off x="274320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Plan</a:t>
            </a:r>
            <a:endParaRPr lang="en-US" sz="1500" dirty="0"/>
          </a:p>
        </p:txBody>
      </p:sp>
      <p:sp>
        <p:nvSpPr>
          <p:cNvPr id="17" name="Text 13"/>
          <p:cNvSpPr/>
          <p:nvPr/>
        </p:nvSpPr>
        <p:spPr>
          <a:xfrm>
            <a:off x="260604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Decide approach, pick tools</a:t>
            </a:r>
            <a:endParaRPr lang="en-US" sz="1100" dirty="0"/>
          </a:p>
        </p:txBody>
      </p:sp>
      <p:sp>
        <p:nvSpPr>
          <p:cNvPr id="18" name="Shape 14"/>
          <p:cNvSpPr/>
          <p:nvPr/>
        </p:nvSpPr>
        <p:spPr>
          <a:xfrm>
            <a:off x="512064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9" name="Image 2" descr="preencoded.png">    </p:cNvPr>
          <p:cNvPicPr>
            <a:picLocks noChangeAspect="1"/>
          </p:cNvPicPr>
          <p:nvPr/>
        </p:nvPicPr>
        <p:blipFill>
          <a:blip r:embed="rId3"/>
          <a:stretch>
            <a:fillRect/>
          </a:stretch>
        </p:blipFill>
        <p:spPr>
          <a:xfrm>
            <a:off x="5394960" y="2743200"/>
            <a:ext cx="365760" cy="365760"/>
          </a:xfrm>
          <a:prstGeom prst="rect">
            <a:avLst/>
          </a:prstGeom>
        </p:spPr>
      </p:pic>
      <p:sp>
        <p:nvSpPr>
          <p:cNvPr id="20" name="Text 15"/>
          <p:cNvSpPr/>
          <p:nvPr/>
        </p:nvSpPr>
        <p:spPr>
          <a:xfrm>
            <a:off x="512064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3</a:t>
            </a:r>
            <a:endParaRPr lang="en-US" sz="1000" dirty="0"/>
          </a:p>
        </p:txBody>
      </p:sp>
      <p:sp>
        <p:nvSpPr>
          <p:cNvPr id="21" name="Text 16"/>
          <p:cNvSpPr/>
          <p:nvPr/>
        </p:nvSpPr>
        <p:spPr>
          <a:xfrm>
            <a:off x="489204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Act</a:t>
            </a:r>
            <a:endParaRPr lang="en-US" sz="1500" dirty="0"/>
          </a:p>
        </p:txBody>
      </p:sp>
      <p:sp>
        <p:nvSpPr>
          <p:cNvPr id="22" name="Text 17"/>
          <p:cNvSpPr/>
          <p:nvPr/>
        </p:nvSpPr>
        <p:spPr>
          <a:xfrm>
            <a:off x="475488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Edit code, run commands</a:t>
            </a:r>
            <a:endParaRPr lang="en-US" sz="1100" dirty="0"/>
          </a:p>
        </p:txBody>
      </p:sp>
      <p:sp>
        <p:nvSpPr>
          <p:cNvPr id="23" name="Shape 18"/>
          <p:cNvSpPr/>
          <p:nvPr/>
        </p:nvSpPr>
        <p:spPr>
          <a:xfrm>
            <a:off x="726948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24" name="Image 3" descr="preencoded.png">    </p:cNvPr>
          <p:cNvPicPr>
            <a:picLocks noChangeAspect="1"/>
          </p:cNvPicPr>
          <p:nvPr/>
        </p:nvPicPr>
        <p:blipFill>
          <a:blip r:embed="rId4"/>
          <a:stretch>
            <a:fillRect/>
          </a:stretch>
        </p:blipFill>
        <p:spPr>
          <a:xfrm>
            <a:off x="7543800" y="2743200"/>
            <a:ext cx="365760" cy="365760"/>
          </a:xfrm>
          <a:prstGeom prst="rect">
            <a:avLst/>
          </a:prstGeom>
        </p:spPr>
      </p:pic>
      <p:sp>
        <p:nvSpPr>
          <p:cNvPr id="25" name="Text 19"/>
          <p:cNvSpPr/>
          <p:nvPr/>
        </p:nvSpPr>
        <p:spPr>
          <a:xfrm>
            <a:off x="726948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4</a:t>
            </a:r>
            <a:endParaRPr lang="en-US" sz="1000" dirty="0"/>
          </a:p>
        </p:txBody>
      </p:sp>
      <p:sp>
        <p:nvSpPr>
          <p:cNvPr id="26" name="Text 20"/>
          <p:cNvSpPr/>
          <p:nvPr/>
        </p:nvSpPr>
        <p:spPr>
          <a:xfrm>
            <a:off x="704088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Verify</a:t>
            </a:r>
            <a:endParaRPr lang="en-US" sz="1500" dirty="0"/>
          </a:p>
        </p:txBody>
      </p:sp>
      <p:sp>
        <p:nvSpPr>
          <p:cNvPr id="27" name="Text 21"/>
          <p:cNvSpPr/>
          <p:nvPr/>
        </p:nvSpPr>
        <p:spPr>
          <a:xfrm>
            <a:off x="690372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Run tests, check output</a:t>
            </a:r>
            <a:endParaRPr lang="en-US" sz="1100" dirty="0"/>
          </a:p>
        </p:txBody>
      </p:sp>
      <p:sp>
        <p:nvSpPr>
          <p:cNvPr id="28" name="Text 22"/>
          <p:cNvSpPr/>
          <p:nvPr/>
        </p:nvSpPr>
        <p:spPr>
          <a:xfrm>
            <a:off x="3200400" y="4526280"/>
            <a:ext cx="2743200" cy="274320"/>
          </a:xfrm>
          <a:prstGeom prst="rect">
            <a:avLst/>
          </a:prstGeom>
          <a:noFill/>
          <a:ln/>
        </p:spPr>
        <p:txBody>
          <a:bodyPr wrap="square" lIns="0" tIns="0" rIns="0" bIns="0" rtlCol="0" anchor="ctr"/>
          <a:lstStyle/>
          <a:p>
            <a:pPr algn="ctr" indent="0" marL="0">
              <a:buNone/>
            </a:pPr>
            <a:r>
              <a:rPr lang="en-US" sz="1100" i="1" dirty="0">
                <a:solidFill>
                  <a:srgbClr val="6B6A66"/>
                </a:solidFill>
                <a:latin typeface="Calibri" pitchFamily="34" charset="0"/>
                <a:ea typeface="Calibri" pitchFamily="34" charset="-122"/>
                <a:cs typeface="Calibri" pitchFamily="34" charset="-120"/>
              </a:rPr>
              <a:t>↻  repeat until done</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03  —  TERMINOLOGY</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building blocks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Four concepts come up constantly. Knowing them unlocks most of the power-user features.</a:t>
            </a:r>
            <a:endParaRPr lang="en-US" sz="1300" dirty="0"/>
          </a:p>
        </p:txBody>
      </p:sp>
      <p:sp>
        <p:nvSpPr>
          <p:cNvPr id="5" name="Shape 3"/>
          <p:cNvSpPr/>
          <p:nvPr/>
        </p:nvSpPr>
        <p:spPr>
          <a:xfrm>
            <a:off x="5029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65960"/>
            <a:ext cx="64008" cy="1371600"/>
          </a:xfrm>
          <a:prstGeom prst="rect">
            <a:avLst/>
          </a:prstGeom>
          <a:solidFill>
            <a:srgbClr val="CC785C"/>
          </a:solidFill>
          <a:ln w="12700">
            <a:solidFill>
              <a:srgbClr val="CC785C"/>
            </a:solidFill>
            <a:prstDash val="solid"/>
          </a:ln>
        </p:spPr>
      </p:sp>
      <p:pic>
        <p:nvPicPr>
          <p:cNvPr id="7" name="Image 0" descr="preencoded.png">    </p:cNvPr>
          <p:cNvPicPr>
            <a:picLocks noChangeAspect="1"/>
          </p:cNvPicPr>
          <p:nvPr/>
        </p:nvPicPr>
        <p:blipFill>
          <a:blip r:embed="rId1"/>
          <a:stretch>
            <a:fillRect/>
          </a:stretch>
        </p:blipFill>
        <p:spPr>
          <a:xfrm>
            <a:off x="758952" y="2194560"/>
            <a:ext cx="320040" cy="320040"/>
          </a:xfrm>
          <a:prstGeom prst="rect">
            <a:avLst/>
          </a:prstGeom>
        </p:spPr>
      </p:pic>
      <p:sp>
        <p:nvSpPr>
          <p:cNvPr id="8" name="Text 5"/>
          <p:cNvSpPr/>
          <p:nvPr/>
        </p:nvSpPr>
        <p:spPr>
          <a:xfrm>
            <a:off x="11887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MCP</a:t>
            </a:r>
            <a:endParaRPr lang="en-US" sz="1800" dirty="0"/>
          </a:p>
        </p:txBody>
      </p:sp>
      <p:sp>
        <p:nvSpPr>
          <p:cNvPr id="9" name="Text 6"/>
          <p:cNvSpPr/>
          <p:nvPr/>
        </p:nvSpPr>
        <p:spPr>
          <a:xfrm>
            <a:off x="11887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Model Context Protocol</a:t>
            </a:r>
            <a:endParaRPr lang="en-US" sz="1000" dirty="0"/>
          </a:p>
        </p:txBody>
      </p:sp>
      <p:sp>
        <p:nvSpPr>
          <p:cNvPr id="10" name="Text 7"/>
          <p:cNvSpPr/>
          <p:nvPr/>
        </p:nvSpPr>
        <p:spPr>
          <a:xfrm>
            <a:off x="7589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An open standard for connecting Claude to external tools and data — Google Drive, Jira, Slack, databases, or your own internal APIs.</a:t>
            </a:r>
            <a:endParaRPr lang="en-US" sz="1100" dirty="0"/>
          </a:p>
        </p:txBody>
      </p:sp>
      <p:sp>
        <p:nvSpPr>
          <p:cNvPr id="11" name="Shape 8"/>
          <p:cNvSpPr/>
          <p:nvPr/>
        </p:nvSpPr>
        <p:spPr>
          <a:xfrm>
            <a:off x="46177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9"/>
          <p:cNvSpPr/>
          <p:nvPr/>
        </p:nvSpPr>
        <p:spPr>
          <a:xfrm>
            <a:off x="4617720" y="1965960"/>
            <a:ext cx="64008" cy="1371600"/>
          </a:xfrm>
          <a:prstGeom prst="rect">
            <a:avLst/>
          </a:prstGeom>
          <a:solidFill>
            <a:srgbClr val="CC785C"/>
          </a:solidFill>
          <a:ln w="12700">
            <a:solidFill>
              <a:srgbClr val="CC785C"/>
            </a:solidFill>
            <a:prstDash val="solid"/>
          </a:ln>
        </p:spPr>
      </p:sp>
      <p:pic>
        <p:nvPicPr>
          <p:cNvPr id="13" name="Image 1" descr="preencoded.png">    </p:cNvPr>
          <p:cNvPicPr>
            <a:picLocks noChangeAspect="1"/>
          </p:cNvPicPr>
          <p:nvPr/>
        </p:nvPicPr>
        <p:blipFill>
          <a:blip r:embed="rId2"/>
          <a:stretch>
            <a:fillRect/>
          </a:stretch>
        </p:blipFill>
        <p:spPr>
          <a:xfrm>
            <a:off x="4873752" y="2194560"/>
            <a:ext cx="320040" cy="320040"/>
          </a:xfrm>
          <a:prstGeom prst="rect">
            <a:avLst/>
          </a:prstGeom>
        </p:spPr>
      </p:pic>
      <p:sp>
        <p:nvSpPr>
          <p:cNvPr id="14" name="Text 10"/>
          <p:cNvSpPr/>
          <p:nvPr/>
        </p:nvSpPr>
        <p:spPr>
          <a:xfrm>
            <a:off x="53035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Skills</a:t>
            </a:r>
            <a:endParaRPr lang="en-US" sz="1800" dirty="0"/>
          </a:p>
        </p:txBody>
      </p:sp>
      <p:sp>
        <p:nvSpPr>
          <p:cNvPr id="15" name="Text 11"/>
          <p:cNvSpPr/>
          <p:nvPr/>
        </p:nvSpPr>
        <p:spPr>
          <a:xfrm>
            <a:off x="53035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SKILL.md folders</a:t>
            </a:r>
            <a:endParaRPr lang="en-US" sz="1000" dirty="0"/>
          </a:p>
        </p:txBody>
      </p:sp>
      <p:sp>
        <p:nvSpPr>
          <p:cNvPr id="16" name="Text 12"/>
          <p:cNvSpPr/>
          <p:nvPr/>
        </p:nvSpPr>
        <p:spPr>
          <a:xfrm>
            <a:off x="48737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Reusable packets of expertise. A folder with a SKILL.md file teaches Claude how to do a specific task. Claude auto-loads them when relevant.</a:t>
            </a:r>
            <a:endParaRPr lang="en-US" sz="1100" dirty="0"/>
          </a:p>
        </p:txBody>
      </p:sp>
      <p:sp>
        <p:nvSpPr>
          <p:cNvPr id="17" name="Shape 13"/>
          <p:cNvSpPr/>
          <p:nvPr/>
        </p:nvSpPr>
        <p:spPr>
          <a:xfrm>
            <a:off x="5029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4"/>
          <p:cNvSpPr/>
          <p:nvPr/>
        </p:nvSpPr>
        <p:spPr>
          <a:xfrm>
            <a:off x="502920" y="3429000"/>
            <a:ext cx="64008" cy="1371600"/>
          </a:xfrm>
          <a:prstGeom prst="rect">
            <a:avLst/>
          </a:prstGeom>
          <a:solidFill>
            <a:srgbClr val="CC785C"/>
          </a:solidFill>
          <a:ln w="12700">
            <a:solidFill>
              <a:srgbClr val="CC785C"/>
            </a:solidFill>
            <a:prstDash val="solid"/>
          </a:ln>
        </p:spPr>
      </p:sp>
      <p:pic>
        <p:nvPicPr>
          <p:cNvPr id="19" name="Image 2" descr="preencoded.png">    </p:cNvPr>
          <p:cNvPicPr>
            <a:picLocks noChangeAspect="1"/>
          </p:cNvPicPr>
          <p:nvPr/>
        </p:nvPicPr>
        <p:blipFill>
          <a:blip r:embed="rId3"/>
          <a:stretch>
            <a:fillRect/>
          </a:stretch>
        </p:blipFill>
        <p:spPr>
          <a:xfrm>
            <a:off x="758952" y="3657600"/>
            <a:ext cx="320040" cy="320040"/>
          </a:xfrm>
          <a:prstGeom prst="rect">
            <a:avLst/>
          </a:prstGeom>
        </p:spPr>
      </p:pic>
      <p:sp>
        <p:nvSpPr>
          <p:cNvPr id="20" name="Text 15"/>
          <p:cNvSpPr/>
          <p:nvPr/>
        </p:nvSpPr>
        <p:spPr>
          <a:xfrm>
            <a:off x="11887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Subagents</a:t>
            </a:r>
            <a:endParaRPr lang="en-US" sz="1800" dirty="0"/>
          </a:p>
        </p:txBody>
      </p:sp>
      <p:sp>
        <p:nvSpPr>
          <p:cNvPr id="21" name="Text 16"/>
          <p:cNvSpPr/>
          <p:nvPr/>
        </p:nvSpPr>
        <p:spPr>
          <a:xfrm>
            <a:off x="11887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Specialized helpers</a:t>
            </a:r>
            <a:endParaRPr lang="en-US" sz="1000" dirty="0"/>
          </a:p>
        </p:txBody>
      </p:sp>
      <p:sp>
        <p:nvSpPr>
          <p:cNvPr id="22" name="Text 17"/>
          <p:cNvSpPr/>
          <p:nvPr/>
        </p:nvSpPr>
        <p:spPr>
          <a:xfrm>
            <a:off x="7589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Scoped agents spun up from the main session. Each gets its own tools and focus — useful for parallel work and narrow, repeated tasks.</a:t>
            </a:r>
            <a:endParaRPr lang="en-US" sz="1100" dirty="0"/>
          </a:p>
        </p:txBody>
      </p:sp>
      <p:sp>
        <p:nvSpPr>
          <p:cNvPr id="23" name="Shape 18"/>
          <p:cNvSpPr/>
          <p:nvPr/>
        </p:nvSpPr>
        <p:spPr>
          <a:xfrm>
            <a:off x="46177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19"/>
          <p:cNvSpPr/>
          <p:nvPr/>
        </p:nvSpPr>
        <p:spPr>
          <a:xfrm>
            <a:off x="4617720" y="3429000"/>
            <a:ext cx="64008" cy="1371600"/>
          </a:xfrm>
          <a:prstGeom prst="rect">
            <a:avLst/>
          </a:prstGeom>
          <a:solidFill>
            <a:srgbClr val="CC785C"/>
          </a:solidFill>
          <a:ln w="12700">
            <a:solidFill>
              <a:srgbClr val="CC785C"/>
            </a:solidFill>
            <a:prstDash val="solid"/>
          </a:ln>
        </p:spPr>
      </p:sp>
      <p:pic>
        <p:nvPicPr>
          <p:cNvPr id="25" name="Image 3" descr="preencoded.png">    </p:cNvPr>
          <p:cNvPicPr>
            <a:picLocks noChangeAspect="1"/>
          </p:cNvPicPr>
          <p:nvPr/>
        </p:nvPicPr>
        <p:blipFill>
          <a:blip r:embed="rId4"/>
          <a:stretch>
            <a:fillRect/>
          </a:stretch>
        </p:blipFill>
        <p:spPr>
          <a:xfrm>
            <a:off x="4873752" y="3657600"/>
            <a:ext cx="320040" cy="320040"/>
          </a:xfrm>
          <a:prstGeom prst="rect">
            <a:avLst/>
          </a:prstGeom>
        </p:spPr>
      </p:pic>
      <p:sp>
        <p:nvSpPr>
          <p:cNvPr id="26" name="Text 20"/>
          <p:cNvSpPr/>
          <p:nvPr/>
        </p:nvSpPr>
        <p:spPr>
          <a:xfrm>
            <a:off x="53035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CLAUDE.md</a:t>
            </a:r>
            <a:endParaRPr lang="en-US" sz="1800" dirty="0"/>
          </a:p>
        </p:txBody>
      </p:sp>
      <p:sp>
        <p:nvSpPr>
          <p:cNvPr id="27" name="Text 21"/>
          <p:cNvSpPr/>
          <p:nvPr/>
        </p:nvSpPr>
        <p:spPr>
          <a:xfrm>
            <a:off x="53035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Project memory</a:t>
            </a:r>
            <a:endParaRPr lang="en-US" sz="1000" dirty="0"/>
          </a:p>
        </p:txBody>
      </p:sp>
      <p:sp>
        <p:nvSpPr>
          <p:cNvPr id="28" name="Text 22"/>
          <p:cNvSpPr/>
          <p:nvPr/>
        </p:nvSpPr>
        <p:spPr>
          <a:xfrm>
            <a:off x="48737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 markdown file at your project root. Claude reads it at the start of every session — the place for project conventions, do's and don'ts.</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04  —  PROJECT FILES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Files Claude reads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Claude Code is configured through markdown files. CLAUDE.md is the main one; the .claude/ folder holds everything else.</a:t>
            </a:r>
            <a:endParaRPr lang="en-US" sz="1300" dirty="0"/>
          </a:p>
        </p:txBody>
      </p:sp>
      <p:sp>
        <p:nvSpPr>
          <p:cNvPr id="5" name="Shape 3"/>
          <p:cNvSpPr/>
          <p:nvPr/>
        </p:nvSpPr>
        <p:spPr>
          <a:xfrm>
            <a:off x="502920" y="1920240"/>
            <a:ext cx="45720" cy="603504"/>
          </a:xfrm>
          <a:prstGeom prst="rect">
            <a:avLst/>
          </a:prstGeom>
          <a:solidFill>
            <a:srgbClr val="CC785C"/>
          </a:solidFill>
          <a:ln w="12700">
            <a:solidFill>
              <a:srgbClr val="CC785C"/>
            </a:solidFill>
            <a:prstDash val="solid"/>
          </a:ln>
        </p:spPr>
      </p:sp>
      <p:pic>
        <p:nvPicPr>
          <p:cNvPr id="6" name="Image 0" descr="preencoded.png">    </p:cNvPr>
          <p:cNvPicPr>
            <a:picLocks noChangeAspect="1"/>
          </p:cNvPicPr>
          <p:nvPr/>
        </p:nvPicPr>
        <p:blipFill>
          <a:blip r:embed="rId1"/>
          <a:stretch>
            <a:fillRect/>
          </a:stretch>
        </p:blipFill>
        <p:spPr>
          <a:xfrm>
            <a:off x="685800" y="1965960"/>
            <a:ext cx="256032" cy="256032"/>
          </a:xfrm>
          <a:prstGeom prst="rect">
            <a:avLst/>
          </a:prstGeom>
        </p:spPr>
      </p:pic>
      <p:sp>
        <p:nvSpPr>
          <p:cNvPr id="7" name="Text 4"/>
          <p:cNvSpPr/>
          <p:nvPr/>
        </p:nvSpPr>
        <p:spPr>
          <a:xfrm>
            <a:off x="1051560" y="1920240"/>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CLAUDE.md</a:t>
            </a:r>
            <a:endParaRPr lang="en-US" sz="1200" dirty="0"/>
          </a:p>
        </p:txBody>
      </p:sp>
      <p:sp>
        <p:nvSpPr>
          <p:cNvPr id="8" name="Text 5"/>
          <p:cNvSpPr/>
          <p:nvPr/>
        </p:nvSpPr>
        <p:spPr>
          <a:xfrm>
            <a:off x="1051560" y="2176272"/>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9" name="Text 6"/>
          <p:cNvSpPr/>
          <p:nvPr/>
        </p:nvSpPr>
        <p:spPr>
          <a:xfrm>
            <a:off x="685800" y="2359152"/>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The main memory file. Conventions, commands, gotchas. Auto-loaded every session.</a:t>
            </a:r>
            <a:endParaRPr lang="en-US" sz="1000" dirty="0"/>
          </a:p>
        </p:txBody>
      </p:sp>
      <p:sp>
        <p:nvSpPr>
          <p:cNvPr id="10" name="Shape 7"/>
          <p:cNvSpPr/>
          <p:nvPr/>
        </p:nvSpPr>
        <p:spPr>
          <a:xfrm>
            <a:off x="502920" y="2633472"/>
            <a:ext cx="45720" cy="603504"/>
          </a:xfrm>
          <a:prstGeom prst="rect">
            <a:avLst/>
          </a:prstGeom>
          <a:solidFill>
            <a:srgbClr val="CC785C"/>
          </a:solidFill>
          <a:ln w="12700">
            <a:solidFill>
              <a:srgbClr val="CC785C"/>
            </a:solidFill>
            <a:prstDash val="solid"/>
          </a:ln>
        </p:spPr>
      </p:sp>
      <p:pic>
        <p:nvPicPr>
          <p:cNvPr id="11" name="Image 1" descr="preencoded.png">    </p:cNvPr>
          <p:cNvPicPr>
            <a:picLocks noChangeAspect="1"/>
          </p:cNvPicPr>
          <p:nvPr/>
        </p:nvPicPr>
        <p:blipFill>
          <a:blip r:embed="rId2"/>
          <a:stretch>
            <a:fillRect/>
          </a:stretch>
        </p:blipFill>
        <p:spPr>
          <a:xfrm>
            <a:off x="685800" y="2679192"/>
            <a:ext cx="256032" cy="256032"/>
          </a:xfrm>
          <a:prstGeom prst="rect">
            <a:avLst/>
          </a:prstGeom>
        </p:spPr>
      </p:pic>
      <p:sp>
        <p:nvSpPr>
          <p:cNvPr id="12" name="Text 8"/>
          <p:cNvSpPr/>
          <p:nvPr/>
        </p:nvSpPr>
        <p:spPr>
          <a:xfrm>
            <a:off x="1051560" y="2633472"/>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CLAUDE.local.md</a:t>
            </a:r>
            <a:endParaRPr lang="en-US" sz="1200" dirty="0"/>
          </a:p>
        </p:txBody>
      </p:sp>
      <p:sp>
        <p:nvSpPr>
          <p:cNvPr id="13" name="Text 9"/>
          <p:cNvSpPr/>
          <p:nvPr/>
        </p:nvSpPr>
        <p:spPr>
          <a:xfrm>
            <a:off x="1051560" y="2889504"/>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gitignored</a:t>
            </a:r>
            <a:endParaRPr lang="en-US" sz="850" dirty="0"/>
          </a:p>
        </p:txBody>
      </p:sp>
      <p:sp>
        <p:nvSpPr>
          <p:cNvPr id="14" name="Text 10"/>
          <p:cNvSpPr/>
          <p:nvPr/>
        </p:nvSpPr>
        <p:spPr>
          <a:xfrm>
            <a:off x="685800" y="3072384"/>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Your personal notes for this repo. Appended after CLAUDE.md — wins on conflicts.</a:t>
            </a:r>
            <a:endParaRPr lang="en-US" sz="1000" dirty="0"/>
          </a:p>
        </p:txBody>
      </p:sp>
      <p:sp>
        <p:nvSpPr>
          <p:cNvPr id="15" name="Shape 11"/>
          <p:cNvSpPr/>
          <p:nvPr/>
        </p:nvSpPr>
        <p:spPr>
          <a:xfrm>
            <a:off x="502920" y="3346704"/>
            <a:ext cx="45720" cy="603504"/>
          </a:xfrm>
          <a:prstGeom prst="rect">
            <a:avLst/>
          </a:prstGeom>
          <a:solidFill>
            <a:srgbClr val="CC785C"/>
          </a:solidFill>
          <a:ln w="12700">
            <a:solidFill>
              <a:srgbClr val="CC785C"/>
            </a:solidFill>
            <a:prstDash val="solid"/>
          </a:ln>
        </p:spPr>
      </p:sp>
      <p:pic>
        <p:nvPicPr>
          <p:cNvPr id="16" name="Image 2" descr="preencoded.png">    </p:cNvPr>
          <p:cNvPicPr>
            <a:picLocks noChangeAspect="1"/>
          </p:cNvPicPr>
          <p:nvPr/>
        </p:nvPicPr>
        <p:blipFill>
          <a:blip r:embed="rId3"/>
          <a:stretch>
            <a:fillRect/>
          </a:stretch>
        </p:blipFill>
        <p:spPr>
          <a:xfrm>
            <a:off x="685800" y="3392424"/>
            <a:ext cx="256032" cy="256032"/>
          </a:xfrm>
          <a:prstGeom prst="rect">
            <a:avLst/>
          </a:prstGeom>
        </p:spPr>
      </p:pic>
      <p:sp>
        <p:nvSpPr>
          <p:cNvPr id="17" name="Text 12"/>
          <p:cNvSpPr/>
          <p:nvPr/>
        </p:nvSpPr>
        <p:spPr>
          <a:xfrm>
            <a:off x="1051560" y="3346704"/>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~/.claude/CLAUDE.md</a:t>
            </a:r>
            <a:endParaRPr lang="en-US" sz="1200" dirty="0"/>
          </a:p>
        </p:txBody>
      </p:sp>
      <p:sp>
        <p:nvSpPr>
          <p:cNvPr id="18" name="Text 13"/>
          <p:cNvSpPr/>
          <p:nvPr/>
        </p:nvSpPr>
        <p:spPr>
          <a:xfrm>
            <a:off x="1051560" y="3602736"/>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Home directory, global</a:t>
            </a:r>
            <a:endParaRPr lang="en-US" sz="850" dirty="0"/>
          </a:p>
        </p:txBody>
      </p:sp>
      <p:sp>
        <p:nvSpPr>
          <p:cNvPr id="19" name="Text 14"/>
          <p:cNvSpPr/>
          <p:nvPr/>
        </p:nvSpPr>
        <p:spPr>
          <a:xfrm>
            <a:off x="685800" y="3785616"/>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Personal preferences applied across every project you open.</a:t>
            </a:r>
            <a:endParaRPr lang="en-US" sz="1000" dirty="0"/>
          </a:p>
        </p:txBody>
      </p:sp>
      <p:sp>
        <p:nvSpPr>
          <p:cNvPr id="20" name="Shape 15"/>
          <p:cNvSpPr/>
          <p:nvPr/>
        </p:nvSpPr>
        <p:spPr>
          <a:xfrm>
            <a:off x="502920" y="4059936"/>
            <a:ext cx="45720" cy="603504"/>
          </a:xfrm>
          <a:prstGeom prst="rect">
            <a:avLst/>
          </a:prstGeom>
          <a:solidFill>
            <a:srgbClr val="CC785C"/>
          </a:solidFill>
          <a:ln w="12700">
            <a:solidFill>
              <a:srgbClr val="CC785C"/>
            </a:solidFill>
            <a:prstDash val="solid"/>
          </a:ln>
        </p:spPr>
      </p:sp>
      <p:pic>
        <p:nvPicPr>
          <p:cNvPr id="21" name="Image 3" descr="preencoded.png">    </p:cNvPr>
          <p:cNvPicPr>
            <a:picLocks noChangeAspect="1"/>
          </p:cNvPicPr>
          <p:nvPr/>
        </p:nvPicPr>
        <p:blipFill>
          <a:blip r:embed="rId4"/>
          <a:stretch>
            <a:fillRect/>
          </a:stretch>
        </p:blipFill>
        <p:spPr>
          <a:xfrm>
            <a:off x="685800" y="4105656"/>
            <a:ext cx="256032" cy="256032"/>
          </a:xfrm>
          <a:prstGeom prst="rect">
            <a:avLst/>
          </a:prstGeom>
        </p:spPr>
      </p:pic>
      <p:sp>
        <p:nvSpPr>
          <p:cNvPr id="22" name="Text 16"/>
          <p:cNvSpPr/>
          <p:nvPr/>
        </p:nvSpPr>
        <p:spPr>
          <a:xfrm>
            <a:off x="1051560" y="4059936"/>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a:t>
            </a:r>
            <a:endParaRPr lang="en-US" sz="1200" dirty="0"/>
          </a:p>
        </p:txBody>
      </p:sp>
      <p:sp>
        <p:nvSpPr>
          <p:cNvPr id="23" name="Text 17"/>
          <p:cNvSpPr/>
          <p:nvPr/>
        </p:nvSpPr>
        <p:spPr>
          <a:xfrm>
            <a:off x="1051560" y="4315968"/>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24" name="Text 18"/>
          <p:cNvSpPr/>
          <p:nvPr/>
        </p:nvSpPr>
        <p:spPr>
          <a:xfrm>
            <a:off x="685800" y="4498848"/>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Holds skills/, agents/, rules/, settings.json. The whole team-shared config.</a:t>
            </a:r>
            <a:endParaRPr lang="en-US" sz="1000" dirty="0"/>
          </a:p>
        </p:txBody>
      </p:sp>
      <p:sp>
        <p:nvSpPr>
          <p:cNvPr id="25" name="Shape 19"/>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4892040" y="1920240"/>
            <a:ext cx="3749040" cy="320040"/>
          </a:xfrm>
          <a:prstGeom prst="rect">
            <a:avLst/>
          </a:prstGeom>
          <a:solidFill>
            <a:srgbClr val="2A2B30"/>
          </a:solidFill>
          <a:ln w="12700">
            <a:solidFill>
              <a:srgbClr val="2A2B30"/>
            </a:solidFill>
            <a:prstDash val="solid"/>
          </a:ln>
        </p:spPr>
      </p:sp>
      <p:sp>
        <p:nvSpPr>
          <p:cNvPr id="27" name="Text 21"/>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tree view</a:t>
            </a:r>
            <a:endParaRPr lang="en-US" sz="1000" dirty="0"/>
          </a:p>
        </p:txBody>
      </p:sp>
      <p:sp>
        <p:nvSpPr>
          <p:cNvPr id="28" name="Text 22"/>
          <p:cNvSpPr/>
          <p:nvPr/>
        </p:nvSpPr>
        <p:spPr>
          <a:xfrm>
            <a:off x="5074920" y="2377440"/>
            <a:ext cx="3383280" cy="2103120"/>
          </a:xfrm>
          <a:prstGeom prst="rect">
            <a:avLst/>
          </a:prstGeom>
          <a:noFill/>
          <a:ln/>
        </p:spPr>
        <p:txBody>
          <a:bodyPr wrap="square" lIns="0" tIns="0" rIns="0" bIns="0" rtlCol="0" anchor="t"/>
          <a:lstStyle/>
          <a:p>
            <a:pPr indent="0" marL="0">
              <a:spcAft>
                <a:spcPts val="100"/>
              </a:spcAft>
              <a:buNone/>
            </a:pPr>
            <a:r>
              <a:rPr lang="en-US" sz="950" b="1" dirty="0">
                <a:solidFill>
                  <a:srgbClr val="F7F5F0"/>
                </a:solidFill>
                <a:latin typeface="Consolas" pitchFamily="34" charset="0"/>
                <a:ea typeface="Consolas" pitchFamily="34" charset="-122"/>
                <a:cs typeface="Consolas" pitchFamily="34" charset="-120"/>
              </a:rPr>
              <a:t>your-repo/</a:t>
            </a: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 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main memory</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CLAUDE.local.md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personal</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AGENTS.md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not read (import it)</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skills/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custom skills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agents/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subagents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rules/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path-scoped</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settings.json</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perms, hooks</a:t>
            </a:r>
            <a:endParaRPr lang="en-US" sz="950" dirty="0"/>
          </a:p>
          <a:p>
            <a:pPr indent="0" marL="0">
              <a:spcAft>
                <a:spcPts val="100"/>
              </a:spcAft>
              <a:buNone/>
            </a:pP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~/.claude/CLAUDE.md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global</a:t>
            </a:r>
            <a:endParaRPr lang="en-US" sz="950" dirty="0"/>
          </a:p>
        </p:txBody>
      </p:sp>
      <p:sp>
        <p:nvSpPr>
          <p:cNvPr id="29" name="Text 23"/>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Load order: global → project → local. Later files win on conflicts. All are concatenated, not replaced.</a:t>
            </a:r>
            <a:endParaRPr lang="en-US" sz="1000" dirty="0"/>
          </a:p>
        </p:txBody>
      </p:sp>
      <p:sp>
        <p:nvSpPr>
          <p:cNvPr id="30" name="Text 24"/>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05  —  CONCEPT · MCP</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MCP — plug in tools &amp; data</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Model Context Protocol is an open standard for plugging external tools and data into Claude.</a:t>
            </a:r>
            <a:endParaRPr lang="en-US" sz="1300" dirty="0"/>
          </a:p>
        </p:txBody>
      </p:sp>
      <p:sp>
        <p:nvSpPr>
          <p:cNvPr id="5" name="Text 3"/>
          <p:cNvSpPr/>
          <p:nvPr/>
        </p:nvSpPr>
        <p:spPr>
          <a:xfrm>
            <a:off x="502920" y="1920240"/>
            <a:ext cx="4023360" cy="731520"/>
          </a:xfrm>
          <a:prstGeom prst="rect">
            <a:avLst/>
          </a:prstGeom>
          <a:noFill/>
          <a:ln/>
        </p:spPr>
        <p:txBody>
          <a:bodyPr wrap="square" lIns="0" tIns="0" rIns="0" bIns="0" rtlCol="0" anchor="ctr"/>
          <a:lstStyle/>
          <a:p>
            <a:pPr indent="0" marL="0">
              <a:buNone/>
            </a:pPr>
            <a:r>
              <a:rPr lang="en-US" sz="1200" dirty="0">
                <a:solidFill>
                  <a:srgbClr val="1A1B1F"/>
                </a:solidFill>
                <a:latin typeface="Calibri" pitchFamily="34" charset="0"/>
                <a:ea typeface="Calibri" pitchFamily="34" charset="-122"/>
                <a:cs typeface="Calibri" pitchFamily="34" charset="-120"/>
              </a:rPr>
              <a:t>An MCP server exposes one system's tools and data. Claude connects to it and can read, write, and act — without leaving your session.</a:t>
            </a:r>
            <a:endParaRPr lang="en-US" sz="1200" dirty="0"/>
          </a:p>
        </p:txBody>
      </p:sp>
      <p:pic>
        <p:nvPicPr>
          <p:cNvPr id="6" name="Image 0" descr="preencoded.png">    </p:cNvPr>
          <p:cNvPicPr>
            <a:picLocks noChangeAspect="1"/>
          </p:cNvPicPr>
          <p:nvPr/>
        </p:nvPicPr>
        <p:blipFill>
          <a:blip r:embed="rId1"/>
          <a:stretch>
            <a:fillRect/>
          </a:stretch>
        </p:blipFill>
        <p:spPr>
          <a:xfrm>
            <a:off x="548640" y="2916936"/>
            <a:ext cx="219456" cy="219456"/>
          </a:xfrm>
          <a:prstGeom prst="rect">
            <a:avLst/>
          </a:prstGeom>
        </p:spPr>
      </p:pic>
      <p:sp>
        <p:nvSpPr>
          <p:cNvPr id="7" name="Text 4"/>
          <p:cNvSpPr/>
          <p:nvPr/>
        </p:nvSpPr>
        <p:spPr>
          <a:xfrm>
            <a:off x="868680" y="2880360"/>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Google Drive</a:t>
            </a:r>
            <a:endParaRPr lang="en-US" sz="1200" dirty="0"/>
          </a:p>
        </p:txBody>
      </p:sp>
      <p:sp>
        <p:nvSpPr>
          <p:cNvPr id="8" name="Text 5"/>
          <p:cNvSpPr/>
          <p:nvPr/>
        </p:nvSpPr>
        <p:spPr>
          <a:xfrm>
            <a:off x="2148840" y="2880360"/>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design docs and notes</a:t>
            </a:r>
            <a:endParaRPr lang="en-US" sz="1100" dirty="0"/>
          </a:p>
        </p:txBody>
      </p:sp>
      <p:pic>
        <p:nvPicPr>
          <p:cNvPr id="9" name="Image 1" descr="preencoded.png">    </p:cNvPr>
          <p:cNvPicPr>
            <a:picLocks noChangeAspect="1"/>
          </p:cNvPicPr>
          <p:nvPr/>
        </p:nvPicPr>
        <p:blipFill>
          <a:blip r:embed="rId2"/>
          <a:stretch>
            <a:fillRect/>
          </a:stretch>
        </p:blipFill>
        <p:spPr>
          <a:xfrm>
            <a:off x="548640" y="3300984"/>
            <a:ext cx="219456" cy="219456"/>
          </a:xfrm>
          <a:prstGeom prst="rect">
            <a:avLst/>
          </a:prstGeom>
        </p:spPr>
      </p:pic>
      <p:sp>
        <p:nvSpPr>
          <p:cNvPr id="10" name="Text 6"/>
          <p:cNvSpPr/>
          <p:nvPr/>
        </p:nvSpPr>
        <p:spPr>
          <a:xfrm>
            <a:off x="868680" y="3264408"/>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Slack</a:t>
            </a:r>
            <a:endParaRPr lang="en-US" sz="1200" dirty="0"/>
          </a:p>
        </p:txBody>
      </p:sp>
      <p:sp>
        <p:nvSpPr>
          <p:cNvPr id="11" name="Text 7"/>
          <p:cNvSpPr/>
          <p:nvPr/>
        </p:nvSpPr>
        <p:spPr>
          <a:xfrm>
            <a:off x="2148840" y="3264408"/>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Pull messages and threads</a:t>
            </a:r>
            <a:endParaRPr lang="en-US" sz="1100" dirty="0"/>
          </a:p>
        </p:txBody>
      </p:sp>
      <p:pic>
        <p:nvPicPr>
          <p:cNvPr id="12" name="Image 2" descr="preencoded.png">    </p:cNvPr>
          <p:cNvPicPr>
            <a:picLocks noChangeAspect="1"/>
          </p:cNvPicPr>
          <p:nvPr/>
        </p:nvPicPr>
        <p:blipFill>
          <a:blip r:embed="rId3"/>
          <a:stretch>
            <a:fillRect/>
          </a:stretch>
        </p:blipFill>
        <p:spPr>
          <a:xfrm>
            <a:off x="548640" y="3685032"/>
            <a:ext cx="219456" cy="219456"/>
          </a:xfrm>
          <a:prstGeom prst="rect">
            <a:avLst/>
          </a:prstGeom>
        </p:spPr>
      </p:pic>
      <p:sp>
        <p:nvSpPr>
          <p:cNvPr id="13" name="Text 8"/>
          <p:cNvSpPr/>
          <p:nvPr/>
        </p:nvSpPr>
        <p:spPr>
          <a:xfrm>
            <a:off x="868680" y="3648456"/>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Jira</a:t>
            </a:r>
            <a:endParaRPr lang="en-US" sz="1200" dirty="0"/>
          </a:p>
        </p:txBody>
      </p:sp>
      <p:sp>
        <p:nvSpPr>
          <p:cNvPr id="14" name="Text 9"/>
          <p:cNvSpPr/>
          <p:nvPr/>
        </p:nvSpPr>
        <p:spPr>
          <a:xfrm>
            <a:off x="2148840" y="3648456"/>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and update tickets</a:t>
            </a:r>
            <a:endParaRPr lang="en-US" sz="1100" dirty="0"/>
          </a:p>
        </p:txBody>
      </p:sp>
      <p:pic>
        <p:nvPicPr>
          <p:cNvPr id="15" name="Image 3" descr="preencoded.png">    </p:cNvPr>
          <p:cNvPicPr>
            <a:picLocks noChangeAspect="1"/>
          </p:cNvPicPr>
          <p:nvPr/>
        </p:nvPicPr>
        <p:blipFill>
          <a:blip r:embed="rId4"/>
          <a:stretch>
            <a:fillRect/>
          </a:stretch>
        </p:blipFill>
        <p:spPr>
          <a:xfrm>
            <a:off x="548640" y="4069080"/>
            <a:ext cx="219456" cy="219456"/>
          </a:xfrm>
          <a:prstGeom prst="rect">
            <a:avLst/>
          </a:prstGeom>
        </p:spPr>
      </p:pic>
      <p:sp>
        <p:nvSpPr>
          <p:cNvPr id="16" name="Text 10"/>
          <p:cNvSpPr/>
          <p:nvPr/>
        </p:nvSpPr>
        <p:spPr>
          <a:xfrm>
            <a:off x="868680" y="4032504"/>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Postgres</a:t>
            </a:r>
            <a:endParaRPr lang="en-US" sz="1200" dirty="0"/>
          </a:p>
        </p:txBody>
      </p:sp>
      <p:sp>
        <p:nvSpPr>
          <p:cNvPr id="17" name="Text 11"/>
          <p:cNvSpPr/>
          <p:nvPr/>
        </p:nvSpPr>
        <p:spPr>
          <a:xfrm>
            <a:off x="2148840" y="4032504"/>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Query your database safely</a:t>
            </a:r>
            <a:endParaRPr lang="en-US" sz="1100" dirty="0"/>
          </a:p>
        </p:txBody>
      </p:sp>
      <p:sp>
        <p:nvSpPr>
          <p:cNvPr id="18" name="Shape 12"/>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9" name="Shape 13"/>
          <p:cNvSpPr/>
          <p:nvPr/>
        </p:nvSpPr>
        <p:spPr>
          <a:xfrm>
            <a:off x="4892040" y="1920240"/>
            <a:ext cx="3749040" cy="320040"/>
          </a:xfrm>
          <a:prstGeom prst="rect">
            <a:avLst/>
          </a:prstGeom>
          <a:solidFill>
            <a:srgbClr val="2A2B30"/>
          </a:solidFill>
          <a:ln w="12700">
            <a:solidFill>
              <a:srgbClr val="2A2B30"/>
            </a:solidFill>
            <a:prstDash val="solid"/>
          </a:ln>
        </p:spPr>
      </p:sp>
      <p:sp>
        <p:nvSpPr>
          <p:cNvPr id="20" name="Shape 14"/>
          <p:cNvSpPr/>
          <p:nvPr/>
        </p:nvSpPr>
        <p:spPr>
          <a:xfrm>
            <a:off x="5001768" y="2011680"/>
            <a:ext cx="128016" cy="128016"/>
          </a:xfrm>
          <a:prstGeom prst="ellipse">
            <a:avLst/>
          </a:prstGeom>
          <a:solidFill>
            <a:srgbClr val="FF5F56"/>
          </a:solidFill>
          <a:ln w="12700">
            <a:solidFill>
              <a:srgbClr val="FF5F56"/>
            </a:solidFill>
            <a:prstDash val="solid"/>
          </a:ln>
        </p:spPr>
      </p:sp>
      <p:sp>
        <p:nvSpPr>
          <p:cNvPr id="21" name="Shape 15"/>
          <p:cNvSpPr/>
          <p:nvPr/>
        </p:nvSpPr>
        <p:spPr>
          <a:xfrm>
            <a:off x="5202936" y="2011680"/>
            <a:ext cx="128016" cy="128016"/>
          </a:xfrm>
          <a:prstGeom prst="ellipse">
            <a:avLst/>
          </a:prstGeom>
          <a:solidFill>
            <a:srgbClr val="FFBD2E"/>
          </a:solidFill>
          <a:ln w="12700">
            <a:solidFill>
              <a:srgbClr val="FFBD2E"/>
            </a:solidFill>
            <a:prstDash val="solid"/>
          </a:ln>
        </p:spPr>
      </p:sp>
      <p:sp>
        <p:nvSpPr>
          <p:cNvPr id="22" name="Shape 16"/>
          <p:cNvSpPr/>
          <p:nvPr/>
        </p:nvSpPr>
        <p:spPr>
          <a:xfrm>
            <a:off x="5404104" y="2011680"/>
            <a:ext cx="128016" cy="128016"/>
          </a:xfrm>
          <a:prstGeom prst="ellipse">
            <a:avLst/>
          </a:prstGeom>
          <a:solidFill>
            <a:srgbClr val="27C93F"/>
          </a:solidFill>
          <a:ln w="12700">
            <a:solidFill>
              <a:srgbClr val="27C93F"/>
            </a:solidFill>
            <a:prstDash val="solid"/>
          </a:ln>
        </p:spPr>
      </p:sp>
      <p:sp>
        <p:nvSpPr>
          <p:cNvPr id="23" name="Text 17"/>
          <p:cNvSpPr/>
          <p:nvPr/>
        </p:nvSpPr>
        <p:spPr>
          <a:xfrm>
            <a:off x="5715000" y="1975104"/>
            <a:ext cx="274320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connect → use</a:t>
            </a:r>
            <a:endParaRPr lang="en-US" sz="1000" dirty="0"/>
          </a:p>
        </p:txBody>
      </p:sp>
      <p:sp>
        <p:nvSpPr>
          <p:cNvPr id="24"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 mcp add github ...</a:t>
            </a:r>
            <a:endParaRPr lang="en-US" sz="1000" dirty="0"/>
          </a:p>
          <a:p>
            <a:pPr indent="0" marL="0">
              <a:spcAft>
                <a:spcPts val="200"/>
              </a:spcAft>
              <a:buNone/>
            </a:pPr>
            <a:r>
              <a:rPr lang="en-US" sz="1000" dirty="0">
                <a:solidFill>
                  <a:srgbClr val="27C93F"/>
                </a:solidFill>
                <a:latin typeface="Consolas" pitchFamily="34" charset="0"/>
                <a:ea typeface="Consolas" pitchFamily="34" charset="-122"/>
                <a:cs typeface="Consolas" pitchFamily="34" charset="-120"/>
              </a:rPr>
              <a:t>✓ Connected to GitHub MCP</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a:t>
            </a:r>
            <a:endParaRPr lang="en-US" sz="1000" dirty="0"/>
          </a:p>
          <a:p>
            <a:pPr indent="0" marL="0">
              <a:spcAft>
                <a:spcPts val="200"/>
              </a:spcAft>
              <a:buNone/>
            </a:pPr>
            <a:r>
              <a:rPr lang="en-US" sz="1000" dirty="0">
                <a:solidFill>
                  <a:srgbClr val="CC785C"/>
                </a:solidFill>
                <a:latin typeface="Consolas" pitchFamily="34" charset="0"/>
                <a:ea typeface="Consolas" pitchFamily="34" charset="-122"/>
                <a:cs typeface="Consolas" pitchFamily="34" charset="-120"/>
              </a:rPr>
              <a:t>&gt; List open PRs assigned to me</a:t>
            </a:r>
            <a:endParaRPr lang="en-US" sz="1000" dirty="0"/>
          </a:p>
          <a:p>
            <a:pPr indent="0" marL="0">
              <a:spcAft>
                <a:spcPts val="200"/>
              </a:spcAft>
              <a:buNone/>
            </a:pP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 Fetching from GitHub MCP...</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Found 3 open PRs. Opening them.</a:t>
            </a:r>
            <a:endParaRPr lang="en-US" sz="1000" dirty="0"/>
          </a:p>
        </p:txBody>
      </p:sp>
      <p:sp>
        <p:nvSpPr>
          <p:cNvPr id="25"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06  —  CONCEPT · SKILLS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Skills — reusable expertise</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A folder with a SKILL.md file teaches Claude how to do a specific task. Claude loads it automatically when the prompt matches.</a:t>
            </a:r>
            <a:endParaRPr lang="en-US" sz="1300" dirty="0"/>
          </a:p>
        </p:txBody>
      </p:sp>
      <p:sp>
        <p:nvSpPr>
          <p:cNvPr id="5" name="Shape 3"/>
          <p:cNvSpPr/>
          <p:nvPr/>
        </p:nvSpPr>
        <p:spPr>
          <a:xfrm>
            <a:off x="502920" y="2011680"/>
            <a:ext cx="457200" cy="457200"/>
          </a:xfrm>
          <a:prstGeom prst="ellipse">
            <a:avLst/>
          </a:prstGeom>
          <a:solidFill>
            <a:srgbClr val="CC785C"/>
          </a:solidFill>
          <a:ln w="12700">
            <a:solidFill>
              <a:srgbClr val="CC785C"/>
            </a:solidFill>
            <a:prstDash val="solid"/>
          </a:ln>
        </p:spPr>
      </p:sp>
      <p:sp>
        <p:nvSpPr>
          <p:cNvPr id="6" name="Text 4"/>
          <p:cNvSpPr/>
          <p:nvPr/>
        </p:nvSpPr>
        <p:spPr>
          <a:xfrm>
            <a:off x="502920" y="2011680"/>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097280" y="1993392"/>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Create</a:t>
            </a:r>
            <a:endParaRPr lang="en-US" sz="1500" dirty="0"/>
          </a:p>
        </p:txBody>
      </p:sp>
      <p:sp>
        <p:nvSpPr>
          <p:cNvPr id="8" name="Text 6"/>
          <p:cNvSpPr/>
          <p:nvPr/>
        </p:nvSpPr>
        <p:spPr>
          <a:xfrm>
            <a:off x="1097280" y="2267712"/>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Drop a folder with SKILL.md into .claude/skills/ — personal or project-level.</a:t>
            </a:r>
            <a:endParaRPr lang="en-US" sz="1100" dirty="0"/>
          </a:p>
        </p:txBody>
      </p:sp>
      <p:sp>
        <p:nvSpPr>
          <p:cNvPr id="9" name="Shape 7"/>
          <p:cNvSpPr/>
          <p:nvPr/>
        </p:nvSpPr>
        <p:spPr>
          <a:xfrm>
            <a:off x="502920" y="2852928"/>
            <a:ext cx="457200" cy="457200"/>
          </a:xfrm>
          <a:prstGeom prst="ellipse">
            <a:avLst/>
          </a:prstGeom>
          <a:solidFill>
            <a:srgbClr val="CC785C"/>
          </a:solidFill>
          <a:ln w="12700">
            <a:solidFill>
              <a:srgbClr val="CC785C"/>
            </a:solidFill>
            <a:prstDash val="solid"/>
          </a:ln>
        </p:spPr>
      </p:sp>
      <p:sp>
        <p:nvSpPr>
          <p:cNvPr id="10" name="Text 8"/>
          <p:cNvSpPr/>
          <p:nvPr/>
        </p:nvSpPr>
        <p:spPr>
          <a:xfrm>
            <a:off x="502920" y="2852928"/>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097280" y="2834640"/>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Describe</a:t>
            </a:r>
            <a:endParaRPr lang="en-US" sz="1500" dirty="0"/>
          </a:p>
        </p:txBody>
      </p:sp>
      <p:sp>
        <p:nvSpPr>
          <p:cNvPr id="12" name="Text 10"/>
          <p:cNvSpPr/>
          <p:nvPr/>
        </p:nvSpPr>
        <p:spPr>
          <a:xfrm>
            <a:off x="1097280" y="3108960"/>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YAML frontmatter gives it a name and tells Claude when to use it.</a:t>
            </a:r>
            <a:endParaRPr lang="en-US" sz="1100" dirty="0"/>
          </a:p>
        </p:txBody>
      </p:sp>
      <p:sp>
        <p:nvSpPr>
          <p:cNvPr id="13" name="Shape 11"/>
          <p:cNvSpPr/>
          <p:nvPr/>
        </p:nvSpPr>
        <p:spPr>
          <a:xfrm>
            <a:off x="502920" y="3694176"/>
            <a:ext cx="457200" cy="457200"/>
          </a:xfrm>
          <a:prstGeom prst="ellipse">
            <a:avLst/>
          </a:prstGeom>
          <a:solidFill>
            <a:srgbClr val="CC785C"/>
          </a:solidFill>
          <a:ln w="12700">
            <a:solidFill>
              <a:srgbClr val="CC785C"/>
            </a:solidFill>
            <a:prstDash val="solid"/>
          </a:ln>
        </p:spPr>
      </p:sp>
      <p:sp>
        <p:nvSpPr>
          <p:cNvPr id="14" name="Text 12"/>
          <p:cNvSpPr/>
          <p:nvPr/>
        </p:nvSpPr>
        <p:spPr>
          <a:xfrm>
            <a:off x="502920" y="3694176"/>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097280" y="3675888"/>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Claude invokes</a:t>
            </a:r>
            <a:endParaRPr lang="en-US" sz="1500" dirty="0"/>
          </a:p>
        </p:txBody>
      </p:sp>
      <p:sp>
        <p:nvSpPr>
          <p:cNvPr id="16" name="Text 14"/>
          <p:cNvSpPr/>
          <p:nvPr/>
        </p:nvSpPr>
        <p:spPr>
          <a:xfrm>
            <a:off x="1097280" y="3950208"/>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When your prompt matches the description, Claude loads the skill and follows it.</a:t>
            </a:r>
            <a:endParaRPr lang="en-US" sz="1100" dirty="0"/>
          </a:p>
        </p:txBody>
      </p:sp>
      <p:sp>
        <p:nvSpPr>
          <p:cNvPr id="17" name="Shape 15"/>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4892040" y="1920240"/>
            <a:ext cx="3749040" cy="320040"/>
          </a:xfrm>
          <a:prstGeom prst="rect">
            <a:avLst/>
          </a:prstGeom>
          <a:solidFill>
            <a:srgbClr val="2A2B30"/>
          </a:solidFill>
          <a:ln w="12700">
            <a:solidFill>
              <a:srgbClr val="2A2B30"/>
            </a:solidFill>
            <a:prstDash val="solid"/>
          </a:ln>
        </p:spPr>
      </p:sp>
      <p:sp>
        <p:nvSpPr>
          <p:cNvPr id="19" name="Text 17"/>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SKILL.md</a:t>
            </a:r>
            <a:endParaRPr lang="en-US" sz="1000" dirty="0"/>
          </a:p>
        </p:txBody>
      </p:sp>
      <p:sp>
        <p:nvSpPr>
          <p:cNvPr id="20"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name: pdf-extractor</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description: Extracts text and</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tables from PDFs. Use when the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user mentions PDFs or forms.</a:t>
            </a: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endParaRPr lang="en-US" sz="1000" dirty="0"/>
          </a:p>
          <a:p>
            <a:pPr indent="0" marL="0">
              <a:spcAft>
                <a:spcPts val="200"/>
              </a:spcAft>
              <a:buNone/>
            </a:pPr>
            <a:r>
              <a:rPr lang="en-US" sz="1000" b="1" dirty="0">
                <a:solidFill>
                  <a:srgbClr val="CC785C"/>
                </a:solidFill>
                <a:latin typeface="Consolas" pitchFamily="34" charset="0"/>
                <a:ea typeface="Consolas" pitchFamily="34" charset="-122"/>
                <a:cs typeface="Consolas" pitchFamily="34" charset="-120"/>
              </a:rPr>
              <a:t># PDF Extractor</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Use scripts/extract.py to parse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PDFs and return structured data.</a:t>
            </a:r>
            <a:endParaRPr lang="en-US" sz="1000" dirty="0"/>
          </a:p>
        </p:txBody>
      </p:sp>
      <p:sp>
        <p:nvSpPr>
          <p:cNvPr id="21"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07  —  CONCEPT · SUBAGENTS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Subagents — scoped helpers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Scoped agents spun off from the main session. Each gets its own tools, its own focus, and runs in parallel.</a:t>
            </a:r>
            <a:endParaRPr lang="en-US" sz="1300" dirty="0"/>
          </a:p>
        </p:txBody>
      </p:sp>
      <p:sp>
        <p:nvSpPr>
          <p:cNvPr id="5" name="Shape 3"/>
          <p:cNvSpPr/>
          <p:nvPr/>
        </p:nvSpPr>
        <p:spPr>
          <a:xfrm>
            <a:off x="502920" y="1965960"/>
            <a:ext cx="45720" cy="777240"/>
          </a:xfrm>
          <a:prstGeom prst="rect">
            <a:avLst/>
          </a:prstGeom>
          <a:solidFill>
            <a:srgbClr val="CC785C"/>
          </a:solidFill>
          <a:ln w="12700">
            <a:solidFill>
              <a:srgbClr val="CC785C"/>
            </a:solidFill>
            <a:prstDash val="solid"/>
          </a:ln>
        </p:spPr>
      </p:sp>
      <p:sp>
        <p:nvSpPr>
          <p:cNvPr id="6" name="Text 4"/>
          <p:cNvSpPr/>
          <p:nvPr/>
        </p:nvSpPr>
        <p:spPr>
          <a:xfrm>
            <a:off x="713232" y="1965960"/>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Parallel work</a:t>
            </a:r>
            <a:endParaRPr lang="en-US" sz="1500" dirty="0"/>
          </a:p>
        </p:txBody>
      </p:sp>
      <p:sp>
        <p:nvSpPr>
          <p:cNvPr id="7" name="Text 5"/>
          <p:cNvSpPr/>
          <p:nvPr/>
        </p:nvSpPr>
        <p:spPr>
          <a:xfrm>
            <a:off x="713232" y="2258568"/>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Run multiple narrow tasks at once — review, test, and scan at the same time.</a:t>
            </a:r>
            <a:endParaRPr lang="en-US" sz="1100" dirty="0"/>
          </a:p>
        </p:txBody>
      </p:sp>
      <p:sp>
        <p:nvSpPr>
          <p:cNvPr id="8" name="Shape 6"/>
          <p:cNvSpPr/>
          <p:nvPr/>
        </p:nvSpPr>
        <p:spPr>
          <a:xfrm>
            <a:off x="502920" y="2862072"/>
            <a:ext cx="45720" cy="777240"/>
          </a:xfrm>
          <a:prstGeom prst="rect">
            <a:avLst/>
          </a:prstGeom>
          <a:solidFill>
            <a:srgbClr val="CC785C"/>
          </a:solidFill>
          <a:ln w="12700">
            <a:solidFill>
              <a:srgbClr val="CC785C"/>
            </a:solidFill>
            <a:prstDash val="solid"/>
          </a:ln>
        </p:spPr>
      </p:sp>
      <p:sp>
        <p:nvSpPr>
          <p:cNvPr id="9" name="Text 7"/>
          <p:cNvSpPr/>
          <p:nvPr/>
        </p:nvSpPr>
        <p:spPr>
          <a:xfrm>
            <a:off x="713232" y="2862072"/>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Narrow focus</a:t>
            </a:r>
            <a:endParaRPr lang="en-US" sz="1500" dirty="0"/>
          </a:p>
        </p:txBody>
      </p:sp>
      <p:sp>
        <p:nvSpPr>
          <p:cNvPr id="10" name="Text 8"/>
          <p:cNvSpPr/>
          <p:nvPr/>
        </p:nvSpPr>
        <p:spPr>
          <a:xfrm>
            <a:off x="713232" y="3154680"/>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Each subagent keeps its own context, so the main thread stays uncluttered.</a:t>
            </a:r>
            <a:endParaRPr lang="en-US" sz="1100" dirty="0"/>
          </a:p>
        </p:txBody>
      </p:sp>
      <p:sp>
        <p:nvSpPr>
          <p:cNvPr id="11" name="Shape 9"/>
          <p:cNvSpPr/>
          <p:nvPr/>
        </p:nvSpPr>
        <p:spPr>
          <a:xfrm>
            <a:off x="502920" y="3758184"/>
            <a:ext cx="45720" cy="777240"/>
          </a:xfrm>
          <a:prstGeom prst="rect">
            <a:avLst/>
          </a:prstGeom>
          <a:solidFill>
            <a:srgbClr val="CC785C"/>
          </a:solidFill>
          <a:ln w="12700">
            <a:solidFill>
              <a:srgbClr val="CC785C"/>
            </a:solidFill>
            <a:prstDash val="solid"/>
          </a:ln>
        </p:spPr>
      </p:sp>
      <p:sp>
        <p:nvSpPr>
          <p:cNvPr id="12" name="Text 10"/>
          <p:cNvSpPr/>
          <p:nvPr/>
        </p:nvSpPr>
        <p:spPr>
          <a:xfrm>
            <a:off x="713232" y="3758184"/>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Scoped tools</a:t>
            </a:r>
            <a:endParaRPr lang="en-US" sz="1500" dirty="0"/>
          </a:p>
        </p:txBody>
      </p:sp>
      <p:sp>
        <p:nvSpPr>
          <p:cNvPr id="13" name="Text 11"/>
          <p:cNvSpPr/>
          <p:nvPr/>
        </p:nvSpPr>
        <p:spPr>
          <a:xfrm>
            <a:off x="713232" y="4050792"/>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Give each subagent only the tools it needs. A reviewer can't run bash.</a:t>
            </a:r>
            <a:endParaRPr lang="en-US" sz="1100" dirty="0"/>
          </a:p>
        </p:txBody>
      </p:sp>
      <p:sp>
        <p:nvSpPr>
          <p:cNvPr id="14" name="Shape 12"/>
          <p:cNvSpPr/>
          <p:nvPr/>
        </p:nvSpPr>
        <p:spPr>
          <a:xfrm>
            <a:off x="5577840" y="2011680"/>
            <a:ext cx="2286000" cy="6400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5" name="Image 0" descr="preencoded.png">    </p:cNvPr>
          <p:cNvPicPr>
            <a:picLocks noChangeAspect="1"/>
          </p:cNvPicPr>
          <p:nvPr/>
        </p:nvPicPr>
        <p:blipFill>
          <a:blip r:embed="rId1"/>
          <a:stretch>
            <a:fillRect/>
          </a:stretch>
        </p:blipFill>
        <p:spPr>
          <a:xfrm>
            <a:off x="5715000" y="2203704"/>
            <a:ext cx="256032" cy="256032"/>
          </a:xfrm>
          <a:prstGeom prst="rect">
            <a:avLst/>
          </a:prstGeom>
        </p:spPr>
      </p:pic>
      <p:sp>
        <p:nvSpPr>
          <p:cNvPr id="16" name="Text 13"/>
          <p:cNvSpPr/>
          <p:nvPr/>
        </p:nvSpPr>
        <p:spPr>
          <a:xfrm>
            <a:off x="6053328" y="2084832"/>
            <a:ext cx="1737360" cy="274320"/>
          </a:xfrm>
          <a:prstGeom prst="rect">
            <a:avLst/>
          </a:prstGeom>
          <a:noFill/>
          <a:ln/>
        </p:spPr>
        <p:txBody>
          <a:bodyPr wrap="square" lIns="0" tIns="0" rIns="0" bIns="0" rtlCol="0" anchor="ctr"/>
          <a:lstStyle/>
          <a:p>
            <a:pPr indent="0" marL="0">
              <a:buNone/>
            </a:pPr>
            <a:r>
              <a:rPr lang="en-US" sz="1300" b="1" dirty="0">
                <a:solidFill>
                  <a:srgbClr val="F7F5F0"/>
                </a:solidFill>
                <a:latin typeface="Georgia" pitchFamily="34" charset="0"/>
                <a:ea typeface="Georgia" pitchFamily="34" charset="-122"/>
                <a:cs typeface="Georgia" pitchFamily="34" charset="-120"/>
              </a:rPr>
              <a:t>Main agent</a:t>
            </a:r>
            <a:endParaRPr lang="en-US" sz="1300" dirty="0"/>
          </a:p>
        </p:txBody>
      </p:sp>
      <p:sp>
        <p:nvSpPr>
          <p:cNvPr id="17" name="Text 14"/>
          <p:cNvSpPr/>
          <p:nvPr/>
        </p:nvSpPr>
        <p:spPr>
          <a:xfrm>
            <a:off x="6053328" y="2350008"/>
            <a:ext cx="1737360" cy="228600"/>
          </a:xfrm>
          <a:prstGeom prst="rect">
            <a:avLst/>
          </a:prstGeom>
          <a:noFill/>
          <a:ln/>
        </p:spPr>
        <p:txBody>
          <a:bodyPr wrap="square" lIns="0" tIns="0" rIns="0" bIns="0" rtlCol="0" anchor="ctr"/>
          <a:lstStyle/>
          <a:p>
            <a:pPr indent="0" marL="0">
              <a:buNone/>
            </a:pPr>
            <a:r>
              <a:rPr lang="en-US" sz="900" dirty="0">
                <a:solidFill>
                  <a:srgbClr val="A9A69E"/>
                </a:solidFill>
                <a:latin typeface="Consolas" pitchFamily="34" charset="0"/>
                <a:ea typeface="Consolas" pitchFamily="34" charset="-122"/>
                <a:cs typeface="Consolas" pitchFamily="34" charset="-120"/>
              </a:rPr>
              <a:t>orchestrates</a:t>
            </a:r>
            <a:endParaRPr lang="en-US" sz="900" dirty="0"/>
          </a:p>
        </p:txBody>
      </p:sp>
      <p:sp>
        <p:nvSpPr>
          <p:cNvPr id="18" name="Shape 15"/>
          <p:cNvSpPr/>
          <p:nvPr/>
        </p:nvSpPr>
        <p:spPr>
          <a:xfrm>
            <a:off x="6720840" y="2651760"/>
            <a:ext cx="0" cy="201168"/>
          </a:xfrm>
          <a:prstGeom prst="line">
            <a:avLst/>
          </a:prstGeom>
          <a:noFill/>
          <a:ln w="15240">
            <a:solidFill>
              <a:srgbClr val="CC785C"/>
            </a:solidFill>
            <a:prstDash val="solid"/>
          </a:ln>
        </p:spPr>
      </p:sp>
      <p:sp>
        <p:nvSpPr>
          <p:cNvPr id="19" name="Shape 16"/>
          <p:cNvSpPr/>
          <p:nvPr/>
        </p:nvSpPr>
        <p:spPr>
          <a:xfrm>
            <a:off x="5417820" y="2852928"/>
            <a:ext cx="2615184" cy="0"/>
          </a:xfrm>
          <a:prstGeom prst="line">
            <a:avLst/>
          </a:prstGeom>
          <a:noFill/>
          <a:ln w="15240">
            <a:solidFill>
              <a:srgbClr val="CC785C"/>
            </a:solidFill>
            <a:prstDash val="solid"/>
          </a:ln>
        </p:spPr>
      </p:sp>
      <p:sp>
        <p:nvSpPr>
          <p:cNvPr id="20" name="Shape 17"/>
          <p:cNvSpPr/>
          <p:nvPr/>
        </p:nvSpPr>
        <p:spPr>
          <a:xfrm>
            <a:off x="5417820" y="2852928"/>
            <a:ext cx="0" cy="301752"/>
          </a:xfrm>
          <a:prstGeom prst="line">
            <a:avLst/>
          </a:prstGeom>
          <a:noFill/>
          <a:ln w="15240">
            <a:solidFill>
              <a:srgbClr val="CC785C"/>
            </a:solidFill>
            <a:prstDash val="solid"/>
          </a:ln>
        </p:spPr>
      </p:sp>
      <p:sp>
        <p:nvSpPr>
          <p:cNvPr id="21" name="Shape 18"/>
          <p:cNvSpPr/>
          <p:nvPr/>
        </p:nvSpPr>
        <p:spPr>
          <a:xfrm>
            <a:off x="6725412" y="2852928"/>
            <a:ext cx="0" cy="301752"/>
          </a:xfrm>
          <a:prstGeom prst="line">
            <a:avLst/>
          </a:prstGeom>
          <a:noFill/>
          <a:ln w="15240">
            <a:solidFill>
              <a:srgbClr val="CC785C"/>
            </a:solidFill>
            <a:prstDash val="solid"/>
          </a:ln>
        </p:spPr>
      </p:sp>
      <p:sp>
        <p:nvSpPr>
          <p:cNvPr id="22" name="Shape 19"/>
          <p:cNvSpPr/>
          <p:nvPr/>
        </p:nvSpPr>
        <p:spPr>
          <a:xfrm>
            <a:off x="8033004" y="2852928"/>
            <a:ext cx="0" cy="301752"/>
          </a:xfrm>
          <a:prstGeom prst="line">
            <a:avLst/>
          </a:prstGeom>
          <a:noFill/>
          <a:ln w="15240">
            <a:solidFill>
              <a:srgbClr val="CC785C"/>
            </a:solidFill>
            <a:prstDash val="solid"/>
          </a:ln>
        </p:spPr>
      </p:sp>
      <p:sp>
        <p:nvSpPr>
          <p:cNvPr id="23" name="Shape 20"/>
          <p:cNvSpPr/>
          <p:nvPr/>
        </p:nvSpPr>
        <p:spPr>
          <a:xfrm>
            <a:off x="4800600"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1"/>
          <p:cNvSpPr/>
          <p:nvPr/>
        </p:nvSpPr>
        <p:spPr>
          <a:xfrm>
            <a:off x="4800600" y="3154680"/>
            <a:ext cx="1234440" cy="45720"/>
          </a:xfrm>
          <a:prstGeom prst="rect">
            <a:avLst/>
          </a:prstGeom>
          <a:solidFill>
            <a:srgbClr val="CC785C"/>
          </a:solidFill>
          <a:ln w="12700">
            <a:solidFill>
              <a:srgbClr val="CC785C"/>
            </a:solidFill>
            <a:prstDash val="solid"/>
          </a:ln>
        </p:spPr>
      </p:sp>
      <p:sp>
        <p:nvSpPr>
          <p:cNvPr id="25" name="Text 22"/>
          <p:cNvSpPr/>
          <p:nvPr/>
        </p:nvSpPr>
        <p:spPr>
          <a:xfrm>
            <a:off x="4873752"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code-reviewer</a:t>
            </a:r>
            <a:endParaRPr lang="en-US" sz="1000" dirty="0"/>
          </a:p>
        </p:txBody>
      </p:sp>
      <p:sp>
        <p:nvSpPr>
          <p:cNvPr id="26" name="Text 23"/>
          <p:cNvSpPr/>
          <p:nvPr/>
        </p:nvSpPr>
        <p:spPr>
          <a:xfrm>
            <a:off x="4873752"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27" name="Shape 24"/>
          <p:cNvSpPr/>
          <p:nvPr/>
        </p:nvSpPr>
        <p:spPr>
          <a:xfrm>
            <a:off x="6108192"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8" name="Shape 25"/>
          <p:cNvSpPr/>
          <p:nvPr/>
        </p:nvSpPr>
        <p:spPr>
          <a:xfrm>
            <a:off x="6108192" y="3154680"/>
            <a:ext cx="1234440" cy="45720"/>
          </a:xfrm>
          <a:prstGeom prst="rect">
            <a:avLst/>
          </a:prstGeom>
          <a:solidFill>
            <a:srgbClr val="CC785C"/>
          </a:solidFill>
          <a:ln w="12700">
            <a:solidFill>
              <a:srgbClr val="CC785C"/>
            </a:solidFill>
            <a:prstDash val="solid"/>
          </a:ln>
        </p:spPr>
      </p:sp>
      <p:sp>
        <p:nvSpPr>
          <p:cNvPr id="29" name="Text 26"/>
          <p:cNvSpPr/>
          <p:nvPr/>
        </p:nvSpPr>
        <p:spPr>
          <a:xfrm>
            <a:off x="6181344"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test-runner</a:t>
            </a:r>
            <a:endParaRPr lang="en-US" sz="1000" dirty="0"/>
          </a:p>
        </p:txBody>
      </p:sp>
      <p:sp>
        <p:nvSpPr>
          <p:cNvPr id="30" name="Text 27"/>
          <p:cNvSpPr/>
          <p:nvPr/>
        </p:nvSpPr>
        <p:spPr>
          <a:xfrm>
            <a:off x="6181344"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Bash, Read</a:t>
            </a:r>
            <a:endParaRPr lang="en-US" sz="900" dirty="0"/>
          </a:p>
        </p:txBody>
      </p:sp>
      <p:sp>
        <p:nvSpPr>
          <p:cNvPr id="31" name="Shape 28"/>
          <p:cNvSpPr/>
          <p:nvPr/>
        </p:nvSpPr>
        <p:spPr>
          <a:xfrm>
            <a:off x="7415784"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2" name="Shape 29"/>
          <p:cNvSpPr/>
          <p:nvPr/>
        </p:nvSpPr>
        <p:spPr>
          <a:xfrm>
            <a:off x="7415784" y="3154680"/>
            <a:ext cx="1234440" cy="45720"/>
          </a:xfrm>
          <a:prstGeom prst="rect">
            <a:avLst/>
          </a:prstGeom>
          <a:solidFill>
            <a:srgbClr val="CC785C"/>
          </a:solidFill>
          <a:ln w="12700">
            <a:solidFill>
              <a:srgbClr val="CC785C"/>
            </a:solidFill>
            <a:prstDash val="solid"/>
          </a:ln>
        </p:spPr>
      </p:sp>
      <p:sp>
        <p:nvSpPr>
          <p:cNvPr id="33" name="Text 30"/>
          <p:cNvSpPr/>
          <p:nvPr/>
        </p:nvSpPr>
        <p:spPr>
          <a:xfrm>
            <a:off x="7488936"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security-scan</a:t>
            </a:r>
            <a:endParaRPr lang="en-US" sz="1000" dirty="0"/>
          </a:p>
        </p:txBody>
      </p:sp>
      <p:sp>
        <p:nvSpPr>
          <p:cNvPr id="34" name="Text 31"/>
          <p:cNvSpPr/>
          <p:nvPr/>
        </p:nvSpPr>
        <p:spPr>
          <a:xfrm>
            <a:off x="7488936"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35" name="Text 32"/>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08  —  CAPABILITIES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it can do</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work Claude Code takes off your plate — from first commit to production release.</a:t>
            </a:r>
            <a:endParaRPr lang="en-US" sz="1300" dirty="0"/>
          </a:p>
        </p:txBody>
      </p:sp>
      <p:sp>
        <p:nvSpPr>
          <p:cNvPr id="5" name="Shape 3"/>
          <p:cNvSpPr/>
          <p:nvPr/>
        </p:nvSpPr>
        <p:spPr>
          <a:xfrm>
            <a:off x="5029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704088" y="2167128"/>
            <a:ext cx="502920" cy="502920"/>
          </a:xfrm>
          <a:prstGeom prst="ellipse">
            <a:avLst/>
          </a:prstGeom>
          <a:solidFill>
            <a:srgbClr val="EFEAE0"/>
          </a:solidFill>
          <a:ln w="12700">
            <a:solidFill>
              <a:srgbClr val="EFEAE0"/>
            </a:solidFill>
            <a:prstDash val="solid"/>
          </a:ln>
        </p:spPr>
      </p:sp>
      <p:pic>
        <p:nvPicPr>
          <p:cNvPr id="7" name="Image 0" descr="preencoded.png">    </p:cNvPr>
          <p:cNvPicPr>
            <a:picLocks noChangeAspect="1"/>
          </p:cNvPicPr>
          <p:nvPr/>
        </p:nvPicPr>
        <p:blipFill>
          <a:blip r:embed="rId1"/>
          <a:stretch>
            <a:fillRect/>
          </a:stretch>
        </p:blipFill>
        <p:spPr>
          <a:xfrm>
            <a:off x="804672" y="2267712"/>
            <a:ext cx="301752" cy="301752"/>
          </a:xfrm>
          <a:prstGeom prst="rect">
            <a:avLst/>
          </a:prstGeom>
        </p:spPr>
      </p:pic>
      <p:sp>
        <p:nvSpPr>
          <p:cNvPr id="8" name="Text 5"/>
          <p:cNvSpPr/>
          <p:nvPr/>
        </p:nvSpPr>
        <p:spPr>
          <a:xfrm>
            <a:off x="13258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Build features</a:t>
            </a:r>
            <a:endParaRPr lang="en-US" sz="1400" dirty="0"/>
          </a:p>
        </p:txBody>
      </p:sp>
      <p:sp>
        <p:nvSpPr>
          <p:cNvPr id="9" name="Text 6"/>
          <p:cNvSpPr/>
          <p:nvPr/>
        </p:nvSpPr>
        <p:spPr>
          <a:xfrm>
            <a:off x="7040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and verifies it works.</a:t>
            </a:r>
            <a:endParaRPr lang="en-US" sz="1100" dirty="0"/>
          </a:p>
        </p:txBody>
      </p:sp>
      <p:sp>
        <p:nvSpPr>
          <p:cNvPr id="10" name="Shape 7"/>
          <p:cNvSpPr/>
          <p:nvPr/>
        </p:nvSpPr>
        <p:spPr>
          <a:xfrm>
            <a:off x="32461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8"/>
          <p:cNvSpPr/>
          <p:nvPr/>
        </p:nvSpPr>
        <p:spPr>
          <a:xfrm>
            <a:off x="3447288" y="2167128"/>
            <a:ext cx="502920" cy="502920"/>
          </a:xfrm>
          <a:prstGeom prst="ellipse">
            <a:avLst/>
          </a:prstGeom>
          <a:solidFill>
            <a:srgbClr val="EFEAE0"/>
          </a:solidFill>
          <a:ln w="12700">
            <a:solidFill>
              <a:srgbClr val="EFEAE0"/>
            </a:solidFill>
            <a:prstDash val="solid"/>
          </a:ln>
        </p:spPr>
      </p:sp>
      <p:pic>
        <p:nvPicPr>
          <p:cNvPr id="12" name="Image 1" descr="preencoded.png">    </p:cNvPr>
          <p:cNvPicPr>
            <a:picLocks noChangeAspect="1"/>
          </p:cNvPicPr>
          <p:nvPr/>
        </p:nvPicPr>
        <p:blipFill>
          <a:blip r:embed="rId2"/>
          <a:stretch>
            <a:fillRect/>
          </a:stretch>
        </p:blipFill>
        <p:spPr>
          <a:xfrm>
            <a:off x="3547872" y="2267712"/>
            <a:ext cx="301752" cy="301752"/>
          </a:xfrm>
          <a:prstGeom prst="rect">
            <a:avLst/>
          </a:prstGeom>
        </p:spPr>
      </p:pic>
      <p:sp>
        <p:nvSpPr>
          <p:cNvPr id="13" name="Text 9"/>
          <p:cNvSpPr/>
          <p:nvPr/>
        </p:nvSpPr>
        <p:spPr>
          <a:xfrm>
            <a:off x="40690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Fix bugs</a:t>
            </a:r>
            <a:endParaRPr lang="en-US" sz="1400" dirty="0"/>
          </a:p>
        </p:txBody>
      </p:sp>
      <p:sp>
        <p:nvSpPr>
          <p:cNvPr id="14" name="Text 10"/>
          <p:cNvSpPr/>
          <p:nvPr/>
        </p:nvSpPr>
        <p:spPr>
          <a:xfrm>
            <a:off x="34472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errors to root cause and implements the fix.</a:t>
            </a:r>
            <a:endParaRPr lang="en-US" sz="1100" dirty="0"/>
          </a:p>
        </p:txBody>
      </p:sp>
      <p:sp>
        <p:nvSpPr>
          <p:cNvPr id="15" name="Shape 11"/>
          <p:cNvSpPr/>
          <p:nvPr/>
        </p:nvSpPr>
        <p:spPr>
          <a:xfrm>
            <a:off x="59893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6" name="Shape 12"/>
          <p:cNvSpPr/>
          <p:nvPr/>
        </p:nvSpPr>
        <p:spPr>
          <a:xfrm>
            <a:off x="6190488" y="2167128"/>
            <a:ext cx="502920" cy="502920"/>
          </a:xfrm>
          <a:prstGeom prst="ellipse">
            <a:avLst/>
          </a:prstGeom>
          <a:solidFill>
            <a:srgbClr val="EFEAE0"/>
          </a:solidFill>
          <a:ln w="12700">
            <a:solidFill>
              <a:srgbClr val="EFEAE0"/>
            </a:solidFill>
            <a:prstDash val="solid"/>
          </a:ln>
        </p:spPr>
      </p:sp>
      <p:pic>
        <p:nvPicPr>
          <p:cNvPr id="17" name="Image 2" descr="preencoded.png">    </p:cNvPr>
          <p:cNvPicPr>
            <a:picLocks noChangeAspect="1"/>
          </p:cNvPicPr>
          <p:nvPr/>
        </p:nvPicPr>
        <p:blipFill>
          <a:blip r:embed="rId3"/>
          <a:stretch>
            <a:fillRect/>
          </a:stretch>
        </p:blipFill>
        <p:spPr>
          <a:xfrm>
            <a:off x="6291072" y="2267712"/>
            <a:ext cx="301752" cy="301752"/>
          </a:xfrm>
          <a:prstGeom prst="rect">
            <a:avLst/>
          </a:prstGeom>
        </p:spPr>
      </p:pic>
      <p:sp>
        <p:nvSpPr>
          <p:cNvPr id="18" name="Text 13"/>
          <p:cNvSpPr/>
          <p:nvPr/>
        </p:nvSpPr>
        <p:spPr>
          <a:xfrm>
            <a:off x="68122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Refactor</a:t>
            </a:r>
            <a:endParaRPr lang="en-US" sz="1400" dirty="0"/>
          </a:p>
        </p:txBody>
      </p:sp>
      <p:sp>
        <p:nvSpPr>
          <p:cNvPr id="19" name="Text 14"/>
          <p:cNvSpPr/>
          <p:nvPr/>
        </p:nvSpPr>
        <p:spPr>
          <a:xfrm>
            <a:off x="61904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Multi-file refactors at scale — safely and consistently.</a:t>
            </a:r>
            <a:endParaRPr lang="en-US" sz="1100" dirty="0"/>
          </a:p>
        </p:txBody>
      </p:sp>
      <p:sp>
        <p:nvSpPr>
          <p:cNvPr id="20" name="Shape 15"/>
          <p:cNvSpPr/>
          <p:nvPr/>
        </p:nvSpPr>
        <p:spPr>
          <a:xfrm>
            <a:off x="5029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1" name="Shape 16"/>
          <p:cNvSpPr/>
          <p:nvPr/>
        </p:nvSpPr>
        <p:spPr>
          <a:xfrm>
            <a:off x="704088" y="3538728"/>
            <a:ext cx="502920" cy="502920"/>
          </a:xfrm>
          <a:prstGeom prst="ellipse">
            <a:avLst/>
          </a:prstGeom>
          <a:solidFill>
            <a:srgbClr val="EFEAE0"/>
          </a:solidFill>
          <a:ln w="12700">
            <a:solidFill>
              <a:srgbClr val="EFEAE0"/>
            </a:solidFill>
            <a:prstDash val="solid"/>
          </a:ln>
        </p:spPr>
      </p:sp>
      <p:pic>
        <p:nvPicPr>
          <p:cNvPr id="22" name="Image 3" descr="preencoded.png">    </p:cNvPr>
          <p:cNvPicPr>
            <a:picLocks noChangeAspect="1"/>
          </p:cNvPicPr>
          <p:nvPr/>
        </p:nvPicPr>
        <p:blipFill>
          <a:blip r:embed="rId4"/>
          <a:stretch>
            <a:fillRect/>
          </a:stretch>
        </p:blipFill>
        <p:spPr>
          <a:xfrm>
            <a:off x="804672" y="3639312"/>
            <a:ext cx="301752" cy="301752"/>
          </a:xfrm>
          <a:prstGeom prst="rect">
            <a:avLst/>
          </a:prstGeom>
        </p:spPr>
      </p:pic>
      <p:sp>
        <p:nvSpPr>
          <p:cNvPr id="23" name="Text 17"/>
          <p:cNvSpPr/>
          <p:nvPr/>
        </p:nvSpPr>
        <p:spPr>
          <a:xfrm>
            <a:off x="13258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Write &amp; run tests</a:t>
            </a:r>
            <a:endParaRPr lang="en-US" sz="1400" dirty="0"/>
          </a:p>
        </p:txBody>
      </p:sp>
      <p:sp>
        <p:nvSpPr>
          <p:cNvPr id="24" name="Text 18"/>
          <p:cNvSpPr/>
          <p:nvPr/>
        </p:nvSpPr>
        <p:spPr>
          <a:xfrm>
            <a:off x="7040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Generates tests, runs the suite, iterates until green.</a:t>
            </a:r>
            <a:endParaRPr lang="en-US" sz="1100" dirty="0"/>
          </a:p>
        </p:txBody>
      </p:sp>
      <p:sp>
        <p:nvSpPr>
          <p:cNvPr id="25" name="Shape 19"/>
          <p:cNvSpPr/>
          <p:nvPr/>
        </p:nvSpPr>
        <p:spPr>
          <a:xfrm>
            <a:off x="32461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3447288" y="3538728"/>
            <a:ext cx="502920" cy="502920"/>
          </a:xfrm>
          <a:prstGeom prst="ellipse">
            <a:avLst/>
          </a:prstGeom>
          <a:solidFill>
            <a:srgbClr val="EFEAE0"/>
          </a:solidFill>
          <a:ln w="12700">
            <a:solidFill>
              <a:srgbClr val="EFEAE0"/>
            </a:solidFill>
            <a:prstDash val="solid"/>
          </a:ln>
        </p:spPr>
      </p:sp>
      <p:pic>
        <p:nvPicPr>
          <p:cNvPr id="27" name="Image 4" descr="preencoded.png">    </p:cNvPr>
          <p:cNvPicPr>
            <a:picLocks noChangeAspect="1"/>
          </p:cNvPicPr>
          <p:nvPr/>
        </p:nvPicPr>
        <p:blipFill>
          <a:blip r:embed="rId5"/>
          <a:stretch>
            <a:fillRect/>
          </a:stretch>
        </p:blipFill>
        <p:spPr>
          <a:xfrm>
            <a:off x="3547872" y="3639312"/>
            <a:ext cx="301752" cy="301752"/>
          </a:xfrm>
          <a:prstGeom prst="rect">
            <a:avLst/>
          </a:prstGeom>
        </p:spPr>
      </p:pic>
      <p:sp>
        <p:nvSpPr>
          <p:cNvPr id="28" name="Text 21"/>
          <p:cNvSpPr/>
          <p:nvPr/>
        </p:nvSpPr>
        <p:spPr>
          <a:xfrm>
            <a:off x="40690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Explain code</a:t>
            </a:r>
            <a:endParaRPr lang="en-US" sz="1400" dirty="0"/>
          </a:p>
        </p:txBody>
      </p:sp>
      <p:sp>
        <p:nvSpPr>
          <p:cNvPr id="29" name="Text 22"/>
          <p:cNvSpPr/>
          <p:nvPr/>
        </p:nvSpPr>
        <p:spPr>
          <a:xfrm>
            <a:off x="34472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Walks you through unfamiliar systems and dependencies.</a:t>
            </a:r>
            <a:endParaRPr lang="en-US" sz="1100" dirty="0"/>
          </a:p>
        </p:txBody>
      </p:sp>
      <p:sp>
        <p:nvSpPr>
          <p:cNvPr id="30" name="Shape 23"/>
          <p:cNvSpPr/>
          <p:nvPr/>
        </p:nvSpPr>
        <p:spPr>
          <a:xfrm>
            <a:off x="59893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1" name="Shape 24"/>
          <p:cNvSpPr/>
          <p:nvPr/>
        </p:nvSpPr>
        <p:spPr>
          <a:xfrm>
            <a:off x="6190488" y="3538728"/>
            <a:ext cx="502920" cy="502920"/>
          </a:xfrm>
          <a:prstGeom prst="ellipse">
            <a:avLst/>
          </a:prstGeom>
          <a:solidFill>
            <a:srgbClr val="EFEAE0"/>
          </a:solidFill>
          <a:ln w="12700">
            <a:solidFill>
              <a:srgbClr val="EFEAE0"/>
            </a:solidFill>
            <a:prstDash val="solid"/>
          </a:ln>
        </p:spPr>
      </p:sp>
      <p:pic>
        <p:nvPicPr>
          <p:cNvPr id="32" name="Image 5" descr="preencoded.png">    </p:cNvPr>
          <p:cNvPicPr>
            <a:picLocks noChangeAspect="1"/>
          </p:cNvPicPr>
          <p:nvPr/>
        </p:nvPicPr>
        <p:blipFill>
          <a:blip r:embed="rId6"/>
          <a:stretch>
            <a:fillRect/>
          </a:stretch>
        </p:blipFill>
        <p:spPr>
          <a:xfrm>
            <a:off x="6291072" y="3639312"/>
            <a:ext cx="301752" cy="301752"/>
          </a:xfrm>
          <a:prstGeom prst="rect">
            <a:avLst/>
          </a:prstGeom>
        </p:spPr>
      </p:pic>
      <p:sp>
        <p:nvSpPr>
          <p:cNvPr id="33" name="Text 25"/>
          <p:cNvSpPr/>
          <p:nvPr/>
        </p:nvSpPr>
        <p:spPr>
          <a:xfrm>
            <a:off x="68122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Handle Git</a:t>
            </a:r>
            <a:endParaRPr lang="en-US" sz="1400" dirty="0"/>
          </a:p>
        </p:txBody>
      </p:sp>
      <p:sp>
        <p:nvSpPr>
          <p:cNvPr id="34" name="Text 26"/>
          <p:cNvSpPr/>
          <p:nvPr/>
        </p:nvSpPr>
        <p:spPr>
          <a:xfrm>
            <a:off x="61904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Branches, commits, PRs, merge conflicts — all handled.</a:t>
            </a:r>
            <a:endParaRPr lang="en-US" sz="1100" dirty="0"/>
          </a:p>
        </p:txBody>
      </p:sp>
      <p:sp>
        <p:nvSpPr>
          <p:cNvPr id="35"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09  —  IN ACTION</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loop, on a real task</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ask: "Add rate limiting to our API." Here's how Claude Code works through it.</a:t>
            </a:r>
            <a:endParaRPr lang="en-US" sz="1300" dirty="0"/>
          </a:p>
        </p:txBody>
      </p:sp>
      <p:sp>
        <p:nvSpPr>
          <p:cNvPr id="5" name="Shape 3"/>
          <p:cNvSpPr/>
          <p:nvPr/>
        </p:nvSpPr>
        <p:spPr>
          <a:xfrm>
            <a:off x="502920" y="192024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685800" cy="658368"/>
          </a:xfrm>
          <a:prstGeom prst="rect">
            <a:avLst/>
          </a:prstGeom>
          <a:solidFill>
            <a:srgbClr val="1A1B1F"/>
          </a:solidFill>
          <a:ln w="12700">
            <a:solidFill>
              <a:srgbClr val="1A1B1F"/>
            </a:solidFill>
            <a:prstDash val="solid"/>
          </a:ln>
        </p:spPr>
      </p:sp>
      <p:sp>
        <p:nvSpPr>
          <p:cNvPr id="7" name="Text 5"/>
          <p:cNvSpPr/>
          <p:nvPr/>
        </p:nvSpPr>
        <p:spPr>
          <a:xfrm>
            <a:off x="502920" y="192024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371600" y="199339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UNDERSTAND</a:t>
            </a:r>
            <a:endParaRPr lang="en-US" sz="900" dirty="0"/>
          </a:p>
        </p:txBody>
      </p:sp>
      <p:sp>
        <p:nvSpPr>
          <p:cNvPr id="9" name="Text 7"/>
          <p:cNvSpPr/>
          <p:nvPr/>
        </p:nvSpPr>
        <p:spPr>
          <a:xfrm>
            <a:off x="1371600" y="217627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Reading middleware/ and routes/api/</a:t>
            </a:r>
            <a:endParaRPr lang="en-US" sz="1050" dirty="0"/>
          </a:p>
        </p:txBody>
      </p:sp>
      <p:sp>
        <p:nvSpPr>
          <p:cNvPr id="10" name="Text 8"/>
          <p:cNvSpPr/>
          <p:nvPr/>
        </p:nvSpPr>
        <p:spPr>
          <a:xfrm>
            <a:off x="1371600" y="235915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Found 3 endpoints; Express + custom auth middleware</a:t>
            </a:r>
            <a:endParaRPr lang="en-US" sz="1050" dirty="0"/>
          </a:p>
        </p:txBody>
      </p:sp>
      <p:sp>
        <p:nvSpPr>
          <p:cNvPr id="11" name="Shape 9"/>
          <p:cNvSpPr/>
          <p:nvPr/>
        </p:nvSpPr>
        <p:spPr>
          <a:xfrm>
            <a:off x="502920" y="265176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10"/>
          <p:cNvSpPr/>
          <p:nvPr/>
        </p:nvSpPr>
        <p:spPr>
          <a:xfrm>
            <a:off x="502920" y="2651760"/>
            <a:ext cx="685800" cy="658368"/>
          </a:xfrm>
          <a:prstGeom prst="rect">
            <a:avLst/>
          </a:prstGeom>
          <a:solidFill>
            <a:srgbClr val="1A1B1F"/>
          </a:solidFill>
          <a:ln w="12700">
            <a:solidFill>
              <a:srgbClr val="1A1B1F"/>
            </a:solidFill>
            <a:prstDash val="solid"/>
          </a:ln>
        </p:spPr>
      </p:sp>
      <p:sp>
        <p:nvSpPr>
          <p:cNvPr id="13" name="Text 11"/>
          <p:cNvSpPr/>
          <p:nvPr/>
        </p:nvSpPr>
        <p:spPr>
          <a:xfrm>
            <a:off x="502920" y="265176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2</a:t>
            </a:r>
            <a:endParaRPr lang="en-US" sz="2200" dirty="0"/>
          </a:p>
        </p:txBody>
      </p:sp>
      <p:sp>
        <p:nvSpPr>
          <p:cNvPr id="14" name="Text 12"/>
          <p:cNvSpPr/>
          <p:nvPr/>
        </p:nvSpPr>
        <p:spPr>
          <a:xfrm>
            <a:off x="1371600" y="272491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PLAN</a:t>
            </a:r>
            <a:endParaRPr lang="en-US" sz="900" dirty="0"/>
          </a:p>
        </p:txBody>
      </p:sp>
      <p:sp>
        <p:nvSpPr>
          <p:cNvPr id="15" name="Text 13"/>
          <p:cNvSpPr/>
          <p:nvPr/>
        </p:nvSpPr>
        <p:spPr>
          <a:xfrm>
            <a:off x="1371600" y="290779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Use express-rate-limit: 100 req/min per IP.</a:t>
            </a:r>
            <a:endParaRPr lang="en-US" sz="1050" dirty="0"/>
          </a:p>
        </p:txBody>
      </p:sp>
      <p:sp>
        <p:nvSpPr>
          <p:cNvPr id="16" name="Text 14"/>
          <p:cNvSpPr/>
          <p:nvPr/>
        </p:nvSpPr>
        <p:spPr>
          <a:xfrm>
            <a:off x="1371600" y="309067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Add shared config; apply to all /api/* routes; cover with tests.</a:t>
            </a:r>
            <a:endParaRPr lang="en-US" sz="1050" dirty="0"/>
          </a:p>
        </p:txBody>
      </p:sp>
      <p:sp>
        <p:nvSpPr>
          <p:cNvPr id="17" name="Shape 15"/>
          <p:cNvSpPr/>
          <p:nvPr/>
        </p:nvSpPr>
        <p:spPr>
          <a:xfrm>
            <a:off x="502920" y="338328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502920" y="3383280"/>
            <a:ext cx="685800" cy="658368"/>
          </a:xfrm>
          <a:prstGeom prst="rect">
            <a:avLst/>
          </a:prstGeom>
          <a:solidFill>
            <a:srgbClr val="1A1B1F"/>
          </a:solidFill>
          <a:ln w="12700">
            <a:solidFill>
              <a:srgbClr val="1A1B1F"/>
            </a:solidFill>
            <a:prstDash val="solid"/>
          </a:ln>
        </p:spPr>
      </p:sp>
      <p:sp>
        <p:nvSpPr>
          <p:cNvPr id="19" name="Text 17"/>
          <p:cNvSpPr/>
          <p:nvPr/>
        </p:nvSpPr>
        <p:spPr>
          <a:xfrm>
            <a:off x="502920" y="338328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3</a:t>
            </a:r>
            <a:endParaRPr lang="en-US" sz="2200" dirty="0"/>
          </a:p>
        </p:txBody>
      </p:sp>
      <p:sp>
        <p:nvSpPr>
          <p:cNvPr id="20" name="Text 18"/>
          <p:cNvSpPr/>
          <p:nvPr/>
        </p:nvSpPr>
        <p:spPr>
          <a:xfrm>
            <a:off x="1371600" y="345643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ACT</a:t>
            </a:r>
            <a:endParaRPr lang="en-US" sz="900" dirty="0"/>
          </a:p>
        </p:txBody>
      </p:sp>
      <p:sp>
        <p:nvSpPr>
          <p:cNvPr id="21" name="Text 19"/>
          <p:cNvSpPr/>
          <p:nvPr/>
        </p:nvSpPr>
        <p:spPr>
          <a:xfrm>
            <a:off x="1371600" y="363931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Created middleware/rateLimit.js</a:t>
            </a:r>
            <a:endParaRPr lang="en-US" sz="1050" dirty="0"/>
          </a:p>
        </p:txBody>
      </p:sp>
      <p:sp>
        <p:nvSpPr>
          <p:cNvPr id="22" name="Text 20"/>
          <p:cNvSpPr/>
          <p:nvPr/>
        </p:nvSpPr>
        <p:spPr>
          <a:xfrm>
            <a:off x="1371600" y="382219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Wired into app.js; added tests in test/rateLimit.test.js</a:t>
            </a:r>
            <a:endParaRPr lang="en-US" sz="1050" dirty="0"/>
          </a:p>
        </p:txBody>
      </p:sp>
      <p:sp>
        <p:nvSpPr>
          <p:cNvPr id="23" name="Shape 21"/>
          <p:cNvSpPr/>
          <p:nvPr/>
        </p:nvSpPr>
        <p:spPr>
          <a:xfrm>
            <a:off x="502920" y="411480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2"/>
          <p:cNvSpPr/>
          <p:nvPr/>
        </p:nvSpPr>
        <p:spPr>
          <a:xfrm>
            <a:off x="502920" y="4114800"/>
            <a:ext cx="685800" cy="658368"/>
          </a:xfrm>
          <a:prstGeom prst="rect">
            <a:avLst/>
          </a:prstGeom>
          <a:solidFill>
            <a:srgbClr val="1A1B1F"/>
          </a:solidFill>
          <a:ln w="12700">
            <a:solidFill>
              <a:srgbClr val="1A1B1F"/>
            </a:solidFill>
            <a:prstDash val="solid"/>
          </a:ln>
        </p:spPr>
      </p:sp>
      <p:sp>
        <p:nvSpPr>
          <p:cNvPr id="25" name="Text 23"/>
          <p:cNvSpPr/>
          <p:nvPr/>
        </p:nvSpPr>
        <p:spPr>
          <a:xfrm>
            <a:off x="502920" y="411480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4</a:t>
            </a:r>
            <a:endParaRPr lang="en-US" sz="2200" dirty="0"/>
          </a:p>
        </p:txBody>
      </p:sp>
      <p:sp>
        <p:nvSpPr>
          <p:cNvPr id="26" name="Text 24"/>
          <p:cNvSpPr/>
          <p:nvPr/>
        </p:nvSpPr>
        <p:spPr>
          <a:xfrm>
            <a:off x="1371600" y="418795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VERIFY</a:t>
            </a:r>
            <a:endParaRPr lang="en-US" sz="900" dirty="0"/>
          </a:p>
        </p:txBody>
      </p:sp>
      <p:sp>
        <p:nvSpPr>
          <p:cNvPr id="27" name="Text 25"/>
          <p:cNvSpPr/>
          <p:nvPr/>
        </p:nvSpPr>
        <p:spPr>
          <a:xfrm>
            <a:off x="1371600" y="437083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Running test suite... 23/23 passed</a:t>
            </a:r>
            <a:endParaRPr lang="en-US" sz="1050" dirty="0"/>
          </a:p>
        </p:txBody>
      </p:sp>
      <p:sp>
        <p:nvSpPr>
          <p:cNvPr id="28" name="Text 26"/>
          <p:cNvSpPr/>
          <p:nvPr/>
        </p:nvSpPr>
        <p:spPr>
          <a:xfrm>
            <a:off x="1371600" y="455371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Done. Open a PR, or keep iterating?</a:t>
            </a:r>
            <a:endParaRPr lang="en-US" sz="1050" dirty="0"/>
          </a:p>
        </p:txBody>
      </p:sp>
      <p:sp>
        <p:nvSpPr>
          <p:cNvPr id="29"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10  —  SURFACES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Where it runs</a:t>
            </a:r>
            <a:endParaRPr lang="en-US" sz="3600" dirty="0"/>
          </a:p>
        </p:txBody>
      </p:sp>
      <p:sp>
        <p:nvSpPr>
          <p:cNvPr id="4" name="Text 2"/>
          <p:cNvSpPr/>
          <p:nvPr/>
        </p:nvSpPr>
        <p:spPr>
          <a:xfrm>
            <a:off x="502920" y="1417320"/>
            <a:ext cx="8229600" cy="32004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Pick the surface that fits your workflow — the same agent, different front ends.</a:t>
            </a:r>
            <a:endParaRPr lang="en-US" sz="1300" dirty="0"/>
          </a:p>
        </p:txBody>
      </p:sp>
      <p:sp>
        <p:nvSpPr>
          <p:cNvPr id="5" name="Shape 3"/>
          <p:cNvSpPr/>
          <p:nvPr/>
        </p:nvSpPr>
        <p:spPr>
          <a:xfrm>
            <a:off x="5029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6" name="Image 0" descr="preencoded.png">    </p:cNvPr>
          <p:cNvPicPr>
            <a:picLocks noChangeAspect="1"/>
          </p:cNvPicPr>
          <p:nvPr/>
        </p:nvPicPr>
        <p:blipFill>
          <a:blip r:embed="rId1"/>
          <a:stretch>
            <a:fillRect/>
          </a:stretch>
        </p:blipFill>
        <p:spPr>
          <a:xfrm>
            <a:off x="731520" y="2148840"/>
            <a:ext cx="365760" cy="365760"/>
          </a:xfrm>
          <a:prstGeom prst="rect">
            <a:avLst/>
          </a:prstGeom>
        </p:spPr>
      </p:pic>
      <p:sp>
        <p:nvSpPr>
          <p:cNvPr id="7" name="Text 4"/>
          <p:cNvSpPr/>
          <p:nvPr/>
        </p:nvSpPr>
        <p:spPr>
          <a:xfrm>
            <a:off x="7315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Terminal CLI</a:t>
            </a:r>
            <a:endParaRPr lang="en-US" sz="1400" dirty="0"/>
          </a:p>
        </p:txBody>
      </p:sp>
      <p:sp>
        <p:nvSpPr>
          <p:cNvPr id="8" name="Text 5"/>
          <p:cNvSpPr/>
          <p:nvPr/>
        </p:nvSpPr>
        <p:spPr>
          <a:xfrm>
            <a:off x="7315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The full-featured agent at the command line.</a:t>
            </a:r>
            <a:endParaRPr lang="en-US" sz="1050" dirty="0"/>
          </a:p>
        </p:txBody>
      </p:sp>
      <p:sp>
        <p:nvSpPr>
          <p:cNvPr id="9" name="Shape 6"/>
          <p:cNvSpPr/>
          <p:nvPr/>
        </p:nvSpPr>
        <p:spPr>
          <a:xfrm>
            <a:off x="32461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0" name="Image 1" descr="preencoded.png">    </p:cNvPr>
          <p:cNvPicPr>
            <a:picLocks noChangeAspect="1"/>
          </p:cNvPicPr>
          <p:nvPr/>
        </p:nvPicPr>
        <p:blipFill>
          <a:blip r:embed="rId2"/>
          <a:stretch>
            <a:fillRect/>
          </a:stretch>
        </p:blipFill>
        <p:spPr>
          <a:xfrm>
            <a:off x="3474720" y="2148840"/>
            <a:ext cx="365760" cy="365760"/>
          </a:xfrm>
          <a:prstGeom prst="rect">
            <a:avLst/>
          </a:prstGeom>
        </p:spPr>
      </p:pic>
      <p:sp>
        <p:nvSpPr>
          <p:cNvPr id="11" name="Text 7"/>
          <p:cNvSpPr/>
          <p:nvPr/>
        </p:nvSpPr>
        <p:spPr>
          <a:xfrm>
            <a:off x="34747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VS Code</a:t>
            </a:r>
            <a:endParaRPr lang="en-US" sz="1400" dirty="0"/>
          </a:p>
        </p:txBody>
      </p:sp>
      <p:sp>
        <p:nvSpPr>
          <p:cNvPr id="12" name="Text 8"/>
          <p:cNvSpPr/>
          <p:nvPr/>
        </p:nvSpPr>
        <p:spPr>
          <a:xfrm>
            <a:off x="34747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Inline diffs, @-mentions, plan review in the editor.</a:t>
            </a:r>
            <a:endParaRPr lang="en-US" sz="1050" dirty="0"/>
          </a:p>
        </p:txBody>
      </p:sp>
      <p:sp>
        <p:nvSpPr>
          <p:cNvPr id="13" name="Shape 9"/>
          <p:cNvSpPr/>
          <p:nvPr/>
        </p:nvSpPr>
        <p:spPr>
          <a:xfrm>
            <a:off x="59893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4" name="Image 2" descr="preencoded.png">    </p:cNvPr>
          <p:cNvPicPr>
            <a:picLocks noChangeAspect="1"/>
          </p:cNvPicPr>
          <p:nvPr/>
        </p:nvPicPr>
        <p:blipFill>
          <a:blip r:embed="rId3"/>
          <a:stretch>
            <a:fillRect/>
          </a:stretch>
        </p:blipFill>
        <p:spPr>
          <a:xfrm>
            <a:off x="6217920" y="2148840"/>
            <a:ext cx="365760" cy="365760"/>
          </a:xfrm>
          <a:prstGeom prst="rect">
            <a:avLst/>
          </a:prstGeom>
        </p:spPr>
      </p:pic>
      <p:sp>
        <p:nvSpPr>
          <p:cNvPr id="15" name="Text 10"/>
          <p:cNvSpPr/>
          <p:nvPr/>
        </p:nvSpPr>
        <p:spPr>
          <a:xfrm>
            <a:off x="62179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JetBrains</a:t>
            </a:r>
            <a:endParaRPr lang="en-US" sz="1400" dirty="0"/>
          </a:p>
        </p:txBody>
      </p:sp>
      <p:sp>
        <p:nvSpPr>
          <p:cNvPr id="16" name="Text 11"/>
          <p:cNvSpPr/>
          <p:nvPr/>
        </p:nvSpPr>
        <p:spPr>
          <a:xfrm>
            <a:off x="62179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IntelliJ, PyCharm, WebStorm — diff viewer and context sharing.</a:t>
            </a:r>
            <a:endParaRPr lang="en-US" sz="1050" dirty="0"/>
          </a:p>
        </p:txBody>
      </p:sp>
      <p:sp>
        <p:nvSpPr>
          <p:cNvPr id="17" name="Shape 12"/>
          <p:cNvSpPr/>
          <p:nvPr/>
        </p:nvSpPr>
        <p:spPr>
          <a:xfrm>
            <a:off x="5029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8" name="Image 3" descr="preencoded.png">    </p:cNvPr>
          <p:cNvPicPr>
            <a:picLocks noChangeAspect="1"/>
          </p:cNvPicPr>
          <p:nvPr/>
        </p:nvPicPr>
        <p:blipFill>
          <a:blip r:embed="rId4"/>
          <a:stretch>
            <a:fillRect/>
          </a:stretch>
        </p:blipFill>
        <p:spPr>
          <a:xfrm>
            <a:off x="731520" y="3520440"/>
            <a:ext cx="365760" cy="365760"/>
          </a:xfrm>
          <a:prstGeom prst="rect">
            <a:avLst/>
          </a:prstGeom>
        </p:spPr>
      </p:pic>
      <p:sp>
        <p:nvSpPr>
          <p:cNvPr id="19" name="Text 13"/>
          <p:cNvSpPr/>
          <p:nvPr/>
        </p:nvSpPr>
        <p:spPr>
          <a:xfrm>
            <a:off x="7315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Desktop app</a:t>
            </a:r>
            <a:endParaRPr lang="en-US" sz="1400" dirty="0"/>
          </a:p>
        </p:txBody>
      </p:sp>
      <p:sp>
        <p:nvSpPr>
          <p:cNvPr id="20" name="Text 14"/>
          <p:cNvSpPr/>
          <p:nvPr/>
        </p:nvSpPr>
        <p:spPr>
          <a:xfrm>
            <a:off x="7315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Native macOS and Windows app with a Code tab.</a:t>
            </a:r>
            <a:endParaRPr lang="en-US" sz="1050" dirty="0"/>
          </a:p>
        </p:txBody>
      </p:sp>
      <p:sp>
        <p:nvSpPr>
          <p:cNvPr id="21" name="Shape 15"/>
          <p:cNvSpPr/>
          <p:nvPr/>
        </p:nvSpPr>
        <p:spPr>
          <a:xfrm>
            <a:off x="32461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2" name="Image 4" descr="preencoded.png">    </p:cNvPr>
          <p:cNvPicPr>
            <a:picLocks noChangeAspect="1"/>
          </p:cNvPicPr>
          <p:nvPr/>
        </p:nvPicPr>
        <p:blipFill>
          <a:blip r:embed="rId5"/>
          <a:stretch>
            <a:fillRect/>
          </a:stretch>
        </p:blipFill>
        <p:spPr>
          <a:xfrm>
            <a:off x="3474720" y="3520440"/>
            <a:ext cx="365760" cy="365760"/>
          </a:xfrm>
          <a:prstGeom prst="rect">
            <a:avLst/>
          </a:prstGeom>
        </p:spPr>
      </p:pic>
      <p:sp>
        <p:nvSpPr>
          <p:cNvPr id="23" name="Text 16"/>
          <p:cNvSpPr/>
          <p:nvPr/>
        </p:nvSpPr>
        <p:spPr>
          <a:xfrm>
            <a:off x="34747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Web &amp; mobile</a:t>
            </a:r>
            <a:endParaRPr lang="en-US" sz="1400" dirty="0"/>
          </a:p>
        </p:txBody>
      </p:sp>
      <p:sp>
        <p:nvSpPr>
          <p:cNvPr id="24" name="Text 17"/>
          <p:cNvSpPr/>
          <p:nvPr/>
        </p:nvSpPr>
        <p:spPr>
          <a:xfrm>
            <a:off x="34747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claude.ai/code — long tasks, parallel runs, no local setup.</a:t>
            </a:r>
            <a:endParaRPr lang="en-US" sz="1050" dirty="0"/>
          </a:p>
        </p:txBody>
      </p:sp>
      <p:sp>
        <p:nvSpPr>
          <p:cNvPr id="25" name="Shape 18"/>
          <p:cNvSpPr/>
          <p:nvPr/>
        </p:nvSpPr>
        <p:spPr>
          <a:xfrm>
            <a:off x="59893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6" name="Image 5" descr="preencoded.png">    </p:cNvPr>
          <p:cNvPicPr>
            <a:picLocks noChangeAspect="1"/>
          </p:cNvPicPr>
          <p:nvPr/>
        </p:nvPicPr>
        <p:blipFill>
          <a:blip r:embed="rId6"/>
          <a:stretch>
            <a:fillRect/>
          </a:stretch>
        </p:blipFill>
        <p:spPr>
          <a:xfrm>
            <a:off x="6217920" y="3520440"/>
            <a:ext cx="365760" cy="365760"/>
          </a:xfrm>
          <a:prstGeom prst="rect">
            <a:avLst/>
          </a:prstGeom>
        </p:spPr>
      </p:pic>
      <p:sp>
        <p:nvSpPr>
          <p:cNvPr id="27" name="Text 19"/>
          <p:cNvSpPr/>
          <p:nvPr/>
        </p:nvSpPr>
        <p:spPr>
          <a:xfrm>
            <a:off x="62179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GitHub Actions</a:t>
            </a:r>
            <a:endParaRPr lang="en-US" sz="1400" dirty="0"/>
          </a:p>
        </p:txBody>
      </p:sp>
      <p:sp>
        <p:nvSpPr>
          <p:cNvPr id="28" name="Text 20"/>
          <p:cNvSpPr/>
          <p:nvPr/>
        </p:nvSpPr>
        <p:spPr>
          <a:xfrm>
            <a:off x="62179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Tag @claude in issues and PRs; automate review and triage.</a:t>
            </a:r>
            <a:endParaRPr lang="en-US" sz="1050" dirty="0"/>
          </a:p>
        </p:txBody>
      </p:sp>
      <p:sp>
        <p:nvSpPr>
          <p:cNvPr id="29" name="Text 2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11  —  IN PRACTICE</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How you'd actually use it</a:t>
            </a:r>
            <a:endParaRPr lang="en-US" sz="3600" dirty="0"/>
          </a:p>
        </p:txBody>
      </p:sp>
      <p:sp>
        <p:nvSpPr>
          <p:cNvPr id="4" name="Shape 2"/>
          <p:cNvSpPr/>
          <p:nvPr/>
        </p:nvSpPr>
        <p:spPr>
          <a:xfrm>
            <a:off x="502920" y="1600200"/>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5" name="Shape 3"/>
          <p:cNvSpPr/>
          <p:nvPr/>
        </p:nvSpPr>
        <p:spPr>
          <a:xfrm>
            <a:off x="502920" y="1600200"/>
            <a:ext cx="914400" cy="960120"/>
          </a:xfrm>
          <a:prstGeom prst="rect">
            <a:avLst/>
          </a:prstGeom>
          <a:solidFill>
            <a:srgbClr val="1A1B1F"/>
          </a:solidFill>
          <a:ln w="12700">
            <a:solidFill>
              <a:srgbClr val="1A1B1F"/>
            </a:solidFill>
            <a:prstDash val="solid"/>
          </a:ln>
        </p:spPr>
      </p:sp>
      <p:sp>
        <p:nvSpPr>
          <p:cNvPr id="6" name="Text 4"/>
          <p:cNvSpPr/>
          <p:nvPr/>
        </p:nvSpPr>
        <p:spPr>
          <a:xfrm>
            <a:off x="502920" y="1600200"/>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1600200" y="1691640"/>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Build a feature</a:t>
            </a:r>
            <a:endParaRPr lang="en-US" sz="1600" dirty="0"/>
          </a:p>
        </p:txBody>
      </p:sp>
      <p:sp>
        <p:nvSpPr>
          <p:cNvPr id="8" name="Text 6"/>
          <p:cNvSpPr/>
          <p:nvPr/>
        </p:nvSpPr>
        <p:spPr>
          <a:xfrm>
            <a:off x="1600200" y="1984248"/>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"Build a new API endpoint that returns user profiles and write the tests for it."</a:t>
            </a:r>
            <a:endParaRPr lang="en-US" sz="1100" dirty="0"/>
          </a:p>
        </p:txBody>
      </p:sp>
      <p:sp>
        <p:nvSpPr>
          <p:cNvPr id="9" name="Text 7"/>
          <p:cNvSpPr/>
          <p:nvPr/>
        </p:nvSpPr>
        <p:spPr>
          <a:xfrm>
            <a:off x="1600200" y="2258568"/>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 tests, runs the suite, reports what changed.</a:t>
            </a:r>
            <a:endParaRPr lang="en-US" sz="1100" dirty="0"/>
          </a:p>
        </p:txBody>
      </p:sp>
      <p:sp>
        <p:nvSpPr>
          <p:cNvPr id="10" name="Shape 8"/>
          <p:cNvSpPr/>
          <p:nvPr/>
        </p:nvSpPr>
        <p:spPr>
          <a:xfrm>
            <a:off x="502920" y="2670048"/>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9"/>
          <p:cNvSpPr/>
          <p:nvPr/>
        </p:nvSpPr>
        <p:spPr>
          <a:xfrm>
            <a:off x="502920" y="2670048"/>
            <a:ext cx="914400" cy="960120"/>
          </a:xfrm>
          <a:prstGeom prst="rect">
            <a:avLst/>
          </a:prstGeom>
          <a:solidFill>
            <a:srgbClr val="1A1B1F"/>
          </a:solidFill>
          <a:ln w="12700">
            <a:solidFill>
              <a:srgbClr val="1A1B1F"/>
            </a:solidFill>
            <a:prstDash val="solid"/>
          </a:ln>
        </p:spPr>
      </p:sp>
      <p:sp>
        <p:nvSpPr>
          <p:cNvPr id="12" name="Text 10"/>
          <p:cNvSpPr/>
          <p:nvPr/>
        </p:nvSpPr>
        <p:spPr>
          <a:xfrm>
            <a:off x="502920" y="2670048"/>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02</a:t>
            </a:r>
            <a:endParaRPr lang="en-US" sz="2800" dirty="0"/>
          </a:p>
        </p:txBody>
      </p:sp>
      <p:sp>
        <p:nvSpPr>
          <p:cNvPr id="13" name="Text 11"/>
          <p:cNvSpPr/>
          <p:nvPr/>
        </p:nvSpPr>
        <p:spPr>
          <a:xfrm>
            <a:off x="1600200" y="2761488"/>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Fix a bug</a:t>
            </a:r>
            <a:endParaRPr lang="en-US" sz="1600" dirty="0"/>
          </a:p>
        </p:txBody>
      </p:sp>
      <p:sp>
        <p:nvSpPr>
          <p:cNvPr id="14" name="Text 12"/>
          <p:cNvSpPr/>
          <p:nvPr/>
        </p:nvSpPr>
        <p:spPr>
          <a:xfrm>
            <a:off x="1600200" y="3054096"/>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"I'm getting this error on startup. Find the cause in the codebase and fix it."</a:t>
            </a:r>
            <a:endParaRPr lang="en-US" sz="1100" dirty="0"/>
          </a:p>
        </p:txBody>
      </p:sp>
      <p:sp>
        <p:nvSpPr>
          <p:cNvPr id="15" name="Text 13"/>
          <p:cNvSpPr/>
          <p:nvPr/>
        </p:nvSpPr>
        <p:spPr>
          <a:xfrm>
            <a:off x="1600200" y="3328416"/>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the error, reads the relevant modules, proposes a fix, and verifies.</a:t>
            </a:r>
            <a:endParaRPr lang="en-US" sz="1100" dirty="0"/>
          </a:p>
        </p:txBody>
      </p:sp>
      <p:sp>
        <p:nvSpPr>
          <p:cNvPr id="16" name="Shape 14"/>
          <p:cNvSpPr/>
          <p:nvPr/>
        </p:nvSpPr>
        <p:spPr>
          <a:xfrm>
            <a:off x="502920" y="3739896"/>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7" name="Shape 15"/>
          <p:cNvSpPr/>
          <p:nvPr/>
        </p:nvSpPr>
        <p:spPr>
          <a:xfrm>
            <a:off x="502920" y="3739896"/>
            <a:ext cx="914400" cy="960120"/>
          </a:xfrm>
          <a:prstGeom prst="rect">
            <a:avLst/>
          </a:prstGeom>
          <a:solidFill>
            <a:srgbClr val="1A1B1F"/>
          </a:solidFill>
          <a:ln w="12700">
            <a:solidFill>
              <a:srgbClr val="1A1B1F"/>
            </a:solidFill>
            <a:prstDash val="solid"/>
          </a:ln>
        </p:spPr>
      </p:sp>
      <p:sp>
        <p:nvSpPr>
          <p:cNvPr id="18" name="Text 16"/>
          <p:cNvSpPr/>
          <p:nvPr/>
        </p:nvSpPr>
        <p:spPr>
          <a:xfrm>
            <a:off x="502920" y="3739896"/>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03</a:t>
            </a:r>
            <a:endParaRPr lang="en-US" sz="2800" dirty="0"/>
          </a:p>
        </p:txBody>
      </p:sp>
      <p:sp>
        <p:nvSpPr>
          <p:cNvPr id="19" name="Text 17"/>
          <p:cNvSpPr/>
          <p:nvPr/>
        </p:nvSpPr>
        <p:spPr>
          <a:xfrm>
            <a:off x="1600200" y="3831336"/>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Understand code</a:t>
            </a:r>
            <a:endParaRPr lang="en-US" sz="1600" dirty="0"/>
          </a:p>
        </p:txBody>
      </p:sp>
      <p:sp>
        <p:nvSpPr>
          <p:cNvPr id="20" name="Text 18"/>
          <p:cNvSpPr/>
          <p:nvPr/>
        </p:nvSpPr>
        <p:spPr>
          <a:xfrm>
            <a:off x="1600200" y="4123944"/>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"Walk me through how our authentication system works. Show the important files."</a:t>
            </a:r>
            <a:endParaRPr lang="en-US" sz="1100" dirty="0"/>
          </a:p>
        </p:txBody>
      </p:sp>
      <p:sp>
        <p:nvSpPr>
          <p:cNvPr id="21" name="Text 19"/>
          <p:cNvSpPr/>
          <p:nvPr/>
        </p:nvSpPr>
        <p:spPr>
          <a:xfrm>
            <a:off x="1600200" y="4398264"/>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Maps the system, summarizes the flow, and points at the key entry points.</a:t>
            </a:r>
            <a:endParaRPr lang="en-US" sz="1100" dirty="0"/>
          </a:p>
        </p:txBody>
      </p:sp>
      <p:sp>
        <p:nvSpPr>
          <p:cNvPr id="22" name="Text 2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12  —  COMMANDS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Essential commands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can use Claude Code with plain English only. These shortcuts just make everyday sessions faster.</a:t>
            </a:r>
            <a:endParaRPr lang="en-US" sz="1300" dirty="0"/>
          </a:p>
        </p:txBody>
      </p:sp>
      <p:sp>
        <p:nvSpPr>
          <p:cNvPr id="5" name="Shape 3"/>
          <p:cNvSpPr/>
          <p:nvPr/>
        </p:nvSpPr>
        <p:spPr>
          <a:xfrm>
            <a:off x="5029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2697480" cy="502920"/>
          </a:xfrm>
          <a:prstGeom prst="rect">
            <a:avLst/>
          </a:prstGeom>
          <a:solidFill>
            <a:srgbClr val="2A2B30"/>
          </a:solidFill>
          <a:ln w="12700">
            <a:solidFill>
              <a:srgbClr val="2A2B30"/>
            </a:solidFill>
            <a:prstDash val="solid"/>
          </a:ln>
        </p:spPr>
      </p:sp>
      <p:sp>
        <p:nvSpPr>
          <p:cNvPr id="7" name="Text 5"/>
          <p:cNvSpPr/>
          <p:nvPr/>
        </p:nvSpPr>
        <p:spPr>
          <a:xfrm>
            <a:off x="6858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INSIDE A SESSION</a:t>
            </a:r>
            <a:endParaRPr lang="en-US" sz="900" dirty="0"/>
          </a:p>
        </p:txBody>
      </p:sp>
      <p:sp>
        <p:nvSpPr>
          <p:cNvPr id="8" name="Text 6"/>
          <p:cNvSpPr/>
          <p:nvPr/>
        </p:nvSpPr>
        <p:spPr>
          <a:xfrm>
            <a:off x="6858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Slash commands</a:t>
            </a:r>
            <a:endParaRPr lang="en-US" sz="1200" dirty="0"/>
          </a:p>
        </p:txBody>
      </p:sp>
      <p:sp>
        <p:nvSpPr>
          <p:cNvPr id="9" name="Text 7"/>
          <p:cNvSpPr/>
          <p:nvPr/>
        </p:nvSpPr>
        <p:spPr>
          <a:xfrm>
            <a:off x="6858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/clear</a:t>
            </a:r>
            <a:endParaRPr lang="en-US" sz="1100" dirty="0"/>
          </a:p>
        </p:txBody>
      </p:sp>
      <p:sp>
        <p:nvSpPr>
          <p:cNvPr id="10" name="Text 8"/>
          <p:cNvSpPr/>
          <p:nvPr/>
        </p:nvSpPr>
        <p:spPr>
          <a:xfrm>
            <a:off x="20116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Start fresh</a:t>
            </a:r>
            <a:endParaRPr lang="en-US" sz="1050" dirty="0"/>
          </a:p>
        </p:txBody>
      </p:sp>
      <p:sp>
        <p:nvSpPr>
          <p:cNvPr id="11" name="Text 9"/>
          <p:cNvSpPr/>
          <p:nvPr/>
        </p:nvSpPr>
        <p:spPr>
          <a:xfrm>
            <a:off x="6858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/compact</a:t>
            </a:r>
            <a:endParaRPr lang="en-US" sz="1100" dirty="0"/>
          </a:p>
        </p:txBody>
      </p:sp>
      <p:sp>
        <p:nvSpPr>
          <p:cNvPr id="12" name="Text 10"/>
          <p:cNvSpPr/>
          <p:nvPr/>
        </p:nvSpPr>
        <p:spPr>
          <a:xfrm>
            <a:off x="20116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Compress history</a:t>
            </a:r>
            <a:endParaRPr lang="en-US" sz="1050" dirty="0"/>
          </a:p>
        </p:txBody>
      </p:sp>
      <p:sp>
        <p:nvSpPr>
          <p:cNvPr id="13" name="Text 11"/>
          <p:cNvSpPr/>
          <p:nvPr/>
        </p:nvSpPr>
        <p:spPr>
          <a:xfrm>
            <a:off x="6858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a:t>
            </a:r>
            <a:endParaRPr lang="en-US" sz="1100" dirty="0"/>
          </a:p>
        </p:txBody>
      </p:sp>
      <p:sp>
        <p:nvSpPr>
          <p:cNvPr id="14" name="Text 12"/>
          <p:cNvSpPr/>
          <p:nvPr/>
        </p:nvSpPr>
        <p:spPr>
          <a:xfrm>
            <a:off x="20116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Switch model</a:t>
            </a:r>
            <a:endParaRPr lang="en-US" sz="1050" dirty="0"/>
          </a:p>
        </p:txBody>
      </p:sp>
      <p:sp>
        <p:nvSpPr>
          <p:cNvPr id="15" name="Text 13"/>
          <p:cNvSpPr/>
          <p:nvPr/>
        </p:nvSpPr>
        <p:spPr>
          <a:xfrm>
            <a:off x="6858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/review</a:t>
            </a:r>
            <a:endParaRPr lang="en-US" sz="1100" dirty="0"/>
          </a:p>
        </p:txBody>
      </p:sp>
      <p:sp>
        <p:nvSpPr>
          <p:cNvPr id="16" name="Text 14"/>
          <p:cNvSpPr/>
          <p:nvPr/>
        </p:nvSpPr>
        <p:spPr>
          <a:xfrm>
            <a:off x="20116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Review changes</a:t>
            </a:r>
            <a:endParaRPr lang="en-US" sz="1050" dirty="0"/>
          </a:p>
        </p:txBody>
      </p:sp>
      <p:sp>
        <p:nvSpPr>
          <p:cNvPr id="17" name="Text 15"/>
          <p:cNvSpPr/>
          <p:nvPr/>
        </p:nvSpPr>
        <p:spPr>
          <a:xfrm>
            <a:off x="6858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18" name="Text 16"/>
          <p:cNvSpPr/>
          <p:nvPr/>
        </p:nvSpPr>
        <p:spPr>
          <a:xfrm>
            <a:off x="20116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commands</a:t>
            </a:r>
            <a:endParaRPr lang="en-US" sz="1050" dirty="0"/>
          </a:p>
        </p:txBody>
      </p:sp>
      <p:sp>
        <p:nvSpPr>
          <p:cNvPr id="19" name="Shape 17"/>
          <p:cNvSpPr/>
          <p:nvPr/>
        </p:nvSpPr>
        <p:spPr>
          <a:xfrm>
            <a:off x="32461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0" name="Shape 18"/>
          <p:cNvSpPr/>
          <p:nvPr/>
        </p:nvSpPr>
        <p:spPr>
          <a:xfrm>
            <a:off x="3246120" y="1920240"/>
            <a:ext cx="2697480" cy="502920"/>
          </a:xfrm>
          <a:prstGeom prst="rect">
            <a:avLst/>
          </a:prstGeom>
          <a:solidFill>
            <a:srgbClr val="2A2B30"/>
          </a:solidFill>
          <a:ln w="12700">
            <a:solidFill>
              <a:srgbClr val="2A2B30"/>
            </a:solidFill>
            <a:prstDash val="solid"/>
          </a:ln>
        </p:spPr>
      </p:sp>
      <p:sp>
        <p:nvSpPr>
          <p:cNvPr id="21" name="Text 19"/>
          <p:cNvSpPr/>
          <p:nvPr/>
        </p:nvSpPr>
        <p:spPr>
          <a:xfrm>
            <a:off x="34290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KEYBOARD</a:t>
            </a:r>
            <a:endParaRPr lang="en-US" sz="900" dirty="0"/>
          </a:p>
        </p:txBody>
      </p:sp>
      <p:sp>
        <p:nvSpPr>
          <p:cNvPr id="22" name="Text 20"/>
          <p:cNvSpPr/>
          <p:nvPr/>
        </p:nvSpPr>
        <p:spPr>
          <a:xfrm>
            <a:off x="34290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Shortcuts</a:t>
            </a:r>
            <a:endParaRPr lang="en-US" sz="1200" dirty="0"/>
          </a:p>
        </p:txBody>
      </p:sp>
      <p:sp>
        <p:nvSpPr>
          <p:cNvPr id="23" name="Text 21"/>
          <p:cNvSpPr/>
          <p:nvPr/>
        </p:nvSpPr>
        <p:spPr>
          <a:xfrm>
            <a:off x="34290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Shift+Tab</a:t>
            </a:r>
            <a:endParaRPr lang="en-US" sz="1100" dirty="0"/>
          </a:p>
        </p:txBody>
      </p:sp>
      <p:sp>
        <p:nvSpPr>
          <p:cNvPr id="24" name="Text 22"/>
          <p:cNvSpPr/>
          <p:nvPr/>
        </p:nvSpPr>
        <p:spPr>
          <a:xfrm>
            <a:off x="47548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Toggle plan mode</a:t>
            </a:r>
            <a:endParaRPr lang="en-US" sz="1050" dirty="0"/>
          </a:p>
        </p:txBody>
      </p:sp>
      <p:sp>
        <p:nvSpPr>
          <p:cNvPr id="25" name="Text 23"/>
          <p:cNvSpPr/>
          <p:nvPr/>
        </p:nvSpPr>
        <p:spPr>
          <a:xfrm>
            <a:off x="34290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Ctrl+C</a:t>
            </a:r>
            <a:endParaRPr lang="en-US" sz="1100" dirty="0"/>
          </a:p>
        </p:txBody>
      </p:sp>
      <p:sp>
        <p:nvSpPr>
          <p:cNvPr id="26" name="Text 24"/>
          <p:cNvSpPr/>
          <p:nvPr/>
        </p:nvSpPr>
        <p:spPr>
          <a:xfrm>
            <a:off x="47548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Interrupt</a:t>
            </a:r>
            <a:endParaRPr lang="en-US" sz="1050" dirty="0"/>
          </a:p>
        </p:txBody>
      </p:sp>
      <p:sp>
        <p:nvSpPr>
          <p:cNvPr id="27" name="Text 25"/>
          <p:cNvSpPr/>
          <p:nvPr/>
        </p:nvSpPr>
        <p:spPr>
          <a:xfrm>
            <a:off x="34290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Esc Esc</a:t>
            </a:r>
            <a:endParaRPr lang="en-US" sz="1100" dirty="0"/>
          </a:p>
        </p:txBody>
      </p:sp>
      <p:sp>
        <p:nvSpPr>
          <p:cNvPr id="28" name="Text 26"/>
          <p:cNvSpPr/>
          <p:nvPr/>
        </p:nvSpPr>
        <p:spPr>
          <a:xfrm>
            <a:off x="47548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Rewind</a:t>
            </a:r>
            <a:endParaRPr lang="en-US" sz="1050" dirty="0"/>
          </a:p>
        </p:txBody>
      </p:sp>
      <p:sp>
        <p:nvSpPr>
          <p:cNvPr id="29" name="Text 27"/>
          <p:cNvSpPr/>
          <p:nvPr/>
        </p:nvSpPr>
        <p:spPr>
          <a:xfrm>
            <a:off x="34290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0" name="Text 28"/>
          <p:cNvSpPr/>
          <p:nvPr/>
        </p:nvSpPr>
        <p:spPr>
          <a:xfrm>
            <a:off x="47548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Reference a file</a:t>
            </a:r>
            <a:endParaRPr lang="en-US" sz="1050" dirty="0"/>
          </a:p>
        </p:txBody>
      </p:sp>
      <p:sp>
        <p:nvSpPr>
          <p:cNvPr id="31" name="Text 29"/>
          <p:cNvSpPr/>
          <p:nvPr/>
        </p:nvSpPr>
        <p:spPr>
          <a:xfrm>
            <a:off x="34290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2" name="Text 30"/>
          <p:cNvSpPr/>
          <p:nvPr/>
        </p:nvSpPr>
        <p:spPr>
          <a:xfrm>
            <a:off x="47548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Run a shell command</a:t>
            </a:r>
            <a:endParaRPr lang="en-US" sz="1050" dirty="0"/>
          </a:p>
        </p:txBody>
      </p:sp>
      <p:sp>
        <p:nvSpPr>
          <p:cNvPr id="33" name="Shape 31"/>
          <p:cNvSpPr/>
          <p:nvPr/>
        </p:nvSpPr>
        <p:spPr>
          <a:xfrm>
            <a:off x="59893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34" name="Shape 32"/>
          <p:cNvSpPr/>
          <p:nvPr/>
        </p:nvSpPr>
        <p:spPr>
          <a:xfrm>
            <a:off x="5989320" y="1920240"/>
            <a:ext cx="2697480" cy="502920"/>
          </a:xfrm>
          <a:prstGeom prst="rect">
            <a:avLst/>
          </a:prstGeom>
          <a:solidFill>
            <a:srgbClr val="2A2B30"/>
          </a:solidFill>
          <a:ln w="12700">
            <a:solidFill>
              <a:srgbClr val="2A2B30"/>
            </a:solidFill>
            <a:prstDash val="solid"/>
          </a:ln>
        </p:spPr>
      </p:sp>
      <p:sp>
        <p:nvSpPr>
          <p:cNvPr id="35" name="Text 33"/>
          <p:cNvSpPr/>
          <p:nvPr/>
        </p:nvSpPr>
        <p:spPr>
          <a:xfrm>
            <a:off x="61722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AT STARTUP</a:t>
            </a:r>
            <a:endParaRPr lang="en-US" sz="900" dirty="0"/>
          </a:p>
        </p:txBody>
      </p:sp>
      <p:sp>
        <p:nvSpPr>
          <p:cNvPr id="36" name="Text 34"/>
          <p:cNvSpPr/>
          <p:nvPr/>
        </p:nvSpPr>
        <p:spPr>
          <a:xfrm>
            <a:off x="61722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CLI flags</a:t>
            </a:r>
            <a:endParaRPr lang="en-US" sz="1200" dirty="0"/>
          </a:p>
        </p:txBody>
      </p:sp>
      <p:sp>
        <p:nvSpPr>
          <p:cNvPr id="37" name="Text 35"/>
          <p:cNvSpPr/>
          <p:nvPr/>
        </p:nvSpPr>
        <p:spPr>
          <a:xfrm>
            <a:off x="61722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-c</a:t>
            </a:r>
            <a:endParaRPr lang="en-US" sz="1100" dirty="0"/>
          </a:p>
        </p:txBody>
      </p:sp>
      <p:sp>
        <p:nvSpPr>
          <p:cNvPr id="38" name="Text 36"/>
          <p:cNvSpPr/>
          <p:nvPr/>
        </p:nvSpPr>
        <p:spPr>
          <a:xfrm>
            <a:off x="74980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Continue previous</a:t>
            </a:r>
            <a:endParaRPr lang="en-US" sz="1050" dirty="0"/>
          </a:p>
        </p:txBody>
      </p:sp>
      <p:sp>
        <p:nvSpPr>
          <p:cNvPr id="39" name="Text 37"/>
          <p:cNvSpPr/>
          <p:nvPr/>
        </p:nvSpPr>
        <p:spPr>
          <a:xfrm>
            <a:off x="61722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-p "..."</a:t>
            </a:r>
            <a:endParaRPr lang="en-US" sz="1100" dirty="0"/>
          </a:p>
        </p:txBody>
      </p:sp>
      <p:sp>
        <p:nvSpPr>
          <p:cNvPr id="40" name="Text 38"/>
          <p:cNvSpPr/>
          <p:nvPr/>
        </p:nvSpPr>
        <p:spPr>
          <a:xfrm>
            <a:off x="74980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One-shot, no prompt</a:t>
            </a:r>
            <a:endParaRPr lang="en-US" sz="1050" dirty="0"/>
          </a:p>
        </p:txBody>
      </p:sp>
      <p:sp>
        <p:nvSpPr>
          <p:cNvPr id="41" name="Text 39"/>
          <p:cNvSpPr/>
          <p:nvPr/>
        </p:nvSpPr>
        <p:spPr>
          <a:xfrm>
            <a:off x="61722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 opus</a:t>
            </a:r>
            <a:endParaRPr lang="en-US" sz="1100" dirty="0"/>
          </a:p>
        </p:txBody>
      </p:sp>
      <p:sp>
        <p:nvSpPr>
          <p:cNvPr id="42" name="Text 40"/>
          <p:cNvSpPr/>
          <p:nvPr/>
        </p:nvSpPr>
        <p:spPr>
          <a:xfrm>
            <a:off x="74980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Choose model</a:t>
            </a:r>
            <a:endParaRPr lang="en-US" sz="1050" dirty="0"/>
          </a:p>
        </p:txBody>
      </p:sp>
      <p:sp>
        <p:nvSpPr>
          <p:cNvPr id="43" name="Text 41"/>
          <p:cNvSpPr/>
          <p:nvPr/>
        </p:nvSpPr>
        <p:spPr>
          <a:xfrm>
            <a:off x="61722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--permission-mode</a:t>
            </a:r>
            <a:endParaRPr lang="en-US" sz="1100" dirty="0"/>
          </a:p>
        </p:txBody>
      </p:sp>
      <p:sp>
        <p:nvSpPr>
          <p:cNvPr id="44" name="Text 42"/>
          <p:cNvSpPr/>
          <p:nvPr/>
        </p:nvSpPr>
        <p:spPr>
          <a:xfrm>
            <a:off x="74980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Auto-approve edits</a:t>
            </a:r>
            <a:endParaRPr lang="en-US" sz="1050" dirty="0"/>
          </a:p>
        </p:txBody>
      </p:sp>
      <p:sp>
        <p:nvSpPr>
          <p:cNvPr id="45" name="Text 43"/>
          <p:cNvSpPr/>
          <p:nvPr/>
        </p:nvSpPr>
        <p:spPr>
          <a:xfrm>
            <a:off x="61722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46" name="Text 44"/>
          <p:cNvSpPr/>
          <p:nvPr/>
        </p:nvSpPr>
        <p:spPr>
          <a:xfrm>
            <a:off x="74980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flags</a:t>
            </a:r>
            <a:endParaRPr lang="en-US" sz="1050" dirty="0"/>
          </a:p>
        </p:txBody>
      </p:sp>
      <p:sp>
        <p:nvSpPr>
          <p:cNvPr id="47" name="Text 45"/>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Start with /clear and Shift+Tab — those two cover 80% of day-to-day session control.</a:t>
            </a:r>
            <a:endParaRPr lang="en-US" sz="1000" dirty="0"/>
          </a:p>
        </p:txBody>
      </p:sp>
      <p:sp>
        <p:nvSpPr>
          <p:cNvPr id="48" name="Text 46"/>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45720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END  —  NEXT STEPS</a:t>
            </a:r>
            <a:endParaRPr lang="en-US" sz="1100" dirty="0"/>
          </a:p>
        </p:txBody>
      </p:sp>
      <p:sp>
        <p:nvSpPr>
          <p:cNvPr id="4" name="Text 2"/>
          <p:cNvSpPr/>
          <p:nvPr/>
        </p:nvSpPr>
        <p:spPr>
          <a:xfrm>
            <a:off x="502920" y="1691640"/>
            <a:ext cx="8412480" cy="731520"/>
          </a:xfrm>
          <a:prstGeom prst="rect">
            <a:avLst/>
          </a:prstGeom>
          <a:noFill/>
          <a:ln/>
        </p:spPr>
        <p:txBody>
          <a:bodyPr wrap="square" lIns="0" tIns="0" rIns="0" bIns="0" rtlCol="0" anchor="ctr"/>
          <a:lstStyle/>
          <a:p>
            <a:pPr indent="0" marL="0">
              <a:buNone/>
            </a:pPr>
            <a:r>
              <a:rPr lang="en-US" sz="3400" b="1" dirty="0">
                <a:solidFill>
                  <a:srgbClr val="F7F5F0"/>
                </a:solidFill>
                <a:latin typeface="Georgia" pitchFamily="34" charset="0"/>
                <a:ea typeface="Georgia" pitchFamily="34" charset="-122"/>
                <a:cs typeface="Georgia" pitchFamily="34" charset="-120"/>
              </a:rPr>
              <a:t>That's the overview.</a:t>
            </a:r>
            <a:endParaRPr lang="en-US" sz="3400" dirty="0"/>
          </a:p>
        </p:txBody>
      </p:sp>
      <p:sp>
        <p:nvSpPr>
          <p:cNvPr id="5" name="Text 3"/>
          <p:cNvSpPr/>
          <p:nvPr/>
        </p:nvSpPr>
        <p:spPr>
          <a:xfrm>
            <a:off x="502920" y="2377440"/>
            <a:ext cx="8412480" cy="731520"/>
          </a:xfrm>
          <a:prstGeom prst="rect">
            <a:avLst/>
          </a:prstGeom>
          <a:noFill/>
          <a:ln/>
        </p:spPr>
        <p:txBody>
          <a:bodyPr wrap="square" lIns="0" tIns="0" rIns="0" bIns="0" rtlCol="0" anchor="ctr"/>
          <a:lstStyle/>
          <a:p>
            <a:pPr indent="0" marL="0">
              <a:buNone/>
            </a:pPr>
            <a:r>
              <a:rPr lang="en-US" sz="3400" i="1" dirty="0">
                <a:solidFill>
                  <a:srgbClr val="CC785C"/>
                </a:solidFill>
                <a:latin typeface="Georgia" pitchFamily="34" charset="0"/>
                <a:ea typeface="Georgia" pitchFamily="34" charset="-122"/>
                <a:cs typeface="Georgia" pitchFamily="34" charset="-120"/>
              </a:rPr>
              <a:t>Questions and discussion.</a:t>
            </a:r>
            <a:endParaRPr lang="en-US" sz="3400" dirty="0"/>
          </a:p>
        </p:txBody>
      </p:sp>
      <p:sp>
        <p:nvSpPr>
          <p:cNvPr id="6" name="Text 4"/>
          <p:cNvSpPr/>
          <p:nvPr/>
        </p:nvSpPr>
        <p:spPr>
          <a:xfrm>
            <a:off x="5029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DOCUMENTATION</a:t>
            </a:r>
            <a:endParaRPr lang="en-US" sz="900" dirty="0"/>
          </a:p>
        </p:txBody>
      </p:sp>
      <p:sp>
        <p:nvSpPr>
          <p:cNvPr id="7" name="Text 5"/>
          <p:cNvSpPr/>
          <p:nvPr/>
        </p:nvSpPr>
        <p:spPr>
          <a:xfrm>
            <a:off x="502920" y="3931920"/>
            <a:ext cx="4572000" cy="320040"/>
          </a:xfrm>
          <a:prstGeom prst="rect">
            <a:avLst/>
          </a:prstGeom>
          <a:noFill/>
          <a:ln/>
        </p:spPr>
        <p:txBody>
          <a:bodyPr wrap="square" lIns="0" tIns="0" rIns="0" bIns="0" rtlCol="0" anchor="ctr"/>
          <a:lstStyle/>
          <a:p>
            <a:pPr indent="0" marL="0">
              <a:buNone/>
            </a:pPr>
            <a:r>
              <a:rPr lang="en-US" sz="1400" dirty="0">
                <a:solidFill>
                  <a:srgbClr val="F7F5F0"/>
                </a:solidFill>
                <a:latin typeface="Consolas" pitchFamily="34" charset="0"/>
                <a:ea typeface="Consolas" pitchFamily="34" charset="-122"/>
                <a:cs typeface="Consolas" pitchFamily="34" charset="-120"/>
              </a:rPr>
              <a:t>docs.claude.com/en/docs/claude-code</a:t>
            </a:r>
            <a:endParaRPr lang="en-US" sz="1400" dirty="0"/>
          </a:p>
        </p:txBody>
      </p:sp>
      <p:sp>
        <p:nvSpPr>
          <p:cNvPr id="8" name="Text 6"/>
          <p:cNvSpPr/>
          <p:nvPr/>
        </p:nvSpPr>
        <p:spPr>
          <a:xfrm>
            <a:off x="53035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CHANGELOG</a:t>
            </a:r>
            <a:endParaRPr lang="en-US" sz="900" dirty="0"/>
          </a:p>
        </p:txBody>
      </p:sp>
      <p:sp>
        <p:nvSpPr>
          <p:cNvPr id="9" name="Text 7"/>
          <p:cNvSpPr/>
          <p:nvPr/>
        </p:nvSpPr>
        <p:spPr>
          <a:xfrm>
            <a:off x="5303520" y="3931920"/>
            <a:ext cx="3657600" cy="320040"/>
          </a:xfrm>
          <a:prstGeom prst="rect">
            <a:avLst/>
          </a:prstGeom>
          <a:noFill/>
          <a:ln/>
        </p:spPr>
        <p:txBody>
          <a:bodyPr wrap="square" lIns="0" tIns="0" rIns="0" bIns="0" rtlCol="0" anchor="ctr"/>
          <a:lstStyle/>
          <a:p>
            <a:pPr indent="0" marL="0">
              <a:buNone/>
            </a:pPr>
            <a:r>
              <a:rPr lang="en-US" sz="1400" dirty="0">
                <a:solidFill>
                  <a:srgbClr val="CC785C"/>
                </a:solidFill>
                <a:latin typeface="Consolas" pitchFamily="34" charset="0"/>
                <a:ea typeface="Consolas" pitchFamily="34" charset="-122"/>
                <a:cs typeface="Consolas" pitchFamily="34" charset="-120"/>
              </a:rPr>
              <a:t>docs.claude.com/en/release-notes</a:t>
            </a:r>
            <a:endParaRPr lang="en-US" sz="1400" dirty="0"/>
          </a:p>
        </p:txBody>
      </p:sp>
      <p:sp>
        <p:nvSpPr>
          <p:cNvPr id="10" name="Shape 8"/>
          <p:cNvSpPr/>
          <p:nvPr/>
        </p:nvSpPr>
        <p:spPr>
          <a:xfrm>
            <a:off x="502920" y="4617720"/>
            <a:ext cx="8138160" cy="0"/>
          </a:xfrm>
          <a:prstGeom prst="line">
            <a:avLst/>
          </a:prstGeom>
          <a:noFill/>
          <a:ln w="12700">
            <a:solidFill>
              <a:srgbClr val="2A2B30"/>
            </a:solidFill>
            <a:prstDash val="solid"/>
          </a:ln>
        </p:spPr>
      </p:sp>
      <p:sp>
        <p:nvSpPr>
          <p:cNvPr id="11" name="Text 9"/>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Thank you</a:t>
            </a:r>
            <a:endParaRPr lang="en-US" sz="1000" dirty="0"/>
          </a:p>
        </p:txBody>
      </p:sp>
      <p:sp>
        <p:nvSpPr>
          <p:cNvPr id="12" name="Text 1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A9A69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 team brief</dc:title>
  <dc:subject>PptxGenJS Presentation</dc:subject>
  <dc:creator>Architecture</dc:creator>
  <cp:lastModifiedBy>Architecture</cp:lastModifiedBy>
  <cp:revision>1</cp:revision>
  <dcterms:created xsi:type="dcterms:W3CDTF">2026-04-17T09:29:26Z</dcterms:created>
  <dcterms:modified xsi:type="dcterms:W3CDTF">2026-04-17T09:29:26Z</dcterms:modified>
</cp:coreProperties>
</file>