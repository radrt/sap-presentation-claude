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1"/>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Deschiderea: ăsta e un brief intern, nu o prezentare de vânzare. Acoperim ce e Claude Code, vocabularul de reținut (MCP, Skills, Subagents), ce face bine și comenzile pe care merită să le ții minte.
Audiența: engineeri. Scopul e înțelegere comună a vocabularului și capabilităților, nu evangelizare. La final, toată lumea să aibă referințe clare când apare Claude Code într-o discuție tehnică.
Durata: ~15-20 min cu discuție. Pauze pentru întrebări după slide-urile de concepte (MCP, Skills, Subagents) — alea sunt cele mai dense.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e tool-ul de coding agentic al Anthropic, lansat în 2025.
Ideea centrală: descrii un obiectiv în limba normală, Claude citește context-ul relevant din proiect, face un plan, editează fișiere, rulează comenzi (inclusiv teste), iterează dacă ceva nu merge, și îți prezintă rezultatul pentru review.
Terminal-ul din dreapta e un flow real cu un singur prompt: o cerere („adaugă paginare"), mai multe modificări de fișiere, test run, rezultat gata pentru commit. Round-trip-ul ăsta complet — de la intenție la schimbare verificată — e ce descriem prin „agentic" (detaliat pe slide-ul următor).
Notă tehnică: binarul CLI se cheamă literalmente `claude`. Produsul e numit după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înseamnă un sistem cu un scop, acces la tool-uri, și autonomia să continue până termină task-ul sau cere input.
Cele patru etape (Understand → Plan → Act → Verify) sunt un model mental simplificat, nu o taxonomie oficială din docs. Pentru task-uri complexe, bucla se execută de mai multe ori — Claude încearcă ceva, realizează că-i lipsește context, mai citește fișiere, re-planifică, acționează din nou.
Claude cere permisiune înainte de acțiuni semnificative (rulare comenzi, editări de fișiere). Autonomia e limitată prin permisiuni — tu rămâi la butoane.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Aceste patru nume apar constant în documentația Claude Code. Slide-ul ăsta e glosarul — următoarele slide-uri le aprofundează pe fiecare.
Ordinea în care le vei întâlni:
• CLAUDE.md — din prima sesiune. E mecanismul prin care proiectul își transmite contextul la Claude.
• MCP — când vrei ca Claude să acceseze sisteme externe (ticket-uri, documente, baze de date).
• Skills — când începi să observi pattern-uri repetitive în ce îi ceri.
• Subagents — cazuri avansate, când vrei să izolezi un task mare de contextul principal.
Prioritate practică: CLAUDE.md e primul pe care merită să-l configurezi.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Slide-ul ăsta e referință pentru unde trăiește configurarea.
Puncte de acoperit:
1. CLAUDE.md e fișierul principal de configurare. Se pune în root-ul repo-ului, se face commit, și Claude îl citește la fiecare sesiune. Docs-urile recomandă sub 200 de linii — fișierele mai lungi reduc cât de consistent le urmează Claude.
2. Ierarhia CLAUDE.md are trei niveluri:
   • ~/.claude/CLAUDE.md (global, aplicat peste toate proiectele)
   • CLAUDE.md (proiect, în repo, partajat cu echipa)
   • CLAUDE.local.md (personal, gitignored)
Claude încarcă toate trei și le concatenează. Când există conflicte, tier-ul mai specific (local &gt; project &gt; global) câștigă.
3. AGENTS.md: Claude Code nu citește direct AGENTS.md. Dacă repo-ul are deja un AGENTS.md (folosit de alte tool-uri AI), poți pune `@AGENTS.md` la începutul CLAUDE.md și conținutul va fi inclus.
4. Folder-ul .claude/ conține restul configurării:
   • skills/ — Skills custom (detaliate pe slide-ul următor)
   • agents/ — definiții de subagents
   • rules/ — reguli modulare cu scope pe path
   • settings.json — permisiuni, hooks, configurare MCP servers
5. Auto memory (v2.1.59+): Claude salvează și singur note între sesiuni, separat de CLAUDE.md manual. Vizualizare cu /memory.
Comanda `/init` rulată în proiect generează un CLAUDE.md de bază pe care îl poți edita.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e un standard deschis. Nu e specific Anthropic — alte tool-uri AI (Cursor, tool-urile OpenAI, etc.) îl suportă și ele. Un server MCP definit o dată poate fi folosit de mai multe clienți.
Cum funcționează: un server MCP expune un set de tool-uri și acces la date pentru un sistem extern. Claude se conectează la el și poate invoca tool-urile acelea în timpul sesiunii.
Cele patru exemple de pe slide (Drive, Slack, Jira, Postgres) sunt servere disponibile public. Mai există multe altele: GitHub, Notion, Linear, Sentry, Datadog, AWS, Google Calendar. Registry-ul MCP public conține lista completă.
Model de permisiuni: Claude cere aprobare prima dată când folosește un tool MCP într-o sesiune. Aprobarea e reținută pentru restul sesiunii.
Pentru utilizarea inițială: serverele de GitHub sau Jira sunt exemple de conectori care dau valoare imediată — interogări de tipul „listează PR-urile deschise" sau „ce ticket-uri sunt asignate 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au fost introduse la finalul lui 2025 ca standard deschis (spec-ul „Agent Skills"). Funcționează peste mai multe produse: Claude.ai, Claude Code, API-ul Anthropic.
Mecanismul de invocare e automat. Claude citește descrierile tuturor skill-urilor instalate la startul sesiunii. Când prompt-ul user-ului se potrivește cu o descriere, Claude încarcă conținutul complet al skill-ului și îl urmează ca instrucțiuni. Câmpul description din YAML frontmatter determină match-ul, deci formularea lui contează.
Skills sunt utile pentru a codifica proceduri pe care echipa le folosește recurent. Exemple:
• Checklist de creare PR în formatul convenit
• Procedura de deployment pentru un serviciu specific
• Reguli de security review
• Pattern-uri de scriere a testelor
Diferența față de CLAUDE.md: CLAUDE.md e încărcat la fiecare sesiune (context permanent). Skills se încarcă on-demand, doar când sunt relevante. Pentru context care e mereu aplicabil — CLAUDE.md. Pentru proceduri care apar situațional — Skills.
Locații: `.claude/skills/` (per proiect, în repo, partajat cu echipa) sau `~/.claude/skills/` (personal, peste toate proiectele).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rezolvă o problemă specifică: izolarea contextului. Când ai un task care produce mult output intermediar (review-uri, căutări, explorare de cod), acel output ar umple thread-ul principal. Un subagent e o instanță Claude separată, cu propriul context window și propriile tool-uri.
Exemplu tipic: pentru un security review, delegi task-ul unui subagent. Acesta explorează codul, identifică probleme, și returnează doar un sumar. Thread-ul tău principal nu e poluat cu zecile de file reads pe care subagentul le-a făcut.
Built-in subagents (documentate în docs oficial):
• Explore — pentru căutare și analiză read-only de codebase
• Plan — folosit în Plan Mode pentru culegerea de context
• general-purpose — pentru task-uri care necesită și explorare, și modificare
Custom subagents: definiți ca fișiere markdown cu YAML frontmatter în `.claude/agents/`. Câmpul `allowed-tools` restrânge ce poate folosi fiecare subagent (ex: un reviewer nu are acces la Bash, doar la Read/Grep).
Paralelism: subagents pot rula concurent. Când rulează mai mulți simultan, output-urile lor sunt coordonate de agentul principal.
Pentru echipa noastră: subagents sunt utile după ce workflow-ul de bază e stabilit. Recomandabil să ne obișnuim întâi cu CLAUDE.md, MCP și prompting-ul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Slide-ul listează cele șase categorii de acțiuni pentru care Claude Code e folosit cel mai des. Fiecare poate avea un demo de sine stătător.
Categorii de risc (util pentru echipa care începe):
Risc minim, bune ca prim contact:
• Explain code — operații read-only. Util când vrei să înțelegi un modul nou.
• Fix bugs — scope focalizat, ușor de verificat prin teste.
Risc mai mare, atenție la review:
• Refactor — modificări care pot atinge multe fișiere. Diff-ul trebuie citit cu atenție.
• Operații Git — verifică mesajul de commit și ce e în staging înainte să lași comanda să ruleze.
Lucrul peste mai multe fișiere e util în particular pentru refactoruri și schimbări consistente — un exemplu: redenumirea unui concept peste tot în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Bucla abstractă din slide-ul 3, aplicată pe un task concret — „adaugă rate limiting la API".
Timing aproximativ în practică:
• Etapele 1-2 (Understand, Plan) — de obicei secunde, Claude citește câteva fișiere cheie.
• Etapa 3 (Act) — unde se duce majoritatea timpului. Depinde de mărimea task-ului.
• Etapa 4 (Verify) — automată când există teste care rulează rapid.
Dacă planul din etapa 2 nu se aliniază cu ce ai vrut, poți întrerupe cu Ctrl+C și reformula. Nu e necesar să lași bucla să se execute dacă direcția e greșită — devine parte din flow-ul iterativ.
Procesul e observabil step-by-step — util pentru debugging când ceva iese prost. Dacă verify-ul eșuează, vezi exact la ce etapă și cu ce context a luat decizia greșită.
Exemplu similar poate fi folosit ca demo live — mic task pe un proiect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Același agent, interfețe diferite. Alegerea depinde de workflow.
Orientare pentru echipă:
• Terminal CLI — toate feature-urile disponibile, comenzi complete.
• Extensia VS Code — diff viewer integrat, @-mentions în editor.
• JetBrains — plugin cu funcționalitate similară, pentru IntelliJ, PyCharm, WebStorm.
• Desktop app — versiune nativă pentru macOS/Windows.
• Web (claude.ai/code) — rulează în cloud, fără setup local. Util pentru task-uri lungi care pot rula în background.
• Mobile — apps native iOS (din oct 2025) și Android (din martie 2026). Permite începerea unui task de pe telefon, cu rezultatele accesibile ulterior.
GitHub Actions e singurul surface non-interactiv — se invocă prin tag-uirea @claude în PR-uri sau issue-uri, util pentru automatizare CI.
Toate surface-urile împart același cont și configurare — aceleași skills, aceleași MCP servers, aceeași ierarhie 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prompturi template care acoperă tipologii comune de folosire.
Ce au în comun: descriu rezultate, nu pași de execuție. Formulare de tipul „deschide fișierul X, modifică linia Y, salvează" e mai puțin eficientă decât formularea la nivel de obiectiv. Claude decide singur pașii pe baza contextului.
Ordinea în care sunt de încercat (de la cel mai puțin intruziv la cel mai mult):
1. Understand code — read-only, fără modificări. Util pentru familiarizare cu un proiect necunoscut.
2. Fix a bug — scope focalizat, verificabil prin teste.
3. Build a feature — modificări multiple, necesită review atent al diff-ului.
Notă de prompting: specificitatea constraint-urilor influențează calitatea rezultatului. „Adaugă paginare" e vag. „Adaugă paginare cursor-based la /users cu page size 20, urmând pattern-ul de error-handling din /posts" e specific și produce rezultate mai bine aliniate cu proiectul.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Slide-ul ăsta e pentru referință. Nu e necesar de parcurs comandă cu comandă în prezentare — e util post-sesiune.
Cele două care apar cel mai des în folosirea zilnică:
• /clear — resetare a istoricului conversației când se trece la un task nou. Previne aglomerarea context-ului cu informații din task-uri anterioare.
• Shift+Tab — ciclează prin permission modes (Normal → Auto-Accept → Plan). Util când vrei Plan Mode înainte de execuție.
Alte comenzi utile:
• /compact — rezumă history-ul păstrând firul conversației. Alternativă la /clear când vrei să păstrezi contextul.
• `claude -p "..."` — mod non-interactiv. Rulează un prompt, afișează răspunsul, iese. Folosit în shell scripts și pipeline-uri CI.
• `--permission-mode acceptEdits` — auto-aprobă modificările de fișiere. Util după ce workflow-ul e familiar.
• `@` — referință la un fișier în prompt, ex: „explică @src/auth.ts".
• `/memory` — vizualizează și editează memoria auto-salvată între sesiuni (v2.1.59+).
Notă: Claude Code funcționează fără să memorezi aceste comenzi. Sunt shortcut-uri pentru folosire frecventă.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Pași concreți de încheiere:
1. Instalarea Claude Code (instrucțiuni pe docs.claude.com).
2. Scrierea unui CLAUDE.md pentru proiectul principal — convenții, comenzi uzuale, pattern-uri de urmărit.
3. Încercarea unui task concret: explicarea unui modul, fix la un bug, sau adăugarea unui test.
Pentru echipă (discuție ulterioară):
1. Identificarea MCP servers care s-ar potrivi cu workflow-ul nostru (ex: GitHub, Jira).
2. Discutarea experienței pe canalul de echipă.
3. Identificarea pattern-urilor repetitive care ar putea deveni Skills partajate.
Resurse oficiale: docs.claude.com/en/docs/claude-code. Changelog: docs.claude.com/en/release-notes/claude-code. Exemple de skills în repo-ul public anthropics/skills.
Întrebări.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Acest slide e pentru onestitate și pentru a pregăti audiența să recunoască aceste tipare în practică. Niciuna dintre limitări nu e blocantă; toate sunt gestionabile cu review atent.
• Context dropped: apare la sesiuni lungi, fișiere mari, sau zeci de tool calls. Claude poate să uite o decizie luată la începutul sesiunii. /clear resetează, /compact rezumă, @ aduce conținut la zi în context.
• Plausible but wrong: cel mai insidios tip de eșec — codul compilează, testele trec, sintaxa e ok, dar comportamentul e greșit. Apare când API-ul real diferă de ce Claude presupune. Verifică cu documentația oficială sau rulări concrete, nu doar cu lint.
• Hidden state: orice nu e în cod e invizibil pentru Claude — variabile de mediu, feature flags, convenții ne-scrise, comportamentul unui API extern. Dacă task-ul depinde de așa ceva, spune-i explicit: „backend-ul așteaptă camelCase” sau „feature flag X e on în prod”.
• Own the diff: regula de bază. Claude e un contributor, nu un owner. Citește fiecare hunk ca și cum ar veni de la un coleg nou: nu presupune că înțelege convențiile proiectului la fel de bine ca tine. Green CI nu înseamnă corect.
Mențiune: nu sunt toate limitările — doar cele mai des întâlnite în munca zilnică. Altele (matematică, rază de acțiune, latență) sunt contextuale și merită discutate separat.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B1F"/>
        </a:solidFill>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CC785C"/>
          </a:solidFill>
          <a:ln w="12700">
            <a:solidFill>
              <a:srgbClr val="CC785C"/>
            </a:solidFill>
            <a:prstDash val="solid"/>
          </a:ln>
        </p:spPr>
      </p:sp>
      <p:sp>
        <p:nvSpPr>
          <p:cNvPr id="3" name="Text 1"/>
          <p:cNvSpPr/>
          <p:nvPr/>
        </p:nvSpPr>
        <p:spPr>
          <a:xfrm>
            <a:off x="749808" y="457200"/>
            <a:ext cx="6400800" cy="256032"/>
          </a:xfrm>
          <a:prstGeom prst="rect">
            <a:avLst/>
          </a:prstGeom>
          <a:noFill/>
          <a:ln/>
        </p:spPr>
        <p:txBody>
          <a:bodyPr wrap="square" lIns="0" tIns="0" rIns="0" bIns="0" rtlCol="0" anchor="ctr"/>
          <a:lstStyle/>
          <a:p>
            <a:pPr indent="0" marL="0">
              <a:buNone/>
            </a:pPr>
            <a:r>
              <a:rPr lang="en-US" sz="1100" b="1" spc="400" kern="0" dirty="0">
                <a:solidFill>
                  <a:srgbClr val="A9A69E"/>
                </a:solidFill>
                <a:latin typeface="Calibri" pitchFamily="34" charset="0"/>
                <a:ea typeface="Calibri" pitchFamily="34" charset="-122"/>
                <a:cs typeface="Calibri" pitchFamily="34" charset="-120"/>
              </a:rPr>
              <a:t>TEAM BRIEF  —  CLAUDE CODE</a:t>
            </a:r>
            <a:endParaRPr lang="en-US" sz="1100" dirty="0"/>
          </a:p>
        </p:txBody>
      </p:sp>
      <p:sp>
        <p:nvSpPr>
          <p:cNvPr id="4" name="Text 2"/>
          <p:cNvSpPr/>
          <p:nvPr/>
        </p:nvSpPr>
        <p:spPr>
          <a:xfrm>
            <a:off x="502920" y="1463040"/>
            <a:ext cx="8229600" cy="868680"/>
          </a:xfrm>
          <a:prstGeom prst="rect">
            <a:avLst/>
          </a:prstGeom>
          <a:noFill/>
          <a:ln/>
        </p:spPr>
        <p:txBody>
          <a:bodyPr wrap="square" lIns="0" tIns="0" rIns="0" bIns="0" rtlCol="0" anchor="ctr"/>
          <a:lstStyle/>
          <a:p>
            <a:pPr indent="0" marL="0">
              <a:buNone/>
            </a:pPr>
            <a:r>
              <a:rPr lang="en-US" sz="5000" b="1" dirty="0">
                <a:solidFill>
                  <a:srgbClr val="F7F5F0"/>
                </a:solidFill>
                <a:latin typeface="Georgia" pitchFamily="34" charset="0"/>
                <a:ea typeface="Georgia" pitchFamily="34" charset="-122"/>
                <a:cs typeface="Georgia" pitchFamily="34" charset="-120"/>
              </a:rPr>
              <a:t>Agentic coding,</a:t>
            </a:r>
            <a:endParaRPr lang="en-US" sz="5000" dirty="0"/>
          </a:p>
        </p:txBody>
      </p:sp>
      <p:sp>
        <p:nvSpPr>
          <p:cNvPr id="5" name="Text 3"/>
          <p:cNvSpPr/>
          <p:nvPr/>
        </p:nvSpPr>
        <p:spPr>
          <a:xfrm>
            <a:off x="502920" y="2331720"/>
            <a:ext cx="8229600" cy="868680"/>
          </a:xfrm>
          <a:prstGeom prst="rect">
            <a:avLst/>
          </a:prstGeom>
          <a:noFill/>
          <a:ln/>
        </p:spPr>
        <p:txBody>
          <a:bodyPr wrap="square" lIns="0" tIns="0" rIns="0" bIns="0" rtlCol="0" anchor="ctr"/>
          <a:lstStyle/>
          <a:p>
            <a:pPr indent="0" marL="0">
              <a:buNone/>
            </a:pPr>
            <a:r>
              <a:rPr lang="en-US" sz="5000" i="1" dirty="0">
                <a:solidFill>
                  <a:srgbClr val="CC785C"/>
                </a:solidFill>
                <a:latin typeface="Georgia" pitchFamily="34" charset="0"/>
                <a:ea typeface="Georgia" pitchFamily="34" charset="-122"/>
                <a:cs typeface="Georgia" pitchFamily="34" charset="-120"/>
              </a:rPr>
              <a:t>right in your terminal.</a:t>
            </a:r>
            <a:endParaRPr lang="en-US" sz="5000" dirty="0"/>
          </a:p>
        </p:txBody>
      </p:sp>
      <p:sp>
        <p:nvSpPr>
          <p:cNvPr id="6" name="Text 4"/>
          <p:cNvSpPr/>
          <p:nvPr/>
        </p:nvSpPr>
        <p:spPr>
          <a:xfrm>
            <a:off x="502920" y="3383280"/>
            <a:ext cx="8138160" cy="822960"/>
          </a:xfrm>
          <a:prstGeom prst="rect">
            <a:avLst/>
          </a:prstGeom>
          <a:noFill/>
          <a:ln/>
        </p:spPr>
        <p:txBody>
          <a:bodyPr wrap="square" lIns="0" tIns="0" rIns="0" bIns="0" rtlCol="0" anchor="ctr"/>
          <a:lstStyle/>
          <a:p>
            <a:pPr indent="0" marL="0">
              <a:buNone/>
            </a:pPr>
            <a:r>
              <a:rPr lang="en-US" sz="1400" dirty="0">
                <a:solidFill>
                  <a:srgbClr val="A9A69E"/>
                </a:solidFill>
                <a:latin typeface="Calibri" pitchFamily="34" charset="0"/>
                <a:ea typeface="Calibri" pitchFamily="34" charset="-122"/>
                <a:cs typeface="Calibri" pitchFamily="34" charset="-120"/>
              </a:rPr>
              <a:t>A technical overview for the team — what Claude Code is, the key concepts (MCP, Skills, Subagents), what it does well, and the commands you'll actually use.</a:t>
            </a:r>
            <a:endParaRPr lang="en-US" sz="1400" dirty="0"/>
          </a:p>
        </p:txBody>
      </p:sp>
      <p:sp>
        <p:nvSpPr>
          <p:cNvPr id="7" name="Shape 5"/>
          <p:cNvSpPr/>
          <p:nvPr/>
        </p:nvSpPr>
        <p:spPr>
          <a:xfrm>
            <a:off x="502920" y="4617720"/>
            <a:ext cx="8138160" cy="0"/>
          </a:xfrm>
          <a:prstGeom prst="line">
            <a:avLst/>
          </a:prstGeom>
          <a:noFill/>
          <a:ln w="12700">
            <a:solidFill>
              <a:srgbClr val="2A2B30"/>
            </a:solidFill>
            <a:prstDash val="solid"/>
          </a:ln>
        </p:spPr>
      </p:sp>
      <p:sp>
        <p:nvSpPr>
          <p:cNvPr id="8" name="Text 6"/>
          <p:cNvSpPr/>
          <p:nvPr/>
        </p:nvSpPr>
        <p:spPr>
          <a:xfrm>
            <a:off x="502920" y="4709160"/>
            <a:ext cx="4572000" cy="274320"/>
          </a:xfrm>
          <a:prstGeom prst="rect">
            <a:avLst/>
          </a:prstGeom>
          <a:noFill/>
          <a:ln/>
        </p:spPr>
        <p:txBody>
          <a:bodyPr wrap="square" lIns="0" tIns="0" rIns="0" bIns="0" rtlCol="0" anchor="ctr"/>
          <a:lstStyle/>
          <a:p>
            <a:pPr indent="0" marL="0">
              <a:buNone/>
            </a:pPr>
            <a:r>
              <a:rPr lang="en-US" sz="1000" dirty="0">
                <a:solidFill>
                  <a:srgbClr val="A9A69E"/>
                </a:solidFill>
                <a:latin typeface="Calibri" pitchFamily="34" charset="0"/>
                <a:ea typeface="Calibri" pitchFamily="34" charset="-122"/>
                <a:cs typeface="Calibri" pitchFamily="34" charset="-120"/>
              </a:rPr>
              <a:t>For internal discussion</a:t>
            </a:r>
            <a:endParaRPr lang="en-US" sz="1000" dirty="0"/>
          </a:p>
        </p:txBody>
      </p:sp>
      <p:sp>
        <p:nvSpPr>
          <p:cNvPr id="9" name="Text 7"/>
          <p:cNvSpPr/>
          <p:nvPr/>
        </p:nvSpPr>
        <p:spPr>
          <a:xfrm>
            <a:off x="6766560" y="4709160"/>
            <a:ext cx="1920240" cy="274320"/>
          </a:xfrm>
          <a:prstGeom prst="rect">
            <a:avLst/>
          </a:prstGeom>
          <a:noFill/>
          <a:ln/>
        </p:spPr>
        <p:txBody>
          <a:bodyPr wrap="square" lIns="0" tIns="0" rIns="0" bIns="0" rtlCol="0" anchor="ctr"/>
          <a:lstStyle/>
          <a:p>
            <a:pPr algn="r" indent="0" marL="0">
              <a:buNone/>
            </a:pPr>
            <a:r>
              <a:rPr lang="en-US" sz="1000" dirty="0">
                <a:solidFill>
                  <a:srgbClr val="CC785C"/>
                </a:solidFill>
                <a:latin typeface="Consolas" pitchFamily="34" charset="0"/>
                <a:ea typeface="Consolas" pitchFamily="34" charset="-122"/>
                <a:cs typeface="Consolas" pitchFamily="34" charset="-120"/>
              </a:rPr>
              <a:t>claude.com/code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01  —  OVERVIEW</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What is Claude Code?</a:t>
            </a:r>
            <a:endParaRPr lang="en-US" sz="3600" dirty="0"/>
          </a:p>
        </p:txBody>
      </p:sp>
      <p:sp>
        <p:nvSpPr>
          <p:cNvPr id="4" name="Text 2"/>
          <p:cNvSpPr/>
          <p:nvPr/>
        </p:nvSpPr>
        <p:spPr>
          <a:xfrm>
            <a:off x="502920" y="1737360"/>
            <a:ext cx="4297680" cy="1371600"/>
          </a:xfrm>
          <a:prstGeom prst="rect">
            <a:avLst/>
          </a:prstGeom>
          <a:noFill/>
          <a:ln/>
        </p:spPr>
        <p:txBody>
          <a:bodyPr wrap="square" lIns="0" tIns="0" rIns="0" bIns="0" rtlCol="0" anchor="ctr"/>
          <a:lstStyle/>
          <a:p>
            <a:pPr indent="0" marL="0">
              <a:buNone/>
            </a:pPr>
            <a:r>
              <a:rPr lang="en-US" sz="1500" dirty="0">
                <a:solidFill>
                  <a:srgbClr val="1A1B1F"/>
                </a:solidFill>
                <a:latin typeface="Calibri" pitchFamily="34" charset="0"/>
                <a:ea typeface="Calibri" pitchFamily="34" charset="-122"/>
                <a:cs typeface="Calibri" pitchFamily="34" charset="-120"/>
              </a:rPr>
              <a:t>Claude Code is Anthropic's agentic coding assistant. It reads your codebase, reasons over it, and works across files, tools, and terminals — through natural language.</a:t>
            </a:r>
            <a:endParaRPr lang="en-US" sz="1500" dirty="0"/>
          </a:p>
        </p:txBody>
      </p:sp>
      <p:sp>
        <p:nvSpPr>
          <p:cNvPr id="5" name="Text 3"/>
          <p:cNvSpPr/>
          <p:nvPr/>
        </p:nvSpPr>
        <p:spPr>
          <a:xfrm>
            <a:off x="502920" y="3154680"/>
            <a:ext cx="4297680" cy="109728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You describe what you want. Claude Code plans the approach, writes the code, runs the tests, and verifies the result.</a:t>
            </a:r>
            <a:endParaRPr lang="en-US" sz="1300" dirty="0"/>
          </a:p>
        </p:txBody>
      </p:sp>
      <p:sp>
        <p:nvSpPr>
          <p:cNvPr id="6" name="Shape 4"/>
          <p:cNvSpPr/>
          <p:nvPr/>
        </p:nvSpPr>
        <p:spPr>
          <a:xfrm>
            <a:off x="5074920" y="1691640"/>
            <a:ext cx="3566160" cy="2834640"/>
          </a:xfrm>
          <a:prstGeom prst="rect">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sp>
        <p:nvSpPr>
          <p:cNvPr id="7" name="Shape 5"/>
          <p:cNvSpPr/>
          <p:nvPr/>
        </p:nvSpPr>
        <p:spPr>
          <a:xfrm>
            <a:off x="5074920" y="1691640"/>
            <a:ext cx="3566160" cy="320040"/>
          </a:xfrm>
          <a:prstGeom prst="rect">
            <a:avLst/>
          </a:prstGeom>
          <a:solidFill>
            <a:srgbClr val="2A2B30"/>
          </a:solidFill>
          <a:ln w="12700">
            <a:solidFill>
              <a:srgbClr val="2A2B30"/>
            </a:solidFill>
            <a:prstDash val="solid"/>
          </a:ln>
        </p:spPr>
      </p:sp>
      <p:sp>
        <p:nvSpPr>
          <p:cNvPr id="8" name="Shape 6"/>
          <p:cNvSpPr/>
          <p:nvPr/>
        </p:nvSpPr>
        <p:spPr>
          <a:xfrm>
            <a:off x="5184648" y="1783080"/>
            <a:ext cx="128016" cy="128016"/>
          </a:xfrm>
          <a:prstGeom prst="ellipse">
            <a:avLst/>
          </a:prstGeom>
          <a:solidFill>
            <a:srgbClr val="FF5F56"/>
          </a:solidFill>
          <a:ln w="12700">
            <a:solidFill>
              <a:srgbClr val="FF5F56"/>
            </a:solidFill>
            <a:prstDash val="solid"/>
          </a:ln>
        </p:spPr>
      </p:sp>
      <p:sp>
        <p:nvSpPr>
          <p:cNvPr id="9" name="Shape 7"/>
          <p:cNvSpPr/>
          <p:nvPr/>
        </p:nvSpPr>
        <p:spPr>
          <a:xfrm>
            <a:off x="5385816" y="1783080"/>
            <a:ext cx="128016" cy="128016"/>
          </a:xfrm>
          <a:prstGeom prst="ellipse">
            <a:avLst/>
          </a:prstGeom>
          <a:solidFill>
            <a:srgbClr val="FFBD2E"/>
          </a:solidFill>
          <a:ln w="12700">
            <a:solidFill>
              <a:srgbClr val="FFBD2E"/>
            </a:solidFill>
            <a:prstDash val="solid"/>
          </a:ln>
        </p:spPr>
      </p:sp>
      <p:sp>
        <p:nvSpPr>
          <p:cNvPr id="10" name="Shape 8"/>
          <p:cNvSpPr/>
          <p:nvPr/>
        </p:nvSpPr>
        <p:spPr>
          <a:xfrm>
            <a:off x="5586984" y="1783080"/>
            <a:ext cx="128016" cy="128016"/>
          </a:xfrm>
          <a:prstGeom prst="ellipse">
            <a:avLst/>
          </a:prstGeom>
          <a:solidFill>
            <a:srgbClr val="27C93F"/>
          </a:solidFill>
          <a:ln w="12700">
            <a:solidFill>
              <a:srgbClr val="27C93F"/>
            </a:solidFill>
            <a:prstDash val="solid"/>
          </a:ln>
        </p:spPr>
      </p:sp>
      <p:sp>
        <p:nvSpPr>
          <p:cNvPr id="11" name="Text 9"/>
          <p:cNvSpPr/>
          <p:nvPr/>
        </p:nvSpPr>
        <p:spPr>
          <a:xfrm>
            <a:off x="5897880" y="1746504"/>
            <a:ext cx="2651760" cy="201168"/>
          </a:xfrm>
          <a:prstGeom prst="rect">
            <a:avLst/>
          </a:prstGeom>
          <a:noFill/>
          <a:ln/>
        </p:spPr>
        <p:txBody>
          <a:bodyPr wrap="square" lIns="0" tIns="0" rIns="0" bIns="0" rtlCol="0" anchor="ctr"/>
          <a:lstStyle/>
          <a:p>
            <a:pPr algn="ctr" indent="0" marL="0">
              <a:buNone/>
            </a:pPr>
            <a:r>
              <a:rPr lang="en-US" sz="1000" dirty="0">
                <a:solidFill>
                  <a:srgbClr val="A9A69E"/>
                </a:solidFill>
                <a:latin typeface="Consolas" pitchFamily="34" charset="0"/>
                <a:ea typeface="Consolas" pitchFamily="34" charset="-122"/>
                <a:cs typeface="Consolas" pitchFamily="34" charset="-120"/>
              </a:rPr>
              <a:t>~/my-app</a:t>
            </a:r>
            <a:endParaRPr lang="en-US" sz="1000" dirty="0"/>
          </a:p>
        </p:txBody>
      </p:sp>
      <p:sp>
        <p:nvSpPr>
          <p:cNvPr id="12" name="Text 10"/>
          <p:cNvSpPr/>
          <p:nvPr/>
        </p:nvSpPr>
        <p:spPr>
          <a:xfrm>
            <a:off x="5257800" y="2148840"/>
            <a:ext cx="3200400" cy="2240280"/>
          </a:xfrm>
          <a:prstGeom prst="rect">
            <a:avLst/>
          </a:prstGeom>
          <a:noFill/>
          <a:ln/>
        </p:spPr>
        <p:txBody>
          <a:bodyPr wrap="square" lIns="0" tIns="0" rIns="0" bIns="0" rtlCol="0" anchor="t"/>
          <a:lstStyle/>
          <a:p>
            <a:pPr indent="0" marL="0">
              <a:spcAft>
                <a:spcPts val="200"/>
              </a:spcAft>
              <a:buNone/>
            </a:pPr>
            <a:r>
              <a:rPr lang="en-US" sz="1050" dirty="0">
                <a:solidFill>
                  <a:srgbClr val="F7F5F0"/>
                </a:solidFill>
                <a:latin typeface="Consolas" pitchFamily="34" charset="0"/>
                <a:ea typeface="Consolas" pitchFamily="34" charset="-122"/>
                <a:cs typeface="Consolas" pitchFamily="34" charset="-120"/>
              </a:rPr>
              <a:t>$ claude</a:t>
            </a:r>
            <a:endParaRPr lang="en-US" sz="1050" dirty="0"/>
          </a:p>
          <a:p>
            <a:pPr indent="0" marL="0">
              <a:spcAft>
                <a:spcPts val="200"/>
              </a:spcAft>
              <a:buNone/>
            </a:pPr>
            <a:r>
              <a:rPr lang="en-US" sz="1050" dirty="0">
                <a:solidFill>
                  <a:srgbClr val="CC785C"/>
                </a:solidFill>
                <a:latin typeface="Consolas" pitchFamily="34" charset="0"/>
                <a:ea typeface="Consolas" pitchFamily="34" charset="-122"/>
                <a:cs typeface="Consolas" pitchFamily="34" charset="-120"/>
              </a:rPr>
              <a:t>&gt; Add pagination to the users endpoint</a:t>
            </a:r>
            <a:endParaRPr lang="en-US" sz="1050" dirty="0"/>
          </a:p>
          <a:p>
            <a:pPr indent="0" marL="0">
              <a:spcAft>
                <a:spcPts val="200"/>
              </a:spcAft>
              <a:buNone/>
            </a:pPr>
            <a:endParaRPr lang="en-US" sz="1050" dirty="0"/>
          </a:p>
          <a:p>
            <a:pPr indent="0" marL="0">
              <a:spcAft>
                <a:spcPts val="200"/>
              </a:spcAft>
              <a:buNone/>
            </a:pPr>
            <a:r>
              <a:rPr lang="en-US" sz="1050" dirty="0">
                <a:solidFill>
                  <a:srgbClr val="A9A69E"/>
                </a:solidFill>
                <a:latin typeface="Consolas" pitchFamily="34" charset="0"/>
                <a:ea typeface="Consolas" pitchFamily="34" charset="-122"/>
                <a:cs typeface="Consolas" pitchFamily="34" charset="-120"/>
              </a:rPr>
              <a:t>● Reading routes/users.js</a:t>
            </a:r>
            <a:endParaRPr lang="en-US" sz="1050" dirty="0"/>
          </a:p>
          <a:p>
            <a:pPr indent="0" marL="0">
              <a:spcAft>
                <a:spcPts val="200"/>
              </a:spcAft>
              <a:buNone/>
            </a:pPr>
            <a:r>
              <a:rPr lang="en-US" sz="1050" dirty="0">
                <a:solidFill>
                  <a:srgbClr val="A9A69E"/>
                </a:solidFill>
                <a:latin typeface="Consolas" pitchFamily="34" charset="0"/>
                <a:ea typeface="Consolas" pitchFamily="34" charset="-122"/>
                <a:cs typeface="Consolas" pitchFamily="34" charset="-120"/>
              </a:rPr>
              <a:t>● Updating controller + adding tests</a:t>
            </a:r>
            <a:endParaRPr lang="en-US" sz="1050" dirty="0"/>
          </a:p>
          <a:p>
            <a:pPr indent="0" marL="0">
              <a:spcAft>
                <a:spcPts val="200"/>
              </a:spcAft>
              <a:buNone/>
            </a:pPr>
            <a:r>
              <a:rPr lang="en-US" sz="1050" dirty="0">
                <a:solidFill>
                  <a:srgbClr val="27C93F"/>
                </a:solidFill>
                <a:latin typeface="Consolas" pitchFamily="34" charset="0"/>
                <a:ea typeface="Consolas" pitchFamily="34" charset="-122"/>
                <a:cs typeface="Consolas" pitchFamily="34" charset="-120"/>
              </a:rPr>
              <a:t>● Running test suite... 14 passed</a:t>
            </a:r>
            <a:endParaRPr lang="en-US" sz="1050" dirty="0"/>
          </a:p>
          <a:p>
            <a:pPr indent="0" marL="0">
              <a:spcAft>
                <a:spcPts val="200"/>
              </a:spcAft>
              <a:buNone/>
            </a:pPr>
            <a:endParaRPr lang="en-US" sz="1050" dirty="0"/>
          </a:p>
          <a:p>
            <a:pPr indent="0" marL="0">
              <a:spcAft>
                <a:spcPts val="200"/>
              </a:spcAft>
              <a:buNone/>
            </a:pPr>
            <a:r>
              <a:rPr lang="en-US" sz="1050" dirty="0">
                <a:solidFill>
                  <a:srgbClr val="F7F5F0"/>
                </a:solidFill>
                <a:latin typeface="Consolas" pitchFamily="34" charset="0"/>
                <a:ea typeface="Consolas" pitchFamily="34" charset="-122"/>
                <a:cs typeface="Consolas" pitchFamily="34" charset="-120"/>
              </a:rPr>
              <a:t>Pagination added. Ready to commit?</a:t>
            </a:r>
            <a:endParaRPr lang="en-US" sz="1050" dirty="0"/>
          </a:p>
        </p:txBody>
      </p:sp>
      <p:sp>
        <p:nvSpPr>
          <p:cNvPr id="13" name="Text 11"/>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02  —  THE CORE IDEA</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What does "agentic" mean?</a:t>
            </a:r>
            <a:endParaRPr lang="en-US" sz="3600" dirty="0"/>
          </a:p>
        </p:txBody>
      </p:sp>
      <p:sp>
        <p:nvSpPr>
          <p:cNvPr id="4" name="Text 2"/>
          <p:cNvSpPr/>
          <p:nvPr/>
        </p:nvSpPr>
        <p:spPr>
          <a:xfrm>
            <a:off x="502920" y="1417320"/>
            <a:ext cx="8229600" cy="502920"/>
          </a:xfrm>
          <a:prstGeom prst="rect">
            <a:avLst/>
          </a:prstGeom>
          <a:noFill/>
          <a:ln/>
        </p:spPr>
        <p:txBody>
          <a:bodyPr wrap="square" lIns="0" tIns="0" rIns="0" bIns="0" rtlCol="0" anchor="ctr"/>
          <a:lstStyle/>
          <a:p>
            <a:pPr indent="0" marL="0">
              <a:buNone/>
            </a:pPr>
            <a:r>
              <a:rPr lang="en-US" sz="1400" i="1" dirty="0">
                <a:solidFill>
                  <a:srgbClr val="6B6A66"/>
                </a:solidFill>
                <a:latin typeface="Calibri" pitchFamily="34" charset="0"/>
                <a:ea typeface="Calibri" pitchFamily="34" charset="-122"/>
                <a:cs typeface="Calibri" pitchFamily="34" charset="-120"/>
              </a:rPr>
              <a:t>An agent has a goal, access to tools, and the autonomy to plan, act, observe the result, and keep going until the task is done.</a:t>
            </a:r>
            <a:endParaRPr lang="en-US" sz="1400" dirty="0"/>
          </a:p>
        </p:txBody>
      </p:sp>
      <p:sp>
        <p:nvSpPr>
          <p:cNvPr id="5" name="Shape 3"/>
          <p:cNvSpPr/>
          <p:nvPr/>
        </p:nvSpPr>
        <p:spPr>
          <a:xfrm>
            <a:off x="1783080" y="2926080"/>
            <a:ext cx="1005840" cy="0"/>
          </a:xfrm>
          <a:prstGeom prst="line">
            <a:avLst/>
          </a:prstGeom>
          <a:noFill/>
          <a:ln w="19050">
            <a:solidFill>
              <a:srgbClr val="CC785C"/>
            </a:solidFill>
            <a:prstDash val="solid"/>
            <a:tailEnd type="triangle"/>
          </a:ln>
        </p:spPr>
      </p:sp>
      <p:sp>
        <p:nvSpPr>
          <p:cNvPr id="6" name="Shape 4"/>
          <p:cNvSpPr/>
          <p:nvPr/>
        </p:nvSpPr>
        <p:spPr>
          <a:xfrm>
            <a:off x="3931920" y="2926080"/>
            <a:ext cx="1005840" cy="0"/>
          </a:xfrm>
          <a:prstGeom prst="line">
            <a:avLst/>
          </a:prstGeom>
          <a:noFill/>
          <a:ln w="19050">
            <a:solidFill>
              <a:srgbClr val="CC785C"/>
            </a:solidFill>
            <a:prstDash val="solid"/>
            <a:tailEnd type="triangle"/>
          </a:ln>
        </p:spPr>
      </p:sp>
      <p:sp>
        <p:nvSpPr>
          <p:cNvPr id="7" name="Shape 5"/>
          <p:cNvSpPr/>
          <p:nvPr/>
        </p:nvSpPr>
        <p:spPr>
          <a:xfrm>
            <a:off x="6080760" y="2926080"/>
            <a:ext cx="1005840" cy="0"/>
          </a:xfrm>
          <a:prstGeom prst="line">
            <a:avLst/>
          </a:prstGeom>
          <a:noFill/>
          <a:ln w="19050">
            <a:solidFill>
              <a:srgbClr val="CC785C"/>
            </a:solidFill>
            <a:prstDash val="solid"/>
            <a:tailEnd type="triangle"/>
          </a:ln>
        </p:spPr>
      </p:sp>
      <p:sp>
        <p:nvSpPr>
          <p:cNvPr id="8" name="Shape 6"/>
          <p:cNvSpPr/>
          <p:nvPr/>
        </p:nvSpPr>
        <p:spPr>
          <a:xfrm>
            <a:off x="822960" y="2468880"/>
            <a:ext cx="914400" cy="914400"/>
          </a:xfrm>
          <a:prstGeom prst="ellipse">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pic>
        <p:nvPicPr>
          <p:cNvPr id="9" name="Image 0" descr="preencoded.png">    </p:cNvPr>
          <p:cNvPicPr>
            <a:picLocks noChangeAspect="1"/>
          </p:cNvPicPr>
          <p:nvPr/>
        </p:nvPicPr>
        <p:blipFill>
          <a:blip r:embed="rId1"/>
          <a:stretch>
            <a:fillRect/>
          </a:stretch>
        </p:blipFill>
        <p:spPr>
          <a:xfrm>
            <a:off x="1097280" y="2743200"/>
            <a:ext cx="365760" cy="365760"/>
          </a:xfrm>
          <a:prstGeom prst="rect">
            <a:avLst/>
          </a:prstGeom>
        </p:spPr>
      </p:pic>
      <p:sp>
        <p:nvSpPr>
          <p:cNvPr id="10" name="Text 7"/>
          <p:cNvSpPr/>
          <p:nvPr/>
        </p:nvSpPr>
        <p:spPr>
          <a:xfrm>
            <a:off x="822960" y="2148840"/>
            <a:ext cx="914400" cy="274320"/>
          </a:xfrm>
          <a:prstGeom prst="rect">
            <a:avLst/>
          </a:prstGeom>
          <a:noFill/>
          <a:ln/>
        </p:spPr>
        <p:txBody>
          <a:bodyPr wrap="square" lIns="0" tIns="0" rIns="0" bIns="0" rtlCol="0" anchor="ctr"/>
          <a:lstStyle/>
          <a:p>
            <a:pPr algn="ctr" indent="0" marL="0">
              <a:buNone/>
            </a:pPr>
            <a:r>
              <a:rPr lang="en-US" sz="1000" b="1" spc="200" kern="0" dirty="0">
                <a:solidFill>
                  <a:srgbClr val="CC785C"/>
                </a:solidFill>
                <a:latin typeface="Calibri" pitchFamily="34" charset="0"/>
                <a:ea typeface="Calibri" pitchFamily="34" charset="-122"/>
                <a:cs typeface="Calibri" pitchFamily="34" charset="-120"/>
              </a:rPr>
              <a:t>1</a:t>
            </a:r>
            <a:endParaRPr lang="en-US" sz="1000" dirty="0"/>
          </a:p>
        </p:txBody>
      </p:sp>
      <p:sp>
        <p:nvSpPr>
          <p:cNvPr id="11" name="Text 8"/>
          <p:cNvSpPr/>
          <p:nvPr/>
        </p:nvSpPr>
        <p:spPr>
          <a:xfrm>
            <a:off x="594360" y="3520440"/>
            <a:ext cx="1371600" cy="320040"/>
          </a:xfrm>
          <a:prstGeom prst="rect">
            <a:avLst/>
          </a:prstGeom>
          <a:noFill/>
          <a:ln/>
        </p:spPr>
        <p:txBody>
          <a:bodyPr wrap="square" lIns="0" tIns="0" rIns="0" bIns="0" rtlCol="0" anchor="ctr"/>
          <a:lstStyle/>
          <a:p>
            <a:pPr algn="ctr" indent="0" marL="0">
              <a:buNone/>
            </a:pPr>
            <a:r>
              <a:rPr lang="en-US" sz="1500" b="1" dirty="0">
                <a:solidFill>
                  <a:srgbClr val="1A1B1F"/>
                </a:solidFill>
                <a:latin typeface="Georgia" pitchFamily="34" charset="0"/>
                <a:ea typeface="Georgia" pitchFamily="34" charset="-122"/>
                <a:cs typeface="Georgia" pitchFamily="34" charset="-120"/>
              </a:rPr>
              <a:t>Understand</a:t>
            </a:r>
            <a:endParaRPr lang="en-US" sz="1500" dirty="0"/>
          </a:p>
        </p:txBody>
      </p:sp>
      <p:sp>
        <p:nvSpPr>
          <p:cNvPr id="12" name="Text 9"/>
          <p:cNvSpPr/>
          <p:nvPr/>
        </p:nvSpPr>
        <p:spPr>
          <a:xfrm>
            <a:off x="457200" y="3840480"/>
            <a:ext cx="1645920" cy="457200"/>
          </a:xfrm>
          <a:prstGeom prst="rect">
            <a:avLst/>
          </a:prstGeom>
          <a:noFill/>
          <a:ln/>
        </p:spPr>
        <p:txBody>
          <a:bodyPr wrap="square" lIns="0" tIns="0" rIns="0" bIns="0" rtlCol="0" anchor="ctr"/>
          <a:lstStyle/>
          <a:p>
            <a:pPr algn="ctr" indent="0" marL="0">
              <a:buNone/>
            </a:pPr>
            <a:r>
              <a:rPr lang="en-US" sz="1100" dirty="0">
                <a:solidFill>
                  <a:srgbClr val="6B6A66"/>
                </a:solidFill>
                <a:latin typeface="Calibri" pitchFamily="34" charset="0"/>
                <a:ea typeface="Calibri" pitchFamily="34" charset="-122"/>
                <a:cs typeface="Calibri" pitchFamily="34" charset="-120"/>
              </a:rPr>
              <a:t>Read files, build context</a:t>
            </a:r>
            <a:endParaRPr lang="en-US" sz="1100" dirty="0"/>
          </a:p>
        </p:txBody>
      </p:sp>
      <p:sp>
        <p:nvSpPr>
          <p:cNvPr id="13" name="Shape 10"/>
          <p:cNvSpPr/>
          <p:nvPr/>
        </p:nvSpPr>
        <p:spPr>
          <a:xfrm>
            <a:off x="2971800" y="2468880"/>
            <a:ext cx="914400" cy="914400"/>
          </a:xfrm>
          <a:prstGeom prst="ellipse">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pic>
        <p:nvPicPr>
          <p:cNvPr id="14" name="Image 1" descr="preencoded.png">    </p:cNvPr>
          <p:cNvPicPr>
            <a:picLocks noChangeAspect="1"/>
          </p:cNvPicPr>
          <p:nvPr/>
        </p:nvPicPr>
        <p:blipFill>
          <a:blip r:embed="rId2"/>
          <a:stretch>
            <a:fillRect/>
          </a:stretch>
        </p:blipFill>
        <p:spPr>
          <a:xfrm>
            <a:off x="3246120" y="2743200"/>
            <a:ext cx="365760" cy="365760"/>
          </a:xfrm>
          <a:prstGeom prst="rect">
            <a:avLst/>
          </a:prstGeom>
        </p:spPr>
      </p:pic>
      <p:sp>
        <p:nvSpPr>
          <p:cNvPr id="15" name="Text 11"/>
          <p:cNvSpPr/>
          <p:nvPr/>
        </p:nvSpPr>
        <p:spPr>
          <a:xfrm>
            <a:off x="2971800" y="2148840"/>
            <a:ext cx="914400" cy="274320"/>
          </a:xfrm>
          <a:prstGeom prst="rect">
            <a:avLst/>
          </a:prstGeom>
          <a:noFill/>
          <a:ln/>
        </p:spPr>
        <p:txBody>
          <a:bodyPr wrap="square" lIns="0" tIns="0" rIns="0" bIns="0" rtlCol="0" anchor="ctr"/>
          <a:lstStyle/>
          <a:p>
            <a:pPr algn="ctr" indent="0" marL="0">
              <a:buNone/>
            </a:pPr>
            <a:r>
              <a:rPr lang="en-US" sz="1000" b="1" spc="200" kern="0" dirty="0">
                <a:solidFill>
                  <a:srgbClr val="CC785C"/>
                </a:solidFill>
                <a:latin typeface="Calibri" pitchFamily="34" charset="0"/>
                <a:ea typeface="Calibri" pitchFamily="34" charset="-122"/>
                <a:cs typeface="Calibri" pitchFamily="34" charset="-120"/>
              </a:rPr>
              <a:t>2</a:t>
            </a:r>
            <a:endParaRPr lang="en-US" sz="1000" dirty="0"/>
          </a:p>
        </p:txBody>
      </p:sp>
      <p:sp>
        <p:nvSpPr>
          <p:cNvPr id="16" name="Text 12"/>
          <p:cNvSpPr/>
          <p:nvPr/>
        </p:nvSpPr>
        <p:spPr>
          <a:xfrm>
            <a:off x="2743200" y="3520440"/>
            <a:ext cx="1371600" cy="320040"/>
          </a:xfrm>
          <a:prstGeom prst="rect">
            <a:avLst/>
          </a:prstGeom>
          <a:noFill/>
          <a:ln/>
        </p:spPr>
        <p:txBody>
          <a:bodyPr wrap="square" lIns="0" tIns="0" rIns="0" bIns="0" rtlCol="0" anchor="ctr"/>
          <a:lstStyle/>
          <a:p>
            <a:pPr algn="ctr" indent="0" marL="0">
              <a:buNone/>
            </a:pPr>
            <a:r>
              <a:rPr lang="en-US" sz="1500" b="1" dirty="0">
                <a:solidFill>
                  <a:srgbClr val="1A1B1F"/>
                </a:solidFill>
                <a:latin typeface="Georgia" pitchFamily="34" charset="0"/>
                <a:ea typeface="Georgia" pitchFamily="34" charset="-122"/>
                <a:cs typeface="Georgia" pitchFamily="34" charset="-120"/>
              </a:rPr>
              <a:t>Plan</a:t>
            </a:r>
            <a:endParaRPr lang="en-US" sz="1500" dirty="0"/>
          </a:p>
        </p:txBody>
      </p:sp>
      <p:sp>
        <p:nvSpPr>
          <p:cNvPr id="17" name="Text 13"/>
          <p:cNvSpPr/>
          <p:nvPr/>
        </p:nvSpPr>
        <p:spPr>
          <a:xfrm>
            <a:off x="2606040" y="3840480"/>
            <a:ext cx="1645920" cy="457200"/>
          </a:xfrm>
          <a:prstGeom prst="rect">
            <a:avLst/>
          </a:prstGeom>
          <a:noFill/>
          <a:ln/>
        </p:spPr>
        <p:txBody>
          <a:bodyPr wrap="square" lIns="0" tIns="0" rIns="0" bIns="0" rtlCol="0" anchor="ctr"/>
          <a:lstStyle/>
          <a:p>
            <a:pPr algn="ctr" indent="0" marL="0">
              <a:buNone/>
            </a:pPr>
            <a:r>
              <a:rPr lang="en-US" sz="1100" dirty="0">
                <a:solidFill>
                  <a:srgbClr val="6B6A66"/>
                </a:solidFill>
                <a:latin typeface="Calibri" pitchFamily="34" charset="0"/>
                <a:ea typeface="Calibri" pitchFamily="34" charset="-122"/>
                <a:cs typeface="Calibri" pitchFamily="34" charset="-120"/>
              </a:rPr>
              <a:t>Decide approach, pick tools</a:t>
            </a:r>
            <a:endParaRPr lang="en-US" sz="1100" dirty="0"/>
          </a:p>
        </p:txBody>
      </p:sp>
      <p:sp>
        <p:nvSpPr>
          <p:cNvPr id="18" name="Shape 14"/>
          <p:cNvSpPr/>
          <p:nvPr/>
        </p:nvSpPr>
        <p:spPr>
          <a:xfrm>
            <a:off x="5120640" y="2468880"/>
            <a:ext cx="914400" cy="914400"/>
          </a:xfrm>
          <a:prstGeom prst="ellipse">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pic>
        <p:nvPicPr>
          <p:cNvPr id="19" name="Image 2" descr="preencoded.png">    </p:cNvPr>
          <p:cNvPicPr>
            <a:picLocks noChangeAspect="1"/>
          </p:cNvPicPr>
          <p:nvPr/>
        </p:nvPicPr>
        <p:blipFill>
          <a:blip r:embed="rId3"/>
          <a:stretch>
            <a:fillRect/>
          </a:stretch>
        </p:blipFill>
        <p:spPr>
          <a:xfrm>
            <a:off x="5394960" y="2743200"/>
            <a:ext cx="365760" cy="365760"/>
          </a:xfrm>
          <a:prstGeom prst="rect">
            <a:avLst/>
          </a:prstGeom>
        </p:spPr>
      </p:pic>
      <p:sp>
        <p:nvSpPr>
          <p:cNvPr id="20" name="Text 15"/>
          <p:cNvSpPr/>
          <p:nvPr/>
        </p:nvSpPr>
        <p:spPr>
          <a:xfrm>
            <a:off x="5120640" y="2148840"/>
            <a:ext cx="914400" cy="274320"/>
          </a:xfrm>
          <a:prstGeom prst="rect">
            <a:avLst/>
          </a:prstGeom>
          <a:noFill/>
          <a:ln/>
        </p:spPr>
        <p:txBody>
          <a:bodyPr wrap="square" lIns="0" tIns="0" rIns="0" bIns="0" rtlCol="0" anchor="ctr"/>
          <a:lstStyle/>
          <a:p>
            <a:pPr algn="ctr" indent="0" marL="0">
              <a:buNone/>
            </a:pPr>
            <a:r>
              <a:rPr lang="en-US" sz="1000" b="1" spc="200" kern="0" dirty="0">
                <a:solidFill>
                  <a:srgbClr val="CC785C"/>
                </a:solidFill>
                <a:latin typeface="Calibri" pitchFamily="34" charset="0"/>
                <a:ea typeface="Calibri" pitchFamily="34" charset="-122"/>
                <a:cs typeface="Calibri" pitchFamily="34" charset="-120"/>
              </a:rPr>
              <a:t>3</a:t>
            </a:r>
            <a:endParaRPr lang="en-US" sz="1000" dirty="0"/>
          </a:p>
        </p:txBody>
      </p:sp>
      <p:sp>
        <p:nvSpPr>
          <p:cNvPr id="21" name="Text 16"/>
          <p:cNvSpPr/>
          <p:nvPr/>
        </p:nvSpPr>
        <p:spPr>
          <a:xfrm>
            <a:off x="4892040" y="3520440"/>
            <a:ext cx="1371600" cy="320040"/>
          </a:xfrm>
          <a:prstGeom prst="rect">
            <a:avLst/>
          </a:prstGeom>
          <a:noFill/>
          <a:ln/>
        </p:spPr>
        <p:txBody>
          <a:bodyPr wrap="square" lIns="0" tIns="0" rIns="0" bIns="0" rtlCol="0" anchor="ctr"/>
          <a:lstStyle/>
          <a:p>
            <a:pPr algn="ctr" indent="0" marL="0">
              <a:buNone/>
            </a:pPr>
            <a:r>
              <a:rPr lang="en-US" sz="1500" b="1" dirty="0">
                <a:solidFill>
                  <a:srgbClr val="1A1B1F"/>
                </a:solidFill>
                <a:latin typeface="Georgia" pitchFamily="34" charset="0"/>
                <a:ea typeface="Georgia" pitchFamily="34" charset="-122"/>
                <a:cs typeface="Georgia" pitchFamily="34" charset="-120"/>
              </a:rPr>
              <a:t>Act</a:t>
            </a:r>
            <a:endParaRPr lang="en-US" sz="1500" dirty="0"/>
          </a:p>
        </p:txBody>
      </p:sp>
      <p:sp>
        <p:nvSpPr>
          <p:cNvPr id="22" name="Text 17"/>
          <p:cNvSpPr/>
          <p:nvPr/>
        </p:nvSpPr>
        <p:spPr>
          <a:xfrm>
            <a:off x="4754880" y="3840480"/>
            <a:ext cx="1645920" cy="457200"/>
          </a:xfrm>
          <a:prstGeom prst="rect">
            <a:avLst/>
          </a:prstGeom>
          <a:noFill/>
          <a:ln/>
        </p:spPr>
        <p:txBody>
          <a:bodyPr wrap="square" lIns="0" tIns="0" rIns="0" bIns="0" rtlCol="0" anchor="ctr"/>
          <a:lstStyle/>
          <a:p>
            <a:pPr algn="ctr" indent="0" marL="0">
              <a:buNone/>
            </a:pPr>
            <a:r>
              <a:rPr lang="en-US" sz="1100" dirty="0">
                <a:solidFill>
                  <a:srgbClr val="6B6A66"/>
                </a:solidFill>
                <a:latin typeface="Calibri" pitchFamily="34" charset="0"/>
                <a:ea typeface="Calibri" pitchFamily="34" charset="-122"/>
                <a:cs typeface="Calibri" pitchFamily="34" charset="-120"/>
              </a:rPr>
              <a:t>Edit code, run commands</a:t>
            </a:r>
            <a:endParaRPr lang="en-US" sz="1100" dirty="0"/>
          </a:p>
        </p:txBody>
      </p:sp>
      <p:sp>
        <p:nvSpPr>
          <p:cNvPr id="23" name="Shape 18"/>
          <p:cNvSpPr/>
          <p:nvPr/>
        </p:nvSpPr>
        <p:spPr>
          <a:xfrm>
            <a:off x="7269480" y="2468880"/>
            <a:ext cx="914400" cy="914400"/>
          </a:xfrm>
          <a:prstGeom prst="ellipse">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pic>
        <p:nvPicPr>
          <p:cNvPr id="24" name="Image 3" descr="preencoded.png">    </p:cNvPr>
          <p:cNvPicPr>
            <a:picLocks noChangeAspect="1"/>
          </p:cNvPicPr>
          <p:nvPr/>
        </p:nvPicPr>
        <p:blipFill>
          <a:blip r:embed="rId4"/>
          <a:stretch>
            <a:fillRect/>
          </a:stretch>
        </p:blipFill>
        <p:spPr>
          <a:xfrm>
            <a:off x="7543800" y="2743200"/>
            <a:ext cx="365760" cy="365760"/>
          </a:xfrm>
          <a:prstGeom prst="rect">
            <a:avLst/>
          </a:prstGeom>
        </p:spPr>
      </p:pic>
      <p:sp>
        <p:nvSpPr>
          <p:cNvPr id="25" name="Text 19"/>
          <p:cNvSpPr/>
          <p:nvPr/>
        </p:nvSpPr>
        <p:spPr>
          <a:xfrm>
            <a:off x="7269480" y="2148840"/>
            <a:ext cx="914400" cy="274320"/>
          </a:xfrm>
          <a:prstGeom prst="rect">
            <a:avLst/>
          </a:prstGeom>
          <a:noFill/>
          <a:ln/>
        </p:spPr>
        <p:txBody>
          <a:bodyPr wrap="square" lIns="0" tIns="0" rIns="0" bIns="0" rtlCol="0" anchor="ctr"/>
          <a:lstStyle/>
          <a:p>
            <a:pPr algn="ctr" indent="0" marL="0">
              <a:buNone/>
            </a:pPr>
            <a:r>
              <a:rPr lang="en-US" sz="1000" b="1" spc="200" kern="0" dirty="0">
                <a:solidFill>
                  <a:srgbClr val="CC785C"/>
                </a:solidFill>
                <a:latin typeface="Calibri" pitchFamily="34" charset="0"/>
                <a:ea typeface="Calibri" pitchFamily="34" charset="-122"/>
                <a:cs typeface="Calibri" pitchFamily="34" charset="-120"/>
              </a:rPr>
              <a:t>4</a:t>
            </a:r>
            <a:endParaRPr lang="en-US" sz="1000" dirty="0"/>
          </a:p>
        </p:txBody>
      </p:sp>
      <p:sp>
        <p:nvSpPr>
          <p:cNvPr id="26" name="Text 20"/>
          <p:cNvSpPr/>
          <p:nvPr/>
        </p:nvSpPr>
        <p:spPr>
          <a:xfrm>
            <a:off x="7040880" y="3520440"/>
            <a:ext cx="1371600" cy="320040"/>
          </a:xfrm>
          <a:prstGeom prst="rect">
            <a:avLst/>
          </a:prstGeom>
          <a:noFill/>
          <a:ln/>
        </p:spPr>
        <p:txBody>
          <a:bodyPr wrap="square" lIns="0" tIns="0" rIns="0" bIns="0" rtlCol="0" anchor="ctr"/>
          <a:lstStyle/>
          <a:p>
            <a:pPr algn="ctr" indent="0" marL="0">
              <a:buNone/>
            </a:pPr>
            <a:r>
              <a:rPr lang="en-US" sz="1500" b="1" dirty="0">
                <a:solidFill>
                  <a:srgbClr val="1A1B1F"/>
                </a:solidFill>
                <a:latin typeface="Georgia" pitchFamily="34" charset="0"/>
                <a:ea typeface="Georgia" pitchFamily="34" charset="-122"/>
                <a:cs typeface="Georgia" pitchFamily="34" charset="-120"/>
              </a:rPr>
              <a:t>Verify</a:t>
            </a:r>
            <a:endParaRPr lang="en-US" sz="1500" dirty="0"/>
          </a:p>
        </p:txBody>
      </p:sp>
      <p:sp>
        <p:nvSpPr>
          <p:cNvPr id="27" name="Text 21"/>
          <p:cNvSpPr/>
          <p:nvPr/>
        </p:nvSpPr>
        <p:spPr>
          <a:xfrm>
            <a:off x="6903720" y="3840480"/>
            <a:ext cx="1645920" cy="457200"/>
          </a:xfrm>
          <a:prstGeom prst="rect">
            <a:avLst/>
          </a:prstGeom>
          <a:noFill/>
          <a:ln/>
        </p:spPr>
        <p:txBody>
          <a:bodyPr wrap="square" lIns="0" tIns="0" rIns="0" bIns="0" rtlCol="0" anchor="ctr"/>
          <a:lstStyle/>
          <a:p>
            <a:pPr algn="ctr" indent="0" marL="0">
              <a:buNone/>
            </a:pPr>
            <a:r>
              <a:rPr lang="en-US" sz="1100" dirty="0">
                <a:solidFill>
                  <a:srgbClr val="6B6A66"/>
                </a:solidFill>
                <a:latin typeface="Calibri" pitchFamily="34" charset="0"/>
                <a:ea typeface="Calibri" pitchFamily="34" charset="-122"/>
                <a:cs typeface="Calibri" pitchFamily="34" charset="-120"/>
              </a:rPr>
              <a:t>Run tests, check output</a:t>
            </a:r>
            <a:endParaRPr lang="en-US" sz="1100" dirty="0"/>
          </a:p>
        </p:txBody>
      </p:sp>
      <p:sp>
        <p:nvSpPr>
          <p:cNvPr id="28" name="Text 22"/>
          <p:cNvSpPr/>
          <p:nvPr/>
        </p:nvSpPr>
        <p:spPr>
          <a:xfrm>
            <a:off x="3200400" y="4526280"/>
            <a:ext cx="2743200" cy="274320"/>
          </a:xfrm>
          <a:prstGeom prst="rect">
            <a:avLst/>
          </a:prstGeom>
          <a:noFill/>
          <a:ln/>
        </p:spPr>
        <p:txBody>
          <a:bodyPr wrap="square" lIns="0" tIns="0" rIns="0" bIns="0" rtlCol="0" anchor="ctr"/>
          <a:lstStyle/>
          <a:p>
            <a:pPr algn="ctr" indent="0" marL="0">
              <a:buNone/>
            </a:pPr>
            <a:r>
              <a:rPr lang="en-US" sz="1100" i="1" dirty="0">
                <a:solidFill>
                  <a:srgbClr val="6B6A66"/>
                </a:solidFill>
                <a:latin typeface="Calibri" pitchFamily="34" charset="0"/>
                <a:ea typeface="Calibri" pitchFamily="34" charset="-122"/>
                <a:cs typeface="Calibri" pitchFamily="34" charset="-120"/>
              </a:rPr>
              <a:t>↻  repeat until done</a:t>
            </a:r>
            <a:endParaRPr lang="en-US" sz="1100" dirty="0"/>
          </a:p>
        </p:txBody>
      </p:sp>
      <p:sp>
        <p:nvSpPr>
          <p:cNvPr id="29" name="Text 23"/>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03  —  TERMINOLOGY</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The building blocks</a:t>
            </a:r>
            <a:endParaRPr lang="en-US" sz="36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Four concepts come up constantly. Knowing them unlocks most of the power-user features.</a:t>
            </a:r>
            <a:endParaRPr lang="en-US" sz="1300" dirty="0"/>
          </a:p>
        </p:txBody>
      </p:sp>
      <p:sp>
        <p:nvSpPr>
          <p:cNvPr id="5" name="Shape 3"/>
          <p:cNvSpPr/>
          <p:nvPr/>
        </p:nvSpPr>
        <p:spPr>
          <a:xfrm>
            <a:off x="502920" y="1965960"/>
            <a:ext cx="4023360" cy="13716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502920" y="1965960"/>
            <a:ext cx="64008" cy="1371600"/>
          </a:xfrm>
          <a:prstGeom prst="rect">
            <a:avLst/>
          </a:prstGeom>
          <a:solidFill>
            <a:srgbClr val="CC785C"/>
          </a:solidFill>
          <a:ln w="12700">
            <a:solidFill>
              <a:srgbClr val="CC785C"/>
            </a:solidFill>
            <a:prstDash val="solid"/>
          </a:ln>
        </p:spPr>
      </p:sp>
      <p:pic>
        <p:nvPicPr>
          <p:cNvPr id="7" name="Image 0" descr="preencoded.png">    </p:cNvPr>
          <p:cNvPicPr>
            <a:picLocks noChangeAspect="1"/>
          </p:cNvPicPr>
          <p:nvPr/>
        </p:nvPicPr>
        <p:blipFill>
          <a:blip r:embed="rId1"/>
          <a:stretch>
            <a:fillRect/>
          </a:stretch>
        </p:blipFill>
        <p:spPr>
          <a:xfrm>
            <a:off x="758952" y="2194560"/>
            <a:ext cx="320040" cy="320040"/>
          </a:xfrm>
          <a:prstGeom prst="rect">
            <a:avLst/>
          </a:prstGeom>
        </p:spPr>
      </p:pic>
      <p:sp>
        <p:nvSpPr>
          <p:cNvPr id="8" name="Text 5"/>
          <p:cNvSpPr/>
          <p:nvPr/>
        </p:nvSpPr>
        <p:spPr>
          <a:xfrm>
            <a:off x="1188720" y="2130552"/>
            <a:ext cx="3200400" cy="320040"/>
          </a:xfrm>
          <a:prstGeom prst="rect">
            <a:avLst/>
          </a:prstGeom>
          <a:noFill/>
          <a:ln/>
        </p:spPr>
        <p:txBody>
          <a:bodyPr wrap="square" lIns="0" tIns="0" rIns="0" bIns="0" rtlCol="0" anchor="ctr"/>
          <a:lstStyle/>
          <a:p>
            <a:pPr indent="0" marL="0">
              <a:buNone/>
            </a:pPr>
            <a:r>
              <a:rPr lang="en-US" sz="1800" b="1" dirty="0">
                <a:solidFill>
                  <a:srgbClr val="1A1B1F"/>
                </a:solidFill>
                <a:latin typeface="Georgia" pitchFamily="34" charset="0"/>
                <a:ea typeface="Georgia" pitchFamily="34" charset="-122"/>
                <a:cs typeface="Georgia" pitchFamily="34" charset="-120"/>
              </a:rPr>
              <a:t>MCP</a:t>
            </a:r>
            <a:endParaRPr lang="en-US" sz="1800" dirty="0"/>
          </a:p>
        </p:txBody>
      </p:sp>
      <p:sp>
        <p:nvSpPr>
          <p:cNvPr id="9" name="Text 6"/>
          <p:cNvSpPr/>
          <p:nvPr/>
        </p:nvSpPr>
        <p:spPr>
          <a:xfrm>
            <a:off x="1188720" y="2423160"/>
            <a:ext cx="3200400" cy="219456"/>
          </a:xfrm>
          <a:prstGeom prst="rect">
            <a:avLst/>
          </a:prstGeom>
          <a:noFill/>
          <a:ln/>
        </p:spPr>
        <p:txBody>
          <a:bodyPr wrap="square" lIns="0" tIns="0" rIns="0" bIns="0"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Model Context Protocol</a:t>
            </a:r>
            <a:endParaRPr lang="en-US" sz="1000" dirty="0"/>
          </a:p>
        </p:txBody>
      </p:sp>
      <p:sp>
        <p:nvSpPr>
          <p:cNvPr id="10" name="Text 7"/>
          <p:cNvSpPr/>
          <p:nvPr/>
        </p:nvSpPr>
        <p:spPr>
          <a:xfrm>
            <a:off x="758952" y="2697480"/>
            <a:ext cx="3611880" cy="59436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An open standard for connecting Claude to external tools and data — Google Drive, Jira, Slack, databases, or your own internal APIs.</a:t>
            </a:r>
            <a:endParaRPr lang="en-US" sz="1100" dirty="0"/>
          </a:p>
        </p:txBody>
      </p:sp>
      <p:sp>
        <p:nvSpPr>
          <p:cNvPr id="11" name="Shape 8"/>
          <p:cNvSpPr/>
          <p:nvPr/>
        </p:nvSpPr>
        <p:spPr>
          <a:xfrm>
            <a:off x="4617720" y="1965960"/>
            <a:ext cx="4023360" cy="13716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2" name="Shape 9"/>
          <p:cNvSpPr/>
          <p:nvPr/>
        </p:nvSpPr>
        <p:spPr>
          <a:xfrm>
            <a:off x="4617720" y="1965960"/>
            <a:ext cx="64008" cy="1371600"/>
          </a:xfrm>
          <a:prstGeom prst="rect">
            <a:avLst/>
          </a:prstGeom>
          <a:solidFill>
            <a:srgbClr val="CC785C"/>
          </a:solidFill>
          <a:ln w="12700">
            <a:solidFill>
              <a:srgbClr val="CC785C"/>
            </a:solidFill>
            <a:prstDash val="solid"/>
          </a:ln>
        </p:spPr>
      </p:sp>
      <p:pic>
        <p:nvPicPr>
          <p:cNvPr id="13" name="Image 1" descr="preencoded.png">    </p:cNvPr>
          <p:cNvPicPr>
            <a:picLocks noChangeAspect="1"/>
          </p:cNvPicPr>
          <p:nvPr/>
        </p:nvPicPr>
        <p:blipFill>
          <a:blip r:embed="rId2"/>
          <a:stretch>
            <a:fillRect/>
          </a:stretch>
        </p:blipFill>
        <p:spPr>
          <a:xfrm>
            <a:off x="4873752" y="2194560"/>
            <a:ext cx="320040" cy="320040"/>
          </a:xfrm>
          <a:prstGeom prst="rect">
            <a:avLst/>
          </a:prstGeom>
        </p:spPr>
      </p:pic>
      <p:sp>
        <p:nvSpPr>
          <p:cNvPr id="14" name="Text 10"/>
          <p:cNvSpPr/>
          <p:nvPr/>
        </p:nvSpPr>
        <p:spPr>
          <a:xfrm>
            <a:off x="5303520" y="2130552"/>
            <a:ext cx="3200400" cy="320040"/>
          </a:xfrm>
          <a:prstGeom prst="rect">
            <a:avLst/>
          </a:prstGeom>
          <a:noFill/>
          <a:ln/>
        </p:spPr>
        <p:txBody>
          <a:bodyPr wrap="square" lIns="0" tIns="0" rIns="0" bIns="0" rtlCol="0" anchor="ctr"/>
          <a:lstStyle/>
          <a:p>
            <a:pPr indent="0" marL="0">
              <a:buNone/>
            </a:pPr>
            <a:r>
              <a:rPr lang="en-US" sz="1800" b="1" dirty="0">
                <a:solidFill>
                  <a:srgbClr val="1A1B1F"/>
                </a:solidFill>
                <a:latin typeface="Georgia" pitchFamily="34" charset="0"/>
                <a:ea typeface="Georgia" pitchFamily="34" charset="-122"/>
                <a:cs typeface="Georgia" pitchFamily="34" charset="-120"/>
              </a:rPr>
              <a:t>Skills</a:t>
            </a:r>
            <a:endParaRPr lang="en-US" sz="1800" dirty="0"/>
          </a:p>
        </p:txBody>
      </p:sp>
      <p:sp>
        <p:nvSpPr>
          <p:cNvPr id="15" name="Text 11"/>
          <p:cNvSpPr/>
          <p:nvPr/>
        </p:nvSpPr>
        <p:spPr>
          <a:xfrm>
            <a:off x="5303520" y="2423160"/>
            <a:ext cx="3200400" cy="219456"/>
          </a:xfrm>
          <a:prstGeom prst="rect">
            <a:avLst/>
          </a:prstGeom>
          <a:noFill/>
          <a:ln/>
        </p:spPr>
        <p:txBody>
          <a:bodyPr wrap="square" lIns="0" tIns="0" rIns="0" bIns="0"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SKILL.md folders</a:t>
            </a:r>
            <a:endParaRPr lang="en-US" sz="1000" dirty="0"/>
          </a:p>
        </p:txBody>
      </p:sp>
      <p:sp>
        <p:nvSpPr>
          <p:cNvPr id="16" name="Text 12"/>
          <p:cNvSpPr/>
          <p:nvPr/>
        </p:nvSpPr>
        <p:spPr>
          <a:xfrm>
            <a:off x="4873752" y="2697480"/>
            <a:ext cx="3611880" cy="59436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Reusable packets of expertise. A folder with a SKILL.md file teaches Claude how to do a specific task. Claude auto-loads them when relevant.</a:t>
            </a:r>
            <a:endParaRPr lang="en-US" sz="1100" dirty="0"/>
          </a:p>
        </p:txBody>
      </p:sp>
      <p:sp>
        <p:nvSpPr>
          <p:cNvPr id="17" name="Shape 13"/>
          <p:cNvSpPr/>
          <p:nvPr/>
        </p:nvSpPr>
        <p:spPr>
          <a:xfrm>
            <a:off x="502920" y="3429000"/>
            <a:ext cx="4023360" cy="13716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8" name="Shape 14"/>
          <p:cNvSpPr/>
          <p:nvPr/>
        </p:nvSpPr>
        <p:spPr>
          <a:xfrm>
            <a:off x="502920" y="3429000"/>
            <a:ext cx="64008" cy="1371600"/>
          </a:xfrm>
          <a:prstGeom prst="rect">
            <a:avLst/>
          </a:prstGeom>
          <a:solidFill>
            <a:srgbClr val="CC785C"/>
          </a:solidFill>
          <a:ln w="12700">
            <a:solidFill>
              <a:srgbClr val="CC785C"/>
            </a:solidFill>
            <a:prstDash val="solid"/>
          </a:ln>
        </p:spPr>
      </p:sp>
      <p:pic>
        <p:nvPicPr>
          <p:cNvPr id="19" name="Image 2" descr="preencoded.png">    </p:cNvPr>
          <p:cNvPicPr>
            <a:picLocks noChangeAspect="1"/>
          </p:cNvPicPr>
          <p:nvPr/>
        </p:nvPicPr>
        <p:blipFill>
          <a:blip r:embed="rId3"/>
          <a:stretch>
            <a:fillRect/>
          </a:stretch>
        </p:blipFill>
        <p:spPr>
          <a:xfrm>
            <a:off x="758952" y="3657600"/>
            <a:ext cx="320040" cy="320040"/>
          </a:xfrm>
          <a:prstGeom prst="rect">
            <a:avLst/>
          </a:prstGeom>
        </p:spPr>
      </p:pic>
      <p:sp>
        <p:nvSpPr>
          <p:cNvPr id="20" name="Text 15"/>
          <p:cNvSpPr/>
          <p:nvPr/>
        </p:nvSpPr>
        <p:spPr>
          <a:xfrm>
            <a:off x="1188720" y="3593592"/>
            <a:ext cx="3200400" cy="320040"/>
          </a:xfrm>
          <a:prstGeom prst="rect">
            <a:avLst/>
          </a:prstGeom>
          <a:noFill/>
          <a:ln/>
        </p:spPr>
        <p:txBody>
          <a:bodyPr wrap="square" lIns="0" tIns="0" rIns="0" bIns="0" rtlCol="0" anchor="ctr"/>
          <a:lstStyle/>
          <a:p>
            <a:pPr indent="0" marL="0">
              <a:buNone/>
            </a:pPr>
            <a:r>
              <a:rPr lang="en-US" sz="1800" b="1" dirty="0">
                <a:solidFill>
                  <a:srgbClr val="1A1B1F"/>
                </a:solidFill>
                <a:latin typeface="Georgia" pitchFamily="34" charset="0"/>
                <a:ea typeface="Georgia" pitchFamily="34" charset="-122"/>
                <a:cs typeface="Georgia" pitchFamily="34" charset="-120"/>
              </a:rPr>
              <a:t>Subagents</a:t>
            </a:r>
            <a:endParaRPr lang="en-US" sz="1800" dirty="0"/>
          </a:p>
        </p:txBody>
      </p:sp>
      <p:sp>
        <p:nvSpPr>
          <p:cNvPr id="21" name="Text 16"/>
          <p:cNvSpPr/>
          <p:nvPr/>
        </p:nvSpPr>
        <p:spPr>
          <a:xfrm>
            <a:off x="1188720" y="3886200"/>
            <a:ext cx="3200400" cy="219456"/>
          </a:xfrm>
          <a:prstGeom prst="rect">
            <a:avLst/>
          </a:prstGeom>
          <a:noFill/>
          <a:ln/>
        </p:spPr>
        <p:txBody>
          <a:bodyPr wrap="square" lIns="0" tIns="0" rIns="0" bIns="0"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Specialized helpers</a:t>
            </a:r>
            <a:endParaRPr lang="en-US" sz="1000" dirty="0"/>
          </a:p>
        </p:txBody>
      </p:sp>
      <p:sp>
        <p:nvSpPr>
          <p:cNvPr id="22" name="Text 17"/>
          <p:cNvSpPr/>
          <p:nvPr/>
        </p:nvSpPr>
        <p:spPr>
          <a:xfrm>
            <a:off x="758952" y="4160520"/>
            <a:ext cx="3611880" cy="59436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Scoped agents spun up from the main session. Each gets its own tools and focus — useful for parallel work and narrow, repeated tasks.</a:t>
            </a:r>
            <a:endParaRPr lang="en-US" sz="1100" dirty="0"/>
          </a:p>
        </p:txBody>
      </p:sp>
      <p:sp>
        <p:nvSpPr>
          <p:cNvPr id="23" name="Shape 18"/>
          <p:cNvSpPr/>
          <p:nvPr/>
        </p:nvSpPr>
        <p:spPr>
          <a:xfrm>
            <a:off x="4617720" y="3429000"/>
            <a:ext cx="4023360" cy="13716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24" name="Shape 19"/>
          <p:cNvSpPr/>
          <p:nvPr/>
        </p:nvSpPr>
        <p:spPr>
          <a:xfrm>
            <a:off x="4617720" y="3429000"/>
            <a:ext cx="64008" cy="1371600"/>
          </a:xfrm>
          <a:prstGeom prst="rect">
            <a:avLst/>
          </a:prstGeom>
          <a:solidFill>
            <a:srgbClr val="CC785C"/>
          </a:solidFill>
          <a:ln w="12700">
            <a:solidFill>
              <a:srgbClr val="CC785C"/>
            </a:solidFill>
            <a:prstDash val="solid"/>
          </a:ln>
        </p:spPr>
      </p:sp>
      <p:pic>
        <p:nvPicPr>
          <p:cNvPr id="25" name="Image 3" descr="preencoded.png">    </p:cNvPr>
          <p:cNvPicPr>
            <a:picLocks noChangeAspect="1"/>
          </p:cNvPicPr>
          <p:nvPr/>
        </p:nvPicPr>
        <p:blipFill>
          <a:blip r:embed="rId4"/>
          <a:stretch>
            <a:fillRect/>
          </a:stretch>
        </p:blipFill>
        <p:spPr>
          <a:xfrm>
            <a:off x="4873752" y="3657600"/>
            <a:ext cx="320040" cy="320040"/>
          </a:xfrm>
          <a:prstGeom prst="rect">
            <a:avLst/>
          </a:prstGeom>
        </p:spPr>
      </p:pic>
      <p:sp>
        <p:nvSpPr>
          <p:cNvPr id="26" name="Text 20"/>
          <p:cNvSpPr/>
          <p:nvPr/>
        </p:nvSpPr>
        <p:spPr>
          <a:xfrm>
            <a:off x="5303520" y="3593592"/>
            <a:ext cx="3200400" cy="320040"/>
          </a:xfrm>
          <a:prstGeom prst="rect">
            <a:avLst/>
          </a:prstGeom>
          <a:noFill/>
          <a:ln/>
        </p:spPr>
        <p:txBody>
          <a:bodyPr wrap="square" lIns="0" tIns="0" rIns="0" bIns="0" rtlCol="0" anchor="ctr"/>
          <a:lstStyle/>
          <a:p>
            <a:pPr indent="0" marL="0">
              <a:buNone/>
            </a:pPr>
            <a:r>
              <a:rPr lang="en-US" sz="1800" b="1" dirty="0">
                <a:solidFill>
                  <a:srgbClr val="1A1B1F"/>
                </a:solidFill>
                <a:latin typeface="Georgia" pitchFamily="34" charset="0"/>
                <a:ea typeface="Georgia" pitchFamily="34" charset="-122"/>
                <a:cs typeface="Georgia" pitchFamily="34" charset="-120"/>
              </a:rPr>
              <a:t>CLAUDE.md</a:t>
            </a:r>
            <a:endParaRPr lang="en-US" sz="1800" dirty="0"/>
          </a:p>
        </p:txBody>
      </p:sp>
      <p:sp>
        <p:nvSpPr>
          <p:cNvPr id="27" name="Text 21"/>
          <p:cNvSpPr/>
          <p:nvPr/>
        </p:nvSpPr>
        <p:spPr>
          <a:xfrm>
            <a:off x="5303520" y="3886200"/>
            <a:ext cx="3200400" cy="219456"/>
          </a:xfrm>
          <a:prstGeom prst="rect">
            <a:avLst/>
          </a:prstGeom>
          <a:noFill/>
          <a:ln/>
        </p:spPr>
        <p:txBody>
          <a:bodyPr wrap="square" lIns="0" tIns="0" rIns="0" bIns="0"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Project memory</a:t>
            </a:r>
            <a:endParaRPr lang="en-US" sz="1000" dirty="0"/>
          </a:p>
        </p:txBody>
      </p:sp>
      <p:sp>
        <p:nvSpPr>
          <p:cNvPr id="28" name="Text 22"/>
          <p:cNvSpPr/>
          <p:nvPr/>
        </p:nvSpPr>
        <p:spPr>
          <a:xfrm>
            <a:off x="4873752" y="4160520"/>
            <a:ext cx="3611880" cy="59436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A markdown file at your project root. Claude reads it at the start of every session — the place for project conventions, do's and don'ts.</a:t>
            </a:r>
            <a:endParaRPr lang="en-US" sz="1100" dirty="0"/>
          </a:p>
        </p:txBody>
      </p:sp>
      <p:sp>
        <p:nvSpPr>
          <p:cNvPr id="29" name="Text 23"/>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04  —  PROJECT FILES</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Files Claude reads</a:t>
            </a:r>
            <a:endParaRPr lang="en-US" sz="36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Claude Code is configured through markdown files. CLAUDE.md is the main one; the .claude/ folder holds everything else.</a:t>
            </a:r>
            <a:endParaRPr lang="en-US" sz="1300" dirty="0"/>
          </a:p>
        </p:txBody>
      </p:sp>
      <p:sp>
        <p:nvSpPr>
          <p:cNvPr id="5" name="Shape 3"/>
          <p:cNvSpPr/>
          <p:nvPr/>
        </p:nvSpPr>
        <p:spPr>
          <a:xfrm>
            <a:off x="502920" y="1920240"/>
            <a:ext cx="45720" cy="603504"/>
          </a:xfrm>
          <a:prstGeom prst="rect">
            <a:avLst/>
          </a:prstGeom>
          <a:solidFill>
            <a:srgbClr val="CC785C"/>
          </a:solidFill>
          <a:ln w="12700">
            <a:solidFill>
              <a:srgbClr val="CC785C"/>
            </a:solidFill>
            <a:prstDash val="solid"/>
          </a:ln>
        </p:spPr>
      </p:sp>
      <p:pic>
        <p:nvPicPr>
          <p:cNvPr id="6" name="Image 0" descr="preencoded.png">    </p:cNvPr>
          <p:cNvPicPr>
            <a:picLocks noChangeAspect="1"/>
          </p:cNvPicPr>
          <p:nvPr/>
        </p:nvPicPr>
        <p:blipFill>
          <a:blip r:embed="rId1"/>
          <a:stretch>
            <a:fillRect/>
          </a:stretch>
        </p:blipFill>
        <p:spPr>
          <a:xfrm>
            <a:off x="685800" y="1965960"/>
            <a:ext cx="256032" cy="256032"/>
          </a:xfrm>
          <a:prstGeom prst="rect">
            <a:avLst/>
          </a:prstGeom>
        </p:spPr>
      </p:pic>
      <p:sp>
        <p:nvSpPr>
          <p:cNvPr id="7" name="Text 4"/>
          <p:cNvSpPr/>
          <p:nvPr/>
        </p:nvSpPr>
        <p:spPr>
          <a:xfrm>
            <a:off x="1051560" y="1920240"/>
            <a:ext cx="3200400" cy="274320"/>
          </a:xfrm>
          <a:prstGeom prst="rect">
            <a:avLst/>
          </a:prstGeom>
          <a:noFill/>
          <a:ln/>
        </p:spPr>
        <p:txBody>
          <a:bodyPr wrap="square" lIns="0" tIns="0" rIns="0" bIns="0" rtlCol="0" anchor="ctr"/>
          <a:lstStyle/>
          <a:p>
            <a:pPr indent="0" marL="0">
              <a:buNone/>
            </a:pPr>
            <a:r>
              <a:rPr lang="en-US" sz="1200" b="1" dirty="0">
                <a:solidFill>
                  <a:srgbClr val="1A1B1F"/>
                </a:solidFill>
                <a:latin typeface="Consolas" pitchFamily="34" charset="0"/>
                <a:ea typeface="Consolas" pitchFamily="34" charset="-122"/>
                <a:cs typeface="Consolas" pitchFamily="34" charset="-120"/>
              </a:rPr>
              <a:t>CLAUDE.md</a:t>
            </a:r>
            <a:endParaRPr lang="en-US" sz="1200" dirty="0"/>
          </a:p>
        </p:txBody>
      </p:sp>
      <p:sp>
        <p:nvSpPr>
          <p:cNvPr id="8" name="Text 5"/>
          <p:cNvSpPr/>
          <p:nvPr/>
        </p:nvSpPr>
        <p:spPr>
          <a:xfrm>
            <a:off x="1051560" y="2176272"/>
            <a:ext cx="3200400" cy="201168"/>
          </a:xfrm>
          <a:prstGeom prst="rect">
            <a:avLst/>
          </a:prstGeom>
          <a:noFill/>
          <a:ln/>
        </p:spPr>
        <p:txBody>
          <a:bodyPr wrap="square" lIns="0" tIns="0" rIns="0" bIns="0" rtlCol="0" anchor="ctr"/>
          <a:lstStyle/>
          <a:p>
            <a:pPr indent="0" marL="0">
              <a:buNone/>
            </a:pPr>
            <a:r>
              <a:rPr lang="en-US" sz="850" b="1" spc="100" kern="0" dirty="0">
                <a:solidFill>
                  <a:srgbClr val="CC785C"/>
                </a:solidFill>
                <a:latin typeface="Calibri" pitchFamily="34" charset="0"/>
                <a:ea typeface="Calibri" pitchFamily="34" charset="-122"/>
                <a:cs typeface="Calibri" pitchFamily="34" charset="-120"/>
              </a:rPr>
              <a:t>Project root, committed</a:t>
            </a:r>
            <a:endParaRPr lang="en-US" sz="850" dirty="0"/>
          </a:p>
        </p:txBody>
      </p:sp>
      <p:sp>
        <p:nvSpPr>
          <p:cNvPr id="9" name="Text 6"/>
          <p:cNvSpPr/>
          <p:nvPr/>
        </p:nvSpPr>
        <p:spPr>
          <a:xfrm>
            <a:off x="685800" y="2359152"/>
            <a:ext cx="3931920" cy="256032"/>
          </a:xfrm>
          <a:prstGeom prst="rect">
            <a:avLst/>
          </a:prstGeom>
          <a:noFill/>
          <a:ln/>
        </p:spPr>
        <p:txBody>
          <a:bodyPr wrap="square" lIns="0" tIns="0" rIns="0" bIns="0" rtlCol="0" anchor="ctr"/>
          <a:lstStyle/>
          <a:p>
            <a:pPr indent="0" marL="0">
              <a:buNone/>
            </a:pPr>
            <a:r>
              <a:rPr lang="en-US" sz="1000" dirty="0">
                <a:solidFill>
                  <a:srgbClr val="6B6A66"/>
                </a:solidFill>
                <a:latin typeface="Calibri" pitchFamily="34" charset="0"/>
                <a:ea typeface="Calibri" pitchFamily="34" charset="-122"/>
                <a:cs typeface="Calibri" pitchFamily="34" charset="-120"/>
              </a:rPr>
              <a:t>The main memory file. Conventions, commands, gotchas. Auto-loaded every session.</a:t>
            </a:r>
            <a:endParaRPr lang="en-US" sz="1000" dirty="0"/>
          </a:p>
        </p:txBody>
      </p:sp>
      <p:sp>
        <p:nvSpPr>
          <p:cNvPr id="10" name="Shape 7"/>
          <p:cNvSpPr/>
          <p:nvPr/>
        </p:nvSpPr>
        <p:spPr>
          <a:xfrm>
            <a:off x="502920" y="2633472"/>
            <a:ext cx="45720" cy="603504"/>
          </a:xfrm>
          <a:prstGeom prst="rect">
            <a:avLst/>
          </a:prstGeom>
          <a:solidFill>
            <a:srgbClr val="CC785C"/>
          </a:solidFill>
          <a:ln w="12700">
            <a:solidFill>
              <a:srgbClr val="CC785C"/>
            </a:solidFill>
            <a:prstDash val="solid"/>
          </a:ln>
        </p:spPr>
      </p:sp>
      <p:pic>
        <p:nvPicPr>
          <p:cNvPr id="11" name="Image 1" descr="preencoded.png">    </p:cNvPr>
          <p:cNvPicPr>
            <a:picLocks noChangeAspect="1"/>
          </p:cNvPicPr>
          <p:nvPr/>
        </p:nvPicPr>
        <p:blipFill>
          <a:blip r:embed="rId2"/>
          <a:stretch>
            <a:fillRect/>
          </a:stretch>
        </p:blipFill>
        <p:spPr>
          <a:xfrm>
            <a:off x="685800" y="2679192"/>
            <a:ext cx="256032" cy="256032"/>
          </a:xfrm>
          <a:prstGeom prst="rect">
            <a:avLst/>
          </a:prstGeom>
        </p:spPr>
      </p:pic>
      <p:sp>
        <p:nvSpPr>
          <p:cNvPr id="12" name="Text 8"/>
          <p:cNvSpPr/>
          <p:nvPr/>
        </p:nvSpPr>
        <p:spPr>
          <a:xfrm>
            <a:off x="1051560" y="2633472"/>
            <a:ext cx="3200400" cy="274320"/>
          </a:xfrm>
          <a:prstGeom prst="rect">
            <a:avLst/>
          </a:prstGeom>
          <a:noFill/>
          <a:ln/>
        </p:spPr>
        <p:txBody>
          <a:bodyPr wrap="square" lIns="0" tIns="0" rIns="0" bIns="0" rtlCol="0" anchor="ctr"/>
          <a:lstStyle/>
          <a:p>
            <a:pPr indent="0" marL="0">
              <a:buNone/>
            </a:pPr>
            <a:r>
              <a:rPr lang="en-US" sz="1200" b="1" dirty="0">
                <a:solidFill>
                  <a:srgbClr val="1A1B1F"/>
                </a:solidFill>
                <a:latin typeface="Consolas" pitchFamily="34" charset="0"/>
                <a:ea typeface="Consolas" pitchFamily="34" charset="-122"/>
                <a:cs typeface="Consolas" pitchFamily="34" charset="-120"/>
              </a:rPr>
              <a:t>CLAUDE.local.md</a:t>
            </a:r>
            <a:endParaRPr lang="en-US" sz="1200" dirty="0"/>
          </a:p>
        </p:txBody>
      </p:sp>
      <p:sp>
        <p:nvSpPr>
          <p:cNvPr id="13" name="Text 9"/>
          <p:cNvSpPr/>
          <p:nvPr/>
        </p:nvSpPr>
        <p:spPr>
          <a:xfrm>
            <a:off x="1051560" y="2889504"/>
            <a:ext cx="3200400" cy="201168"/>
          </a:xfrm>
          <a:prstGeom prst="rect">
            <a:avLst/>
          </a:prstGeom>
          <a:noFill/>
          <a:ln/>
        </p:spPr>
        <p:txBody>
          <a:bodyPr wrap="square" lIns="0" tIns="0" rIns="0" bIns="0" rtlCol="0" anchor="ctr"/>
          <a:lstStyle/>
          <a:p>
            <a:pPr indent="0" marL="0">
              <a:buNone/>
            </a:pPr>
            <a:r>
              <a:rPr lang="en-US" sz="850" b="1" spc="100" kern="0" dirty="0">
                <a:solidFill>
                  <a:srgbClr val="CC785C"/>
                </a:solidFill>
                <a:latin typeface="Calibri" pitchFamily="34" charset="0"/>
                <a:ea typeface="Calibri" pitchFamily="34" charset="-122"/>
                <a:cs typeface="Calibri" pitchFamily="34" charset="-120"/>
              </a:rPr>
              <a:t>Project root, gitignored</a:t>
            </a:r>
            <a:endParaRPr lang="en-US" sz="850" dirty="0"/>
          </a:p>
        </p:txBody>
      </p:sp>
      <p:sp>
        <p:nvSpPr>
          <p:cNvPr id="14" name="Text 10"/>
          <p:cNvSpPr/>
          <p:nvPr/>
        </p:nvSpPr>
        <p:spPr>
          <a:xfrm>
            <a:off x="685800" y="3072384"/>
            <a:ext cx="3931920" cy="256032"/>
          </a:xfrm>
          <a:prstGeom prst="rect">
            <a:avLst/>
          </a:prstGeom>
          <a:noFill/>
          <a:ln/>
        </p:spPr>
        <p:txBody>
          <a:bodyPr wrap="square" lIns="0" tIns="0" rIns="0" bIns="0" rtlCol="0" anchor="ctr"/>
          <a:lstStyle/>
          <a:p>
            <a:pPr indent="0" marL="0">
              <a:buNone/>
            </a:pPr>
            <a:r>
              <a:rPr lang="en-US" sz="1000" dirty="0">
                <a:solidFill>
                  <a:srgbClr val="6B6A66"/>
                </a:solidFill>
                <a:latin typeface="Calibri" pitchFamily="34" charset="0"/>
                <a:ea typeface="Calibri" pitchFamily="34" charset="-122"/>
                <a:cs typeface="Calibri" pitchFamily="34" charset="-120"/>
              </a:rPr>
              <a:t>Your personal notes for this repo. Appended after CLAUDE.md — wins on conflicts.</a:t>
            </a:r>
            <a:endParaRPr lang="en-US" sz="1000" dirty="0"/>
          </a:p>
        </p:txBody>
      </p:sp>
      <p:sp>
        <p:nvSpPr>
          <p:cNvPr id="15" name="Shape 11"/>
          <p:cNvSpPr/>
          <p:nvPr/>
        </p:nvSpPr>
        <p:spPr>
          <a:xfrm>
            <a:off x="502920" y="3346704"/>
            <a:ext cx="45720" cy="603504"/>
          </a:xfrm>
          <a:prstGeom prst="rect">
            <a:avLst/>
          </a:prstGeom>
          <a:solidFill>
            <a:srgbClr val="CC785C"/>
          </a:solidFill>
          <a:ln w="12700">
            <a:solidFill>
              <a:srgbClr val="CC785C"/>
            </a:solidFill>
            <a:prstDash val="solid"/>
          </a:ln>
        </p:spPr>
      </p:sp>
      <p:pic>
        <p:nvPicPr>
          <p:cNvPr id="16" name="Image 2" descr="preencoded.png">    </p:cNvPr>
          <p:cNvPicPr>
            <a:picLocks noChangeAspect="1"/>
          </p:cNvPicPr>
          <p:nvPr/>
        </p:nvPicPr>
        <p:blipFill>
          <a:blip r:embed="rId3"/>
          <a:stretch>
            <a:fillRect/>
          </a:stretch>
        </p:blipFill>
        <p:spPr>
          <a:xfrm>
            <a:off x="685800" y="3392424"/>
            <a:ext cx="256032" cy="256032"/>
          </a:xfrm>
          <a:prstGeom prst="rect">
            <a:avLst/>
          </a:prstGeom>
        </p:spPr>
      </p:pic>
      <p:sp>
        <p:nvSpPr>
          <p:cNvPr id="17" name="Text 12"/>
          <p:cNvSpPr/>
          <p:nvPr/>
        </p:nvSpPr>
        <p:spPr>
          <a:xfrm>
            <a:off x="1051560" y="3346704"/>
            <a:ext cx="3200400" cy="274320"/>
          </a:xfrm>
          <a:prstGeom prst="rect">
            <a:avLst/>
          </a:prstGeom>
          <a:noFill/>
          <a:ln/>
        </p:spPr>
        <p:txBody>
          <a:bodyPr wrap="square" lIns="0" tIns="0" rIns="0" bIns="0" rtlCol="0" anchor="ctr"/>
          <a:lstStyle/>
          <a:p>
            <a:pPr indent="0" marL="0">
              <a:buNone/>
            </a:pPr>
            <a:r>
              <a:rPr lang="en-US" sz="1200" b="1" dirty="0">
                <a:solidFill>
                  <a:srgbClr val="1A1B1F"/>
                </a:solidFill>
                <a:latin typeface="Consolas" pitchFamily="34" charset="0"/>
                <a:ea typeface="Consolas" pitchFamily="34" charset="-122"/>
                <a:cs typeface="Consolas" pitchFamily="34" charset="-120"/>
              </a:rPr>
              <a:t>~/.claude/CLAUDE.md</a:t>
            </a:r>
            <a:endParaRPr lang="en-US" sz="1200" dirty="0"/>
          </a:p>
        </p:txBody>
      </p:sp>
      <p:sp>
        <p:nvSpPr>
          <p:cNvPr id="18" name="Text 13"/>
          <p:cNvSpPr/>
          <p:nvPr/>
        </p:nvSpPr>
        <p:spPr>
          <a:xfrm>
            <a:off x="1051560" y="3602736"/>
            <a:ext cx="3200400" cy="201168"/>
          </a:xfrm>
          <a:prstGeom prst="rect">
            <a:avLst/>
          </a:prstGeom>
          <a:noFill/>
          <a:ln/>
        </p:spPr>
        <p:txBody>
          <a:bodyPr wrap="square" lIns="0" tIns="0" rIns="0" bIns="0" rtlCol="0" anchor="ctr"/>
          <a:lstStyle/>
          <a:p>
            <a:pPr indent="0" marL="0">
              <a:buNone/>
            </a:pPr>
            <a:r>
              <a:rPr lang="en-US" sz="850" b="1" spc="100" kern="0" dirty="0">
                <a:solidFill>
                  <a:srgbClr val="CC785C"/>
                </a:solidFill>
                <a:latin typeface="Calibri" pitchFamily="34" charset="0"/>
                <a:ea typeface="Calibri" pitchFamily="34" charset="-122"/>
                <a:cs typeface="Calibri" pitchFamily="34" charset="-120"/>
              </a:rPr>
              <a:t>Home directory, global</a:t>
            </a:r>
            <a:endParaRPr lang="en-US" sz="850" dirty="0"/>
          </a:p>
        </p:txBody>
      </p:sp>
      <p:sp>
        <p:nvSpPr>
          <p:cNvPr id="19" name="Text 14"/>
          <p:cNvSpPr/>
          <p:nvPr/>
        </p:nvSpPr>
        <p:spPr>
          <a:xfrm>
            <a:off x="685800" y="3785616"/>
            <a:ext cx="3931920" cy="256032"/>
          </a:xfrm>
          <a:prstGeom prst="rect">
            <a:avLst/>
          </a:prstGeom>
          <a:noFill/>
          <a:ln/>
        </p:spPr>
        <p:txBody>
          <a:bodyPr wrap="square" lIns="0" tIns="0" rIns="0" bIns="0" rtlCol="0" anchor="ctr"/>
          <a:lstStyle/>
          <a:p>
            <a:pPr indent="0" marL="0">
              <a:buNone/>
            </a:pPr>
            <a:r>
              <a:rPr lang="en-US" sz="1000" dirty="0">
                <a:solidFill>
                  <a:srgbClr val="6B6A66"/>
                </a:solidFill>
                <a:latin typeface="Calibri" pitchFamily="34" charset="0"/>
                <a:ea typeface="Calibri" pitchFamily="34" charset="-122"/>
                <a:cs typeface="Calibri" pitchFamily="34" charset="-120"/>
              </a:rPr>
              <a:t>Personal preferences applied across every project you open.</a:t>
            </a:r>
            <a:endParaRPr lang="en-US" sz="1000" dirty="0"/>
          </a:p>
        </p:txBody>
      </p:sp>
      <p:sp>
        <p:nvSpPr>
          <p:cNvPr id="20" name="Shape 15"/>
          <p:cNvSpPr/>
          <p:nvPr/>
        </p:nvSpPr>
        <p:spPr>
          <a:xfrm>
            <a:off x="502920" y="4059936"/>
            <a:ext cx="45720" cy="603504"/>
          </a:xfrm>
          <a:prstGeom prst="rect">
            <a:avLst/>
          </a:prstGeom>
          <a:solidFill>
            <a:srgbClr val="CC785C"/>
          </a:solidFill>
          <a:ln w="12700">
            <a:solidFill>
              <a:srgbClr val="CC785C"/>
            </a:solidFill>
            <a:prstDash val="solid"/>
          </a:ln>
        </p:spPr>
      </p:sp>
      <p:pic>
        <p:nvPicPr>
          <p:cNvPr id="21" name="Image 3" descr="preencoded.png">    </p:cNvPr>
          <p:cNvPicPr>
            <a:picLocks noChangeAspect="1"/>
          </p:cNvPicPr>
          <p:nvPr/>
        </p:nvPicPr>
        <p:blipFill>
          <a:blip r:embed="rId4"/>
          <a:stretch>
            <a:fillRect/>
          </a:stretch>
        </p:blipFill>
        <p:spPr>
          <a:xfrm>
            <a:off x="685800" y="4105656"/>
            <a:ext cx="256032" cy="256032"/>
          </a:xfrm>
          <a:prstGeom prst="rect">
            <a:avLst/>
          </a:prstGeom>
        </p:spPr>
      </p:pic>
      <p:sp>
        <p:nvSpPr>
          <p:cNvPr id="22" name="Text 16"/>
          <p:cNvSpPr/>
          <p:nvPr/>
        </p:nvSpPr>
        <p:spPr>
          <a:xfrm>
            <a:off x="1051560" y="4059936"/>
            <a:ext cx="3200400" cy="274320"/>
          </a:xfrm>
          <a:prstGeom prst="rect">
            <a:avLst/>
          </a:prstGeom>
          <a:noFill/>
          <a:ln/>
        </p:spPr>
        <p:txBody>
          <a:bodyPr wrap="square" lIns="0" tIns="0" rIns="0" bIns="0" rtlCol="0" anchor="ctr"/>
          <a:lstStyle/>
          <a:p>
            <a:pPr indent="0" marL="0">
              <a:buNone/>
            </a:pPr>
            <a:r>
              <a:rPr lang="en-US" sz="1200" b="1" dirty="0">
                <a:solidFill>
                  <a:srgbClr val="1A1B1F"/>
                </a:solidFill>
                <a:latin typeface="Consolas" pitchFamily="34" charset="0"/>
                <a:ea typeface="Consolas" pitchFamily="34" charset="-122"/>
                <a:cs typeface="Consolas" pitchFamily="34" charset="-120"/>
              </a:rPr>
              <a:t>.claude/</a:t>
            </a:r>
            <a:endParaRPr lang="en-US" sz="1200" dirty="0"/>
          </a:p>
        </p:txBody>
      </p:sp>
      <p:sp>
        <p:nvSpPr>
          <p:cNvPr id="23" name="Text 17"/>
          <p:cNvSpPr/>
          <p:nvPr/>
        </p:nvSpPr>
        <p:spPr>
          <a:xfrm>
            <a:off x="1051560" y="4315968"/>
            <a:ext cx="3200400" cy="201168"/>
          </a:xfrm>
          <a:prstGeom prst="rect">
            <a:avLst/>
          </a:prstGeom>
          <a:noFill/>
          <a:ln/>
        </p:spPr>
        <p:txBody>
          <a:bodyPr wrap="square" lIns="0" tIns="0" rIns="0" bIns="0" rtlCol="0" anchor="ctr"/>
          <a:lstStyle/>
          <a:p>
            <a:pPr indent="0" marL="0">
              <a:buNone/>
            </a:pPr>
            <a:r>
              <a:rPr lang="en-US" sz="850" b="1" spc="100" kern="0" dirty="0">
                <a:solidFill>
                  <a:srgbClr val="CC785C"/>
                </a:solidFill>
                <a:latin typeface="Calibri" pitchFamily="34" charset="0"/>
                <a:ea typeface="Calibri" pitchFamily="34" charset="-122"/>
                <a:cs typeface="Calibri" pitchFamily="34" charset="-120"/>
              </a:rPr>
              <a:t>Project root, committed</a:t>
            </a:r>
            <a:endParaRPr lang="en-US" sz="850" dirty="0"/>
          </a:p>
        </p:txBody>
      </p:sp>
      <p:sp>
        <p:nvSpPr>
          <p:cNvPr id="24" name="Text 18"/>
          <p:cNvSpPr/>
          <p:nvPr/>
        </p:nvSpPr>
        <p:spPr>
          <a:xfrm>
            <a:off x="685800" y="4498848"/>
            <a:ext cx="3931920" cy="256032"/>
          </a:xfrm>
          <a:prstGeom prst="rect">
            <a:avLst/>
          </a:prstGeom>
          <a:noFill/>
          <a:ln/>
        </p:spPr>
        <p:txBody>
          <a:bodyPr wrap="square" lIns="0" tIns="0" rIns="0" bIns="0" rtlCol="0" anchor="ctr"/>
          <a:lstStyle/>
          <a:p>
            <a:pPr indent="0" marL="0">
              <a:buNone/>
            </a:pPr>
            <a:r>
              <a:rPr lang="en-US" sz="1000" dirty="0">
                <a:solidFill>
                  <a:srgbClr val="6B6A66"/>
                </a:solidFill>
                <a:latin typeface="Calibri" pitchFamily="34" charset="0"/>
                <a:ea typeface="Calibri" pitchFamily="34" charset="-122"/>
                <a:cs typeface="Calibri" pitchFamily="34" charset="-120"/>
              </a:rPr>
              <a:t>Holds skills/, agents/, rules/, settings.json. The whole team-shared config.</a:t>
            </a:r>
            <a:endParaRPr lang="en-US" sz="1000" dirty="0"/>
          </a:p>
        </p:txBody>
      </p:sp>
      <p:sp>
        <p:nvSpPr>
          <p:cNvPr id="25" name="Shape 19"/>
          <p:cNvSpPr/>
          <p:nvPr/>
        </p:nvSpPr>
        <p:spPr>
          <a:xfrm>
            <a:off x="4892040" y="1920240"/>
            <a:ext cx="3749040" cy="2697480"/>
          </a:xfrm>
          <a:prstGeom prst="rect">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sp>
        <p:nvSpPr>
          <p:cNvPr id="26" name="Shape 20"/>
          <p:cNvSpPr/>
          <p:nvPr/>
        </p:nvSpPr>
        <p:spPr>
          <a:xfrm>
            <a:off x="4892040" y="1920240"/>
            <a:ext cx="3749040" cy="320040"/>
          </a:xfrm>
          <a:prstGeom prst="rect">
            <a:avLst/>
          </a:prstGeom>
          <a:solidFill>
            <a:srgbClr val="2A2B30"/>
          </a:solidFill>
          <a:ln w="12700">
            <a:solidFill>
              <a:srgbClr val="2A2B30"/>
            </a:solidFill>
            <a:prstDash val="solid"/>
          </a:ln>
        </p:spPr>
      </p:sp>
      <p:sp>
        <p:nvSpPr>
          <p:cNvPr id="27" name="Text 21"/>
          <p:cNvSpPr/>
          <p:nvPr/>
        </p:nvSpPr>
        <p:spPr>
          <a:xfrm>
            <a:off x="5074920" y="1975104"/>
            <a:ext cx="3200400" cy="201168"/>
          </a:xfrm>
          <a:prstGeom prst="rect">
            <a:avLst/>
          </a:prstGeom>
          <a:noFill/>
          <a:ln/>
        </p:spPr>
        <p:txBody>
          <a:bodyPr wrap="square" lIns="0" tIns="0" rIns="0" bIns="0" rtlCol="0" anchor="ctr"/>
          <a:lstStyle/>
          <a:p>
            <a:pPr indent="0" marL="0">
              <a:buNone/>
            </a:pPr>
            <a:r>
              <a:rPr lang="en-US" sz="1000" dirty="0">
                <a:solidFill>
                  <a:srgbClr val="A9A69E"/>
                </a:solidFill>
                <a:latin typeface="Consolas" pitchFamily="34" charset="0"/>
                <a:ea typeface="Consolas" pitchFamily="34" charset="-122"/>
                <a:cs typeface="Consolas" pitchFamily="34" charset="-120"/>
              </a:rPr>
              <a:t>tree view</a:t>
            </a:r>
            <a:endParaRPr lang="en-US" sz="1000" dirty="0"/>
          </a:p>
        </p:txBody>
      </p:sp>
      <p:sp>
        <p:nvSpPr>
          <p:cNvPr id="28" name="Text 22"/>
          <p:cNvSpPr/>
          <p:nvPr/>
        </p:nvSpPr>
        <p:spPr>
          <a:xfrm>
            <a:off x="5074920" y="2377440"/>
            <a:ext cx="3383280" cy="2103120"/>
          </a:xfrm>
          <a:prstGeom prst="rect">
            <a:avLst/>
          </a:prstGeom>
          <a:noFill/>
          <a:ln/>
        </p:spPr>
        <p:txBody>
          <a:bodyPr wrap="square" lIns="0" tIns="0" rIns="0" bIns="0" rtlCol="0" anchor="t"/>
          <a:lstStyle/>
          <a:p>
            <a:pPr indent="0" marL="0">
              <a:spcAft>
                <a:spcPts val="100"/>
              </a:spcAft>
              <a:buNone/>
            </a:pPr>
            <a:r>
              <a:rPr lang="en-US" sz="950" b="1" dirty="0">
                <a:solidFill>
                  <a:srgbClr val="F7F5F0"/>
                </a:solidFill>
                <a:latin typeface="Consolas" pitchFamily="34" charset="0"/>
                <a:ea typeface="Consolas" pitchFamily="34" charset="-122"/>
                <a:cs typeface="Consolas" pitchFamily="34" charset="-120"/>
              </a:rPr>
              <a:t>your-repo/</a:t>
            </a:r>
            <a:endParaRPr lang="en-US" sz="950" dirty="0"/>
          </a:p>
          <a:p>
            <a:pPr indent="0" marL="0">
              <a:spcAft>
                <a:spcPts val="100"/>
              </a:spcAft>
              <a:buNone/>
            </a:pPr>
            <a:r>
              <a:rPr lang="en-US" sz="950" b="1" dirty="0">
                <a:solidFill>
                  <a:srgbClr val="CC785C"/>
                </a:solidFill>
                <a:latin typeface="Consolas" pitchFamily="34" charset="0"/>
                <a:ea typeface="Consolas" pitchFamily="34" charset="-122"/>
                <a:cs typeface="Consolas" pitchFamily="34" charset="-120"/>
              </a:rPr>
              <a:t>├── CLAUDE.md</a:t>
            </a:r>
            <a:pPr indent="0" marL="0">
              <a:spcAft>
                <a:spcPts val="100"/>
              </a:spcAft>
              <a:buNone/>
            </a:pPr>
            <a:r>
              <a:rPr lang="en-US" sz="950" dirty="0">
                <a:solidFill>
                  <a:srgbClr val="A9A69E"/>
                </a:solidFill>
                <a:latin typeface="Consolas" pitchFamily="34" charset="0"/>
                <a:ea typeface="Consolas" pitchFamily="34" charset="-122"/>
                <a:cs typeface="Consolas" pitchFamily="34" charset="-120"/>
              </a:rPr>
              <a:t>           main memory</a:t>
            </a:r>
            <a:endParaRPr lang="en-US" sz="950" dirty="0"/>
          </a:p>
          <a:p>
            <a:pPr indent="0" marL="0">
              <a:spcAft>
                <a:spcPts val="100"/>
              </a:spcAft>
              <a:buNone/>
            </a:pPr>
            <a:r>
              <a:rPr lang="en-US" sz="950" dirty="0">
                <a:solidFill>
                  <a:srgbClr val="F7F5F0"/>
                </a:solidFill>
                <a:latin typeface="Consolas" pitchFamily="34" charset="0"/>
                <a:ea typeface="Consolas" pitchFamily="34" charset="-122"/>
                <a:cs typeface="Consolas" pitchFamily="34" charset="-120"/>
              </a:rPr>
              <a:t>├── CLAUDE.local.md</a:t>
            </a:r>
            <a:pPr indent="0" marL="0">
              <a:spcAft>
                <a:spcPts val="100"/>
              </a:spcAft>
              <a:buNone/>
            </a:pPr>
            <a:r>
              <a:rPr lang="en-US" sz="950" dirty="0">
                <a:solidFill>
                  <a:srgbClr val="A9A69E"/>
                </a:solidFill>
                <a:latin typeface="Consolas" pitchFamily="34" charset="0"/>
                <a:ea typeface="Consolas" pitchFamily="34" charset="-122"/>
                <a:cs typeface="Consolas" pitchFamily="34" charset="-120"/>
              </a:rPr>
              <a:t>     personal</a:t>
            </a:r>
            <a:endParaRPr lang="en-US" sz="950" dirty="0"/>
          </a:p>
          <a:p>
            <a:pPr indent="0" marL="0">
              <a:spcAft>
                <a:spcPts val="100"/>
              </a:spcAft>
              <a:buNone/>
            </a:pPr>
            <a:r>
              <a:rPr lang="en-US" sz="950" dirty="0">
                <a:solidFill>
                  <a:srgbClr val="F7F5F0"/>
                </a:solidFill>
                <a:latin typeface="Consolas" pitchFamily="34" charset="0"/>
                <a:ea typeface="Consolas" pitchFamily="34" charset="-122"/>
                <a:cs typeface="Consolas" pitchFamily="34" charset="-120"/>
              </a:rPr>
              <a:t>├── AGENTS.md</a:t>
            </a:r>
            <a:pPr indent="0" marL="0">
              <a:spcAft>
                <a:spcPts val="100"/>
              </a:spcAft>
              <a:buNone/>
            </a:pPr>
            <a:r>
              <a:rPr lang="en-US" sz="950" dirty="0">
                <a:solidFill>
                  <a:srgbClr val="A9A69E"/>
                </a:solidFill>
                <a:latin typeface="Consolas" pitchFamily="34" charset="0"/>
                <a:ea typeface="Consolas" pitchFamily="34" charset="-122"/>
                <a:cs typeface="Consolas" pitchFamily="34" charset="-120"/>
              </a:rPr>
              <a:t>           not read (import it)</a:t>
            </a:r>
            <a:endParaRPr lang="en-US" sz="950" dirty="0"/>
          </a:p>
          <a:p>
            <a:pPr indent="0" marL="0">
              <a:spcAft>
                <a:spcPts val="100"/>
              </a:spcAft>
              <a:buNone/>
            </a:pPr>
            <a:r>
              <a:rPr lang="en-US" sz="950" dirty="0">
                <a:solidFill>
                  <a:srgbClr val="F7F5F0"/>
                </a:solidFill>
                <a:latin typeface="Consolas" pitchFamily="34" charset="0"/>
                <a:ea typeface="Consolas" pitchFamily="34" charset="-122"/>
                <a:cs typeface="Consolas" pitchFamily="34" charset="-120"/>
              </a:rPr>
              <a:t>└── .claude/</a:t>
            </a:r>
            <a:endParaRPr lang="en-US" sz="950" dirty="0"/>
          </a:p>
          <a:p>
            <a:pPr indent="0" marL="0">
              <a:spcAft>
                <a:spcPts val="100"/>
              </a:spcAft>
              <a:buNone/>
            </a:pPr>
            <a:r>
              <a:rPr lang="en-US" sz="950" dirty="0">
                <a:solidFill>
                  <a:srgbClr val="F7F5F0"/>
                </a:solidFill>
                <a:latin typeface="Consolas" pitchFamily="34" charset="0"/>
                <a:ea typeface="Consolas" pitchFamily="34" charset="-122"/>
                <a:cs typeface="Consolas" pitchFamily="34" charset="-120"/>
              </a:rPr>
              <a:t>    ├── skills/</a:t>
            </a:r>
            <a:pPr indent="0" marL="0">
              <a:spcAft>
                <a:spcPts val="100"/>
              </a:spcAft>
              <a:buNone/>
            </a:pPr>
            <a:r>
              <a:rPr lang="en-US" sz="950" dirty="0">
                <a:solidFill>
                  <a:srgbClr val="A9A69E"/>
                </a:solidFill>
                <a:latin typeface="Consolas" pitchFamily="34" charset="0"/>
                <a:ea typeface="Consolas" pitchFamily="34" charset="-122"/>
                <a:cs typeface="Consolas" pitchFamily="34" charset="-120"/>
              </a:rPr>
              <a:t>       custom skills</a:t>
            </a:r>
            <a:endParaRPr lang="en-US" sz="950" dirty="0"/>
          </a:p>
          <a:p>
            <a:pPr indent="0" marL="0">
              <a:spcAft>
                <a:spcPts val="100"/>
              </a:spcAft>
              <a:buNone/>
            </a:pPr>
            <a:r>
              <a:rPr lang="en-US" sz="950" dirty="0">
                <a:solidFill>
                  <a:srgbClr val="F7F5F0"/>
                </a:solidFill>
                <a:latin typeface="Consolas" pitchFamily="34" charset="0"/>
                <a:ea typeface="Consolas" pitchFamily="34" charset="-122"/>
                <a:cs typeface="Consolas" pitchFamily="34" charset="-120"/>
              </a:rPr>
              <a:t>    ├── agents/</a:t>
            </a:r>
            <a:pPr indent="0" marL="0">
              <a:spcAft>
                <a:spcPts val="100"/>
              </a:spcAft>
              <a:buNone/>
            </a:pPr>
            <a:r>
              <a:rPr lang="en-US" sz="950" dirty="0">
                <a:solidFill>
                  <a:srgbClr val="A9A69E"/>
                </a:solidFill>
                <a:latin typeface="Consolas" pitchFamily="34" charset="0"/>
                <a:ea typeface="Consolas" pitchFamily="34" charset="-122"/>
                <a:cs typeface="Consolas" pitchFamily="34" charset="-120"/>
              </a:rPr>
              <a:t>       subagents</a:t>
            </a:r>
            <a:endParaRPr lang="en-US" sz="950" dirty="0"/>
          </a:p>
          <a:p>
            <a:pPr indent="0" marL="0">
              <a:spcAft>
                <a:spcPts val="100"/>
              </a:spcAft>
              <a:buNone/>
            </a:pPr>
            <a:r>
              <a:rPr lang="en-US" sz="950" dirty="0">
                <a:solidFill>
                  <a:srgbClr val="F7F5F0"/>
                </a:solidFill>
                <a:latin typeface="Consolas" pitchFamily="34" charset="0"/>
                <a:ea typeface="Consolas" pitchFamily="34" charset="-122"/>
                <a:cs typeface="Consolas" pitchFamily="34" charset="-120"/>
              </a:rPr>
              <a:t>    ├── rules/</a:t>
            </a:r>
            <a:pPr indent="0" marL="0">
              <a:spcAft>
                <a:spcPts val="100"/>
              </a:spcAft>
              <a:buNone/>
            </a:pPr>
            <a:r>
              <a:rPr lang="en-US" sz="950" dirty="0">
                <a:solidFill>
                  <a:srgbClr val="A9A69E"/>
                </a:solidFill>
                <a:latin typeface="Consolas" pitchFamily="34" charset="0"/>
                <a:ea typeface="Consolas" pitchFamily="34" charset="-122"/>
                <a:cs typeface="Consolas" pitchFamily="34" charset="-120"/>
              </a:rPr>
              <a:t>        path-scoped</a:t>
            </a:r>
            <a:endParaRPr lang="en-US" sz="950" dirty="0"/>
          </a:p>
          <a:p>
            <a:pPr indent="0" marL="0">
              <a:spcAft>
                <a:spcPts val="100"/>
              </a:spcAft>
              <a:buNone/>
            </a:pPr>
            <a:r>
              <a:rPr lang="en-US" sz="950" dirty="0">
                <a:solidFill>
                  <a:srgbClr val="F7F5F0"/>
                </a:solidFill>
                <a:latin typeface="Consolas" pitchFamily="34" charset="0"/>
                <a:ea typeface="Consolas" pitchFamily="34" charset="-122"/>
                <a:cs typeface="Consolas" pitchFamily="34" charset="-120"/>
              </a:rPr>
              <a:t>    └── settings.json</a:t>
            </a:r>
            <a:pPr indent="0" marL="0">
              <a:spcAft>
                <a:spcPts val="100"/>
              </a:spcAft>
              <a:buNone/>
            </a:pPr>
            <a:r>
              <a:rPr lang="en-US" sz="950" dirty="0">
                <a:solidFill>
                  <a:srgbClr val="A9A69E"/>
                </a:solidFill>
                <a:latin typeface="Consolas" pitchFamily="34" charset="0"/>
                <a:ea typeface="Consolas" pitchFamily="34" charset="-122"/>
                <a:cs typeface="Consolas" pitchFamily="34" charset="-120"/>
              </a:rPr>
              <a:t>  perms, hooks</a:t>
            </a:r>
            <a:endParaRPr lang="en-US" sz="950" dirty="0"/>
          </a:p>
          <a:p>
            <a:pPr indent="0" marL="0">
              <a:spcAft>
                <a:spcPts val="100"/>
              </a:spcAft>
              <a:buNone/>
            </a:pPr>
            <a:endParaRPr lang="en-US" sz="950" dirty="0"/>
          </a:p>
          <a:p>
            <a:pPr indent="0" marL="0">
              <a:spcAft>
                <a:spcPts val="100"/>
              </a:spcAft>
              <a:buNone/>
            </a:pPr>
            <a:r>
              <a:rPr lang="en-US" sz="950" b="1" dirty="0">
                <a:solidFill>
                  <a:srgbClr val="CC785C"/>
                </a:solidFill>
                <a:latin typeface="Consolas" pitchFamily="34" charset="0"/>
                <a:ea typeface="Consolas" pitchFamily="34" charset="-122"/>
                <a:cs typeface="Consolas" pitchFamily="34" charset="-120"/>
              </a:rPr>
              <a:t>~/.claude/CLAUDE.md</a:t>
            </a:r>
            <a:pPr indent="0" marL="0">
              <a:spcAft>
                <a:spcPts val="100"/>
              </a:spcAft>
              <a:buNone/>
            </a:pPr>
            <a:r>
              <a:rPr lang="en-US" sz="950" dirty="0">
                <a:solidFill>
                  <a:srgbClr val="A9A69E"/>
                </a:solidFill>
                <a:latin typeface="Consolas" pitchFamily="34" charset="0"/>
                <a:ea typeface="Consolas" pitchFamily="34" charset="-122"/>
                <a:cs typeface="Consolas" pitchFamily="34" charset="-120"/>
              </a:rPr>
              <a:t>   global</a:t>
            </a:r>
            <a:endParaRPr lang="en-US" sz="950" dirty="0"/>
          </a:p>
        </p:txBody>
      </p:sp>
      <p:sp>
        <p:nvSpPr>
          <p:cNvPr id="29" name="Text 23"/>
          <p:cNvSpPr/>
          <p:nvPr/>
        </p:nvSpPr>
        <p:spPr>
          <a:xfrm>
            <a:off x="502920" y="4645152"/>
            <a:ext cx="8138160" cy="274320"/>
          </a:xfrm>
          <a:prstGeom prst="rect">
            <a:avLst/>
          </a:prstGeom>
          <a:noFill/>
          <a:ln/>
        </p:spPr>
        <p:txBody>
          <a:bodyPr wrap="square" lIns="0" tIns="0" rIns="0" bIns="0" rtlCol="0" anchor="ctr"/>
          <a:lstStyle/>
          <a:p>
            <a:pPr indent="0" marL="0">
              <a:buNone/>
            </a:pPr>
            <a:r>
              <a:rPr lang="en-US" sz="1000" i="1" dirty="0">
                <a:solidFill>
                  <a:srgbClr val="6B6A66"/>
                </a:solidFill>
                <a:latin typeface="Calibri" pitchFamily="34" charset="0"/>
                <a:ea typeface="Calibri" pitchFamily="34" charset="-122"/>
                <a:cs typeface="Calibri" pitchFamily="34" charset="-120"/>
              </a:rPr>
              <a:t>Load order: global → project → local. Later files win on conflicts. All are concatenated, not replaced.</a:t>
            </a:r>
            <a:endParaRPr lang="en-US" sz="1000" dirty="0"/>
          </a:p>
        </p:txBody>
      </p:sp>
      <p:sp>
        <p:nvSpPr>
          <p:cNvPr id="30" name="Text 24"/>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05  —  CONCEPT · MCP</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MCP — plug in tools &amp; data</a:t>
            </a:r>
            <a:endParaRPr lang="en-US" sz="36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The Model Context Protocol is an open standard for plugging external tools and data into Claude.</a:t>
            </a:r>
            <a:endParaRPr lang="en-US" sz="1300" dirty="0"/>
          </a:p>
        </p:txBody>
      </p:sp>
      <p:sp>
        <p:nvSpPr>
          <p:cNvPr id="5" name="Text 3"/>
          <p:cNvSpPr/>
          <p:nvPr/>
        </p:nvSpPr>
        <p:spPr>
          <a:xfrm>
            <a:off x="502920" y="1920240"/>
            <a:ext cx="4023360" cy="731520"/>
          </a:xfrm>
          <a:prstGeom prst="rect">
            <a:avLst/>
          </a:prstGeom>
          <a:noFill/>
          <a:ln/>
        </p:spPr>
        <p:txBody>
          <a:bodyPr wrap="square" lIns="0" tIns="0" rIns="0" bIns="0" rtlCol="0" anchor="ctr"/>
          <a:lstStyle/>
          <a:p>
            <a:pPr indent="0" marL="0">
              <a:buNone/>
            </a:pPr>
            <a:r>
              <a:rPr lang="en-US" sz="1200" dirty="0">
                <a:solidFill>
                  <a:srgbClr val="1A1B1F"/>
                </a:solidFill>
                <a:latin typeface="Calibri" pitchFamily="34" charset="0"/>
                <a:ea typeface="Calibri" pitchFamily="34" charset="-122"/>
                <a:cs typeface="Calibri" pitchFamily="34" charset="-120"/>
              </a:rPr>
              <a:t>An MCP server exposes one system's tools and data. Claude connects to it and can read, write, and act — without leaving your session.</a:t>
            </a:r>
            <a:endParaRPr lang="en-US" sz="1200" dirty="0"/>
          </a:p>
        </p:txBody>
      </p:sp>
      <p:pic>
        <p:nvPicPr>
          <p:cNvPr id="6" name="Image 0" descr="preencoded.png">    </p:cNvPr>
          <p:cNvPicPr>
            <a:picLocks noChangeAspect="1"/>
          </p:cNvPicPr>
          <p:nvPr/>
        </p:nvPicPr>
        <p:blipFill>
          <a:blip r:embed="rId1"/>
          <a:stretch>
            <a:fillRect/>
          </a:stretch>
        </p:blipFill>
        <p:spPr>
          <a:xfrm>
            <a:off x="548640" y="2916936"/>
            <a:ext cx="219456" cy="219456"/>
          </a:xfrm>
          <a:prstGeom prst="rect">
            <a:avLst/>
          </a:prstGeom>
        </p:spPr>
      </p:pic>
      <p:sp>
        <p:nvSpPr>
          <p:cNvPr id="7" name="Text 4"/>
          <p:cNvSpPr/>
          <p:nvPr/>
        </p:nvSpPr>
        <p:spPr>
          <a:xfrm>
            <a:off x="868680" y="2880360"/>
            <a:ext cx="1280160" cy="292608"/>
          </a:xfrm>
          <a:prstGeom prst="rect">
            <a:avLst/>
          </a:prstGeom>
          <a:noFill/>
          <a:ln/>
        </p:spPr>
        <p:txBody>
          <a:bodyPr wrap="square" lIns="0" tIns="0" rIns="0" bIns="0" rtlCol="0" anchor="ctr"/>
          <a:lstStyle/>
          <a:p>
            <a:pPr indent="0" marL="0">
              <a:buNone/>
            </a:pPr>
            <a:r>
              <a:rPr lang="en-US" sz="1200" b="1" dirty="0">
                <a:solidFill>
                  <a:srgbClr val="1A1B1F"/>
                </a:solidFill>
                <a:latin typeface="Calibri" pitchFamily="34" charset="0"/>
                <a:ea typeface="Calibri" pitchFamily="34" charset="-122"/>
                <a:cs typeface="Calibri" pitchFamily="34" charset="-120"/>
              </a:rPr>
              <a:t>Google Drive</a:t>
            </a:r>
            <a:endParaRPr lang="en-US" sz="1200" dirty="0"/>
          </a:p>
        </p:txBody>
      </p:sp>
      <p:sp>
        <p:nvSpPr>
          <p:cNvPr id="8" name="Text 5"/>
          <p:cNvSpPr/>
          <p:nvPr/>
        </p:nvSpPr>
        <p:spPr>
          <a:xfrm>
            <a:off x="2148840" y="2880360"/>
            <a:ext cx="2468880" cy="292608"/>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Read design docs and notes</a:t>
            </a:r>
            <a:endParaRPr lang="en-US" sz="1100" dirty="0"/>
          </a:p>
        </p:txBody>
      </p:sp>
      <p:pic>
        <p:nvPicPr>
          <p:cNvPr id="9" name="Image 1" descr="preencoded.png">    </p:cNvPr>
          <p:cNvPicPr>
            <a:picLocks noChangeAspect="1"/>
          </p:cNvPicPr>
          <p:nvPr/>
        </p:nvPicPr>
        <p:blipFill>
          <a:blip r:embed="rId2"/>
          <a:stretch>
            <a:fillRect/>
          </a:stretch>
        </p:blipFill>
        <p:spPr>
          <a:xfrm>
            <a:off x="548640" y="3300984"/>
            <a:ext cx="219456" cy="219456"/>
          </a:xfrm>
          <a:prstGeom prst="rect">
            <a:avLst/>
          </a:prstGeom>
        </p:spPr>
      </p:pic>
      <p:sp>
        <p:nvSpPr>
          <p:cNvPr id="10" name="Text 6"/>
          <p:cNvSpPr/>
          <p:nvPr/>
        </p:nvSpPr>
        <p:spPr>
          <a:xfrm>
            <a:off x="868680" y="3264408"/>
            <a:ext cx="1280160" cy="292608"/>
          </a:xfrm>
          <a:prstGeom prst="rect">
            <a:avLst/>
          </a:prstGeom>
          <a:noFill/>
          <a:ln/>
        </p:spPr>
        <p:txBody>
          <a:bodyPr wrap="square" lIns="0" tIns="0" rIns="0" bIns="0" rtlCol="0" anchor="ctr"/>
          <a:lstStyle/>
          <a:p>
            <a:pPr indent="0" marL="0">
              <a:buNone/>
            </a:pPr>
            <a:r>
              <a:rPr lang="en-US" sz="1200" b="1" dirty="0">
                <a:solidFill>
                  <a:srgbClr val="1A1B1F"/>
                </a:solidFill>
                <a:latin typeface="Calibri" pitchFamily="34" charset="0"/>
                <a:ea typeface="Calibri" pitchFamily="34" charset="-122"/>
                <a:cs typeface="Calibri" pitchFamily="34" charset="-120"/>
              </a:rPr>
              <a:t>Slack</a:t>
            </a:r>
            <a:endParaRPr lang="en-US" sz="1200" dirty="0"/>
          </a:p>
        </p:txBody>
      </p:sp>
      <p:sp>
        <p:nvSpPr>
          <p:cNvPr id="11" name="Text 7"/>
          <p:cNvSpPr/>
          <p:nvPr/>
        </p:nvSpPr>
        <p:spPr>
          <a:xfrm>
            <a:off x="2148840" y="3264408"/>
            <a:ext cx="2468880" cy="292608"/>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Pull messages and threads</a:t>
            </a:r>
            <a:endParaRPr lang="en-US" sz="1100" dirty="0"/>
          </a:p>
        </p:txBody>
      </p:sp>
      <p:pic>
        <p:nvPicPr>
          <p:cNvPr id="12" name="Image 2" descr="preencoded.png">    </p:cNvPr>
          <p:cNvPicPr>
            <a:picLocks noChangeAspect="1"/>
          </p:cNvPicPr>
          <p:nvPr/>
        </p:nvPicPr>
        <p:blipFill>
          <a:blip r:embed="rId3"/>
          <a:stretch>
            <a:fillRect/>
          </a:stretch>
        </p:blipFill>
        <p:spPr>
          <a:xfrm>
            <a:off x="548640" y="3685032"/>
            <a:ext cx="219456" cy="219456"/>
          </a:xfrm>
          <a:prstGeom prst="rect">
            <a:avLst/>
          </a:prstGeom>
        </p:spPr>
      </p:pic>
      <p:sp>
        <p:nvSpPr>
          <p:cNvPr id="13" name="Text 8"/>
          <p:cNvSpPr/>
          <p:nvPr/>
        </p:nvSpPr>
        <p:spPr>
          <a:xfrm>
            <a:off x="868680" y="3648456"/>
            <a:ext cx="1280160" cy="292608"/>
          </a:xfrm>
          <a:prstGeom prst="rect">
            <a:avLst/>
          </a:prstGeom>
          <a:noFill/>
          <a:ln/>
        </p:spPr>
        <p:txBody>
          <a:bodyPr wrap="square" lIns="0" tIns="0" rIns="0" bIns="0" rtlCol="0" anchor="ctr"/>
          <a:lstStyle/>
          <a:p>
            <a:pPr indent="0" marL="0">
              <a:buNone/>
            </a:pPr>
            <a:r>
              <a:rPr lang="en-US" sz="1200" b="1" dirty="0">
                <a:solidFill>
                  <a:srgbClr val="1A1B1F"/>
                </a:solidFill>
                <a:latin typeface="Calibri" pitchFamily="34" charset="0"/>
                <a:ea typeface="Calibri" pitchFamily="34" charset="-122"/>
                <a:cs typeface="Calibri" pitchFamily="34" charset="-120"/>
              </a:rPr>
              <a:t>Jira</a:t>
            </a:r>
            <a:endParaRPr lang="en-US" sz="1200" dirty="0"/>
          </a:p>
        </p:txBody>
      </p:sp>
      <p:sp>
        <p:nvSpPr>
          <p:cNvPr id="14" name="Text 9"/>
          <p:cNvSpPr/>
          <p:nvPr/>
        </p:nvSpPr>
        <p:spPr>
          <a:xfrm>
            <a:off x="2148840" y="3648456"/>
            <a:ext cx="2468880" cy="292608"/>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Read and update tickets</a:t>
            </a:r>
            <a:endParaRPr lang="en-US" sz="1100" dirty="0"/>
          </a:p>
        </p:txBody>
      </p:sp>
      <p:pic>
        <p:nvPicPr>
          <p:cNvPr id="15" name="Image 3" descr="preencoded.png">    </p:cNvPr>
          <p:cNvPicPr>
            <a:picLocks noChangeAspect="1"/>
          </p:cNvPicPr>
          <p:nvPr/>
        </p:nvPicPr>
        <p:blipFill>
          <a:blip r:embed="rId4"/>
          <a:stretch>
            <a:fillRect/>
          </a:stretch>
        </p:blipFill>
        <p:spPr>
          <a:xfrm>
            <a:off x="548640" y="4069080"/>
            <a:ext cx="219456" cy="219456"/>
          </a:xfrm>
          <a:prstGeom prst="rect">
            <a:avLst/>
          </a:prstGeom>
        </p:spPr>
      </p:pic>
      <p:sp>
        <p:nvSpPr>
          <p:cNvPr id="16" name="Text 10"/>
          <p:cNvSpPr/>
          <p:nvPr/>
        </p:nvSpPr>
        <p:spPr>
          <a:xfrm>
            <a:off x="868680" y="4032504"/>
            <a:ext cx="1280160" cy="292608"/>
          </a:xfrm>
          <a:prstGeom prst="rect">
            <a:avLst/>
          </a:prstGeom>
          <a:noFill/>
          <a:ln/>
        </p:spPr>
        <p:txBody>
          <a:bodyPr wrap="square" lIns="0" tIns="0" rIns="0" bIns="0" rtlCol="0" anchor="ctr"/>
          <a:lstStyle/>
          <a:p>
            <a:pPr indent="0" marL="0">
              <a:buNone/>
            </a:pPr>
            <a:r>
              <a:rPr lang="en-US" sz="1200" b="1" dirty="0">
                <a:solidFill>
                  <a:srgbClr val="1A1B1F"/>
                </a:solidFill>
                <a:latin typeface="Calibri" pitchFamily="34" charset="0"/>
                <a:ea typeface="Calibri" pitchFamily="34" charset="-122"/>
                <a:cs typeface="Calibri" pitchFamily="34" charset="-120"/>
              </a:rPr>
              <a:t>Postgres</a:t>
            </a:r>
            <a:endParaRPr lang="en-US" sz="1200" dirty="0"/>
          </a:p>
        </p:txBody>
      </p:sp>
      <p:sp>
        <p:nvSpPr>
          <p:cNvPr id="17" name="Text 11"/>
          <p:cNvSpPr/>
          <p:nvPr/>
        </p:nvSpPr>
        <p:spPr>
          <a:xfrm>
            <a:off x="2148840" y="4032504"/>
            <a:ext cx="2468880" cy="292608"/>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Query your database safely</a:t>
            </a:r>
            <a:endParaRPr lang="en-US" sz="1100" dirty="0"/>
          </a:p>
        </p:txBody>
      </p:sp>
      <p:sp>
        <p:nvSpPr>
          <p:cNvPr id="18" name="Shape 12"/>
          <p:cNvSpPr/>
          <p:nvPr/>
        </p:nvSpPr>
        <p:spPr>
          <a:xfrm>
            <a:off x="4892040" y="1920240"/>
            <a:ext cx="3749040" cy="2697480"/>
          </a:xfrm>
          <a:prstGeom prst="rect">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sp>
        <p:nvSpPr>
          <p:cNvPr id="19" name="Shape 13"/>
          <p:cNvSpPr/>
          <p:nvPr/>
        </p:nvSpPr>
        <p:spPr>
          <a:xfrm>
            <a:off x="4892040" y="1920240"/>
            <a:ext cx="3749040" cy="320040"/>
          </a:xfrm>
          <a:prstGeom prst="rect">
            <a:avLst/>
          </a:prstGeom>
          <a:solidFill>
            <a:srgbClr val="2A2B30"/>
          </a:solidFill>
          <a:ln w="12700">
            <a:solidFill>
              <a:srgbClr val="2A2B30"/>
            </a:solidFill>
            <a:prstDash val="solid"/>
          </a:ln>
        </p:spPr>
      </p:sp>
      <p:sp>
        <p:nvSpPr>
          <p:cNvPr id="20" name="Shape 14"/>
          <p:cNvSpPr/>
          <p:nvPr/>
        </p:nvSpPr>
        <p:spPr>
          <a:xfrm>
            <a:off x="5001768" y="2011680"/>
            <a:ext cx="128016" cy="128016"/>
          </a:xfrm>
          <a:prstGeom prst="ellipse">
            <a:avLst/>
          </a:prstGeom>
          <a:solidFill>
            <a:srgbClr val="FF5F56"/>
          </a:solidFill>
          <a:ln w="12700">
            <a:solidFill>
              <a:srgbClr val="FF5F56"/>
            </a:solidFill>
            <a:prstDash val="solid"/>
          </a:ln>
        </p:spPr>
      </p:sp>
      <p:sp>
        <p:nvSpPr>
          <p:cNvPr id="21" name="Shape 15"/>
          <p:cNvSpPr/>
          <p:nvPr/>
        </p:nvSpPr>
        <p:spPr>
          <a:xfrm>
            <a:off x="5202936" y="2011680"/>
            <a:ext cx="128016" cy="128016"/>
          </a:xfrm>
          <a:prstGeom prst="ellipse">
            <a:avLst/>
          </a:prstGeom>
          <a:solidFill>
            <a:srgbClr val="FFBD2E"/>
          </a:solidFill>
          <a:ln w="12700">
            <a:solidFill>
              <a:srgbClr val="FFBD2E"/>
            </a:solidFill>
            <a:prstDash val="solid"/>
          </a:ln>
        </p:spPr>
      </p:sp>
      <p:sp>
        <p:nvSpPr>
          <p:cNvPr id="22" name="Shape 16"/>
          <p:cNvSpPr/>
          <p:nvPr/>
        </p:nvSpPr>
        <p:spPr>
          <a:xfrm>
            <a:off x="5404104" y="2011680"/>
            <a:ext cx="128016" cy="128016"/>
          </a:xfrm>
          <a:prstGeom prst="ellipse">
            <a:avLst/>
          </a:prstGeom>
          <a:solidFill>
            <a:srgbClr val="27C93F"/>
          </a:solidFill>
          <a:ln w="12700">
            <a:solidFill>
              <a:srgbClr val="27C93F"/>
            </a:solidFill>
            <a:prstDash val="solid"/>
          </a:ln>
        </p:spPr>
      </p:sp>
      <p:sp>
        <p:nvSpPr>
          <p:cNvPr id="23" name="Text 17"/>
          <p:cNvSpPr/>
          <p:nvPr/>
        </p:nvSpPr>
        <p:spPr>
          <a:xfrm>
            <a:off x="5715000" y="1975104"/>
            <a:ext cx="2743200" cy="201168"/>
          </a:xfrm>
          <a:prstGeom prst="rect">
            <a:avLst/>
          </a:prstGeom>
          <a:noFill/>
          <a:ln/>
        </p:spPr>
        <p:txBody>
          <a:bodyPr wrap="square" lIns="0" tIns="0" rIns="0" bIns="0" rtlCol="0" anchor="ctr"/>
          <a:lstStyle/>
          <a:p>
            <a:pPr algn="ctr" indent="0" marL="0">
              <a:buNone/>
            </a:pPr>
            <a:r>
              <a:rPr lang="en-US" sz="1000" dirty="0">
                <a:solidFill>
                  <a:srgbClr val="A9A69E"/>
                </a:solidFill>
                <a:latin typeface="Consolas" pitchFamily="34" charset="0"/>
                <a:ea typeface="Consolas" pitchFamily="34" charset="-122"/>
                <a:cs typeface="Consolas" pitchFamily="34" charset="-120"/>
              </a:rPr>
              <a:t>connect → use</a:t>
            </a:r>
            <a:endParaRPr lang="en-US" sz="1000" dirty="0"/>
          </a:p>
        </p:txBody>
      </p:sp>
      <p:sp>
        <p:nvSpPr>
          <p:cNvPr id="24" name="Text 18"/>
          <p:cNvSpPr/>
          <p:nvPr/>
        </p:nvSpPr>
        <p:spPr>
          <a:xfrm>
            <a:off x="5074920" y="2377440"/>
            <a:ext cx="3383280" cy="2103120"/>
          </a:xfrm>
          <a:prstGeom prst="rect">
            <a:avLst/>
          </a:prstGeom>
          <a:noFill/>
          <a:ln/>
        </p:spPr>
        <p:txBody>
          <a:bodyPr wrap="square" lIns="0" tIns="0" rIns="0" bIns="0" rtlCol="0" anchor="t"/>
          <a:lstStyle/>
          <a:p>
            <a:pPr indent="0" marL="0">
              <a:spcAft>
                <a:spcPts val="200"/>
              </a:spcAft>
              <a:buNone/>
            </a:pPr>
            <a:r>
              <a:rPr lang="en-US" sz="1000" dirty="0">
                <a:solidFill>
                  <a:srgbClr val="F7F5F0"/>
                </a:solidFill>
                <a:latin typeface="Consolas" pitchFamily="34" charset="0"/>
                <a:ea typeface="Consolas" pitchFamily="34" charset="-122"/>
                <a:cs typeface="Consolas" pitchFamily="34" charset="-120"/>
              </a:rPr>
              <a:t>$ claude mcp add github ...</a:t>
            </a:r>
            <a:endParaRPr lang="en-US" sz="1000" dirty="0"/>
          </a:p>
          <a:p>
            <a:pPr indent="0" marL="0">
              <a:spcAft>
                <a:spcPts val="200"/>
              </a:spcAft>
              <a:buNone/>
            </a:pPr>
            <a:r>
              <a:rPr lang="en-US" sz="1000" dirty="0">
                <a:solidFill>
                  <a:srgbClr val="27C93F"/>
                </a:solidFill>
                <a:latin typeface="Consolas" pitchFamily="34" charset="0"/>
                <a:ea typeface="Consolas" pitchFamily="34" charset="-122"/>
                <a:cs typeface="Consolas" pitchFamily="34" charset="-120"/>
              </a:rPr>
              <a:t>✓ Connected to GitHub MCP</a:t>
            </a:r>
            <a:endParaRPr lang="en-US" sz="1000" dirty="0"/>
          </a:p>
          <a:p>
            <a:pPr indent="0" marL="0">
              <a:spcAft>
                <a:spcPts val="200"/>
              </a:spcAft>
              <a:buNone/>
            </a:pPr>
            <a:endParaRPr lang="en-US" sz="1000" dirty="0"/>
          </a:p>
          <a:p>
            <a:pPr indent="0" marL="0">
              <a:spcAft>
                <a:spcPts val="200"/>
              </a:spcAft>
              <a:buNone/>
            </a:pPr>
            <a:r>
              <a:rPr lang="en-US" sz="1000" dirty="0">
                <a:solidFill>
                  <a:srgbClr val="F7F5F0"/>
                </a:solidFill>
                <a:latin typeface="Consolas" pitchFamily="34" charset="0"/>
                <a:ea typeface="Consolas" pitchFamily="34" charset="-122"/>
                <a:cs typeface="Consolas" pitchFamily="34" charset="-120"/>
              </a:rPr>
              <a:t>$ claude</a:t>
            </a:r>
            <a:endParaRPr lang="en-US" sz="1000" dirty="0"/>
          </a:p>
          <a:p>
            <a:pPr indent="0" marL="0">
              <a:spcAft>
                <a:spcPts val="200"/>
              </a:spcAft>
              <a:buNone/>
            </a:pPr>
            <a:r>
              <a:rPr lang="en-US" sz="1000" dirty="0">
                <a:solidFill>
                  <a:srgbClr val="CC785C"/>
                </a:solidFill>
                <a:latin typeface="Consolas" pitchFamily="34" charset="0"/>
                <a:ea typeface="Consolas" pitchFamily="34" charset="-122"/>
                <a:cs typeface="Consolas" pitchFamily="34" charset="-120"/>
              </a:rPr>
              <a:t>&gt; List open PRs assigned to me</a:t>
            </a:r>
            <a:endParaRPr lang="en-US" sz="1000" dirty="0"/>
          </a:p>
          <a:p>
            <a:pPr indent="0" marL="0">
              <a:spcAft>
                <a:spcPts val="200"/>
              </a:spcAft>
              <a:buNone/>
            </a:pPr>
            <a:endParaRPr lang="en-US" sz="1000" dirty="0"/>
          </a:p>
          <a:p>
            <a:pPr indent="0" marL="0">
              <a:spcAft>
                <a:spcPts val="200"/>
              </a:spcAft>
              <a:buNone/>
            </a:pPr>
            <a:r>
              <a:rPr lang="en-US" sz="1000" dirty="0">
                <a:solidFill>
                  <a:srgbClr val="A9A69E"/>
                </a:solidFill>
                <a:latin typeface="Consolas" pitchFamily="34" charset="0"/>
                <a:ea typeface="Consolas" pitchFamily="34" charset="-122"/>
                <a:cs typeface="Consolas" pitchFamily="34" charset="-120"/>
              </a:rPr>
              <a:t>● Fetching from GitHub MCP...</a:t>
            </a:r>
            <a:endParaRPr lang="en-US" sz="1000" dirty="0"/>
          </a:p>
          <a:p>
            <a:pPr indent="0" marL="0">
              <a:spcAft>
                <a:spcPts val="200"/>
              </a:spcAft>
              <a:buNone/>
            </a:pPr>
            <a:r>
              <a:rPr lang="en-US" sz="1000" dirty="0">
                <a:solidFill>
                  <a:srgbClr val="F7F5F0"/>
                </a:solidFill>
                <a:latin typeface="Consolas" pitchFamily="34" charset="0"/>
                <a:ea typeface="Consolas" pitchFamily="34" charset="-122"/>
                <a:cs typeface="Consolas" pitchFamily="34" charset="-120"/>
              </a:rPr>
              <a:t>● Found 3 open PRs. Opening them.</a:t>
            </a:r>
            <a:endParaRPr lang="en-US" sz="1000" dirty="0"/>
          </a:p>
        </p:txBody>
      </p:sp>
      <p:sp>
        <p:nvSpPr>
          <p:cNvPr id="25" name="Text 19"/>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06  —  CONCEPT · SKILLS</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Skills — reusable expertise</a:t>
            </a:r>
            <a:endParaRPr lang="en-US" sz="36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A folder with a SKILL.md file teaches Claude how to do a specific task. Claude loads it automatically when the prompt matches.</a:t>
            </a:r>
            <a:endParaRPr lang="en-US" sz="1300" dirty="0"/>
          </a:p>
        </p:txBody>
      </p:sp>
      <p:sp>
        <p:nvSpPr>
          <p:cNvPr id="5" name="Shape 3"/>
          <p:cNvSpPr/>
          <p:nvPr/>
        </p:nvSpPr>
        <p:spPr>
          <a:xfrm>
            <a:off x="502920" y="2011680"/>
            <a:ext cx="457200" cy="457200"/>
          </a:xfrm>
          <a:prstGeom prst="ellipse">
            <a:avLst/>
          </a:prstGeom>
          <a:solidFill>
            <a:srgbClr val="CC785C"/>
          </a:solidFill>
          <a:ln w="12700">
            <a:solidFill>
              <a:srgbClr val="CC785C"/>
            </a:solidFill>
            <a:prstDash val="solid"/>
          </a:ln>
        </p:spPr>
      </p:sp>
      <p:sp>
        <p:nvSpPr>
          <p:cNvPr id="6" name="Text 4"/>
          <p:cNvSpPr/>
          <p:nvPr/>
        </p:nvSpPr>
        <p:spPr>
          <a:xfrm>
            <a:off x="502920" y="2011680"/>
            <a:ext cx="457200" cy="457200"/>
          </a:xfrm>
          <a:prstGeom prst="rect">
            <a:avLst/>
          </a:prstGeom>
          <a:noFill/>
          <a:ln/>
        </p:spPr>
        <p:txBody>
          <a:bodyPr wrap="square" lIns="0" tIns="0" rIns="0" bIns="0" rtlCol="0" anchor="ctr"/>
          <a:lstStyle/>
          <a:p>
            <a:pPr algn="ctr" indent="0" marL="0">
              <a:buNone/>
            </a:pPr>
            <a:r>
              <a:rPr lang="en-US" sz="1700" b="1" dirty="0">
                <a:solidFill>
                  <a:srgbClr val="F7F5F0"/>
                </a:solidFill>
                <a:latin typeface="Georgia" pitchFamily="34" charset="0"/>
                <a:ea typeface="Georgia" pitchFamily="34" charset="-122"/>
                <a:cs typeface="Georgia" pitchFamily="34" charset="-120"/>
              </a:rPr>
              <a:t>1</a:t>
            </a:r>
            <a:endParaRPr lang="en-US" sz="1700" dirty="0"/>
          </a:p>
        </p:txBody>
      </p:sp>
      <p:sp>
        <p:nvSpPr>
          <p:cNvPr id="7" name="Text 5"/>
          <p:cNvSpPr/>
          <p:nvPr/>
        </p:nvSpPr>
        <p:spPr>
          <a:xfrm>
            <a:off x="1097280" y="1993392"/>
            <a:ext cx="3474720" cy="274320"/>
          </a:xfrm>
          <a:prstGeom prst="rect">
            <a:avLst/>
          </a:prstGeom>
          <a:noFill/>
          <a:ln/>
        </p:spPr>
        <p:txBody>
          <a:bodyPr wrap="square" lIns="0" tIns="0" rIns="0" bIns="0" rtlCol="0" anchor="ctr"/>
          <a:lstStyle/>
          <a:p>
            <a:pPr indent="0" marL="0">
              <a:buNone/>
            </a:pPr>
            <a:r>
              <a:rPr lang="en-US" sz="1500" b="1" dirty="0">
                <a:solidFill>
                  <a:srgbClr val="1A1B1F"/>
                </a:solidFill>
                <a:latin typeface="Georgia" pitchFamily="34" charset="0"/>
                <a:ea typeface="Georgia" pitchFamily="34" charset="-122"/>
                <a:cs typeface="Georgia" pitchFamily="34" charset="-120"/>
              </a:rPr>
              <a:t>Create</a:t>
            </a:r>
            <a:endParaRPr lang="en-US" sz="1500" dirty="0"/>
          </a:p>
        </p:txBody>
      </p:sp>
      <p:sp>
        <p:nvSpPr>
          <p:cNvPr id="8" name="Text 6"/>
          <p:cNvSpPr/>
          <p:nvPr/>
        </p:nvSpPr>
        <p:spPr>
          <a:xfrm>
            <a:off x="1097280" y="2267712"/>
            <a:ext cx="3474720" cy="54864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Drop a folder with SKILL.md into .claude/skills/ — personal or project-level.</a:t>
            </a:r>
            <a:endParaRPr lang="en-US" sz="1100" dirty="0"/>
          </a:p>
        </p:txBody>
      </p:sp>
      <p:sp>
        <p:nvSpPr>
          <p:cNvPr id="9" name="Shape 7"/>
          <p:cNvSpPr/>
          <p:nvPr/>
        </p:nvSpPr>
        <p:spPr>
          <a:xfrm>
            <a:off x="502920" y="2852928"/>
            <a:ext cx="457200" cy="457200"/>
          </a:xfrm>
          <a:prstGeom prst="ellipse">
            <a:avLst/>
          </a:prstGeom>
          <a:solidFill>
            <a:srgbClr val="CC785C"/>
          </a:solidFill>
          <a:ln w="12700">
            <a:solidFill>
              <a:srgbClr val="CC785C"/>
            </a:solidFill>
            <a:prstDash val="solid"/>
          </a:ln>
        </p:spPr>
      </p:sp>
      <p:sp>
        <p:nvSpPr>
          <p:cNvPr id="10" name="Text 8"/>
          <p:cNvSpPr/>
          <p:nvPr/>
        </p:nvSpPr>
        <p:spPr>
          <a:xfrm>
            <a:off x="502920" y="2852928"/>
            <a:ext cx="457200" cy="457200"/>
          </a:xfrm>
          <a:prstGeom prst="rect">
            <a:avLst/>
          </a:prstGeom>
          <a:noFill/>
          <a:ln/>
        </p:spPr>
        <p:txBody>
          <a:bodyPr wrap="square" lIns="0" tIns="0" rIns="0" bIns="0" rtlCol="0" anchor="ctr"/>
          <a:lstStyle/>
          <a:p>
            <a:pPr algn="ctr" indent="0" marL="0">
              <a:buNone/>
            </a:pPr>
            <a:r>
              <a:rPr lang="en-US" sz="1700" b="1" dirty="0">
                <a:solidFill>
                  <a:srgbClr val="F7F5F0"/>
                </a:solidFill>
                <a:latin typeface="Georgia" pitchFamily="34" charset="0"/>
                <a:ea typeface="Georgia" pitchFamily="34" charset="-122"/>
                <a:cs typeface="Georgia" pitchFamily="34" charset="-120"/>
              </a:rPr>
              <a:t>2</a:t>
            </a:r>
            <a:endParaRPr lang="en-US" sz="1700" dirty="0"/>
          </a:p>
        </p:txBody>
      </p:sp>
      <p:sp>
        <p:nvSpPr>
          <p:cNvPr id="11" name="Text 9"/>
          <p:cNvSpPr/>
          <p:nvPr/>
        </p:nvSpPr>
        <p:spPr>
          <a:xfrm>
            <a:off x="1097280" y="2834640"/>
            <a:ext cx="3474720" cy="274320"/>
          </a:xfrm>
          <a:prstGeom prst="rect">
            <a:avLst/>
          </a:prstGeom>
          <a:noFill/>
          <a:ln/>
        </p:spPr>
        <p:txBody>
          <a:bodyPr wrap="square" lIns="0" tIns="0" rIns="0" bIns="0" rtlCol="0" anchor="ctr"/>
          <a:lstStyle/>
          <a:p>
            <a:pPr indent="0" marL="0">
              <a:buNone/>
            </a:pPr>
            <a:r>
              <a:rPr lang="en-US" sz="1500" b="1" dirty="0">
                <a:solidFill>
                  <a:srgbClr val="1A1B1F"/>
                </a:solidFill>
                <a:latin typeface="Georgia" pitchFamily="34" charset="0"/>
                <a:ea typeface="Georgia" pitchFamily="34" charset="-122"/>
                <a:cs typeface="Georgia" pitchFamily="34" charset="-120"/>
              </a:rPr>
              <a:t>Describe</a:t>
            </a:r>
            <a:endParaRPr lang="en-US" sz="1500" dirty="0"/>
          </a:p>
        </p:txBody>
      </p:sp>
      <p:sp>
        <p:nvSpPr>
          <p:cNvPr id="12" name="Text 10"/>
          <p:cNvSpPr/>
          <p:nvPr/>
        </p:nvSpPr>
        <p:spPr>
          <a:xfrm>
            <a:off x="1097280" y="3108960"/>
            <a:ext cx="3474720" cy="54864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YAML frontmatter gives it a name and tells Claude when to use it.</a:t>
            </a:r>
            <a:endParaRPr lang="en-US" sz="1100" dirty="0"/>
          </a:p>
        </p:txBody>
      </p:sp>
      <p:sp>
        <p:nvSpPr>
          <p:cNvPr id="13" name="Shape 11"/>
          <p:cNvSpPr/>
          <p:nvPr/>
        </p:nvSpPr>
        <p:spPr>
          <a:xfrm>
            <a:off x="502920" y="3694176"/>
            <a:ext cx="457200" cy="457200"/>
          </a:xfrm>
          <a:prstGeom prst="ellipse">
            <a:avLst/>
          </a:prstGeom>
          <a:solidFill>
            <a:srgbClr val="CC785C"/>
          </a:solidFill>
          <a:ln w="12700">
            <a:solidFill>
              <a:srgbClr val="CC785C"/>
            </a:solidFill>
            <a:prstDash val="solid"/>
          </a:ln>
        </p:spPr>
      </p:sp>
      <p:sp>
        <p:nvSpPr>
          <p:cNvPr id="14" name="Text 12"/>
          <p:cNvSpPr/>
          <p:nvPr/>
        </p:nvSpPr>
        <p:spPr>
          <a:xfrm>
            <a:off x="502920" y="3694176"/>
            <a:ext cx="457200" cy="457200"/>
          </a:xfrm>
          <a:prstGeom prst="rect">
            <a:avLst/>
          </a:prstGeom>
          <a:noFill/>
          <a:ln/>
        </p:spPr>
        <p:txBody>
          <a:bodyPr wrap="square" lIns="0" tIns="0" rIns="0" bIns="0" rtlCol="0" anchor="ctr"/>
          <a:lstStyle/>
          <a:p>
            <a:pPr algn="ctr" indent="0" marL="0">
              <a:buNone/>
            </a:pPr>
            <a:r>
              <a:rPr lang="en-US" sz="1700" b="1" dirty="0">
                <a:solidFill>
                  <a:srgbClr val="F7F5F0"/>
                </a:solidFill>
                <a:latin typeface="Georgia" pitchFamily="34" charset="0"/>
                <a:ea typeface="Georgia" pitchFamily="34" charset="-122"/>
                <a:cs typeface="Georgia" pitchFamily="34" charset="-120"/>
              </a:rPr>
              <a:t>3</a:t>
            </a:r>
            <a:endParaRPr lang="en-US" sz="1700" dirty="0"/>
          </a:p>
        </p:txBody>
      </p:sp>
      <p:sp>
        <p:nvSpPr>
          <p:cNvPr id="15" name="Text 13"/>
          <p:cNvSpPr/>
          <p:nvPr/>
        </p:nvSpPr>
        <p:spPr>
          <a:xfrm>
            <a:off x="1097280" y="3675888"/>
            <a:ext cx="3474720" cy="274320"/>
          </a:xfrm>
          <a:prstGeom prst="rect">
            <a:avLst/>
          </a:prstGeom>
          <a:noFill/>
          <a:ln/>
        </p:spPr>
        <p:txBody>
          <a:bodyPr wrap="square" lIns="0" tIns="0" rIns="0" bIns="0" rtlCol="0" anchor="ctr"/>
          <a:lstStyle/>
          <a:p>
            <a:pPr indent="0" marL="0">
              <a:buNone/>
            </a:pPr>
            <a:r>
              <a:rPr lang="en-US" sz="1500" b="1" dirty="0">
                <a:solidFill>
                  <a:srgbClr val="1A1B1F"/>
                </a:solidFill>
                <a:latin typeface="Georgia" pitchFamily="34" charset="0"/>
                <a:ea typeface="Georgia" pitchFamily="34" charset="-122"/>
                <a:cs typeface="Georgia" pitchFamily="34" charset="-120"/>
              </a:rPr>
              <a:t>Claude invokes</a:t>
            </a:r>
            <a:endParaRPr lang="en-US" sz="1500" dirty="0"/>
          </a:p>
        </p:txBody>
      </p:sp>
      <p:sp>
        <p:nvSpPr>
          <p:cNvPr id="16" name="Text 14"/>
          <p:cNvSpPr/>
          <p:nvPr/>
        </p:nvSpPr>
        <p:spPr>
          <a:xfrm>
            <a:off x="1097280" y="3950208"/>
            <a:ext cx="3474720" cy="54864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When your prompt matches the description, Claude loads the skill and follows it.</a:t>
            </a:r>
            <a:endParaRPr lang="en-US" sz="1100" dirty="0"/>
          </a:p>
        </p:txBody>
      </p:sp>
      <p:sp>
        <p:nvSpPr>
          <p:cNvPr id="17" name="Shape 15"/>
          <p:cNvSpPr/>
          <p:nvPr/>
        </p:nvSpPr>
        <p:spPr>
          <a:xfrm>
            <a:off x="4892040" y="1920240"/>
            <a:ext cx="3749040" cy="2697480"/>
          </a:xfrm>
          <a:prstGeom prst="rect">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sp>
        <p:nvSpPr>
          <p:cNvPr id="18" name="Shape 16"/>
          <p:cNvSpPr/>
          <p:nvPr/>
        </p:nvSpPr>
        <p:spPr>
          <a:xfrm>
            <a:off x="4892040" y="1920240"/>
            <a:ext cx="3749040" cy="320040"/>
          </a:xfrm>
          <a:prstGeom prst="rect">
            <a:avLst/>
          </a:prstGeom>
          <a:solidFill>
            <a:srgbClr val="2A2B30"/>
          </a:solidFill>
          <a:ln w="12700">
            <a:solidFill>
              <a:srgbClr val="2A2B30"/>
            </a:solidFill>
            <a:prstDash val="solid"/>
          </a:ln>
        </p:spPr>
      </p:sp>
      <p:sp>
        <p:nvSpPr>
          <p:cNvPr id="19" name="Text 17"/>
          <p:cNvSpPr/>
          <p:nvPr/>
        </p:nvSpPr>
        <p:spPr>
          <a:xfrm>
            <a:off x="5074920" y="1975104"/>
            <a:ext cx="3200400" cy="201168"/>
          </a:xfrm>
          <a:prstGeom prst="rect">
            <a:avLst/>
          </a:prstGeom>
          <a:noFill/>
          <a:ln/>
        </p:spPr>
        <p:txBody>
          <a:bodyPr wrap="square" lIns="0" tIns="0" rIns="0" bIns="0" rtlCol="0" anchor="ctr"/>
          <a:lstStyle/>
          <a:p>
            <a:pPr indent="0" marL="0">
              <a:buNone/>
            </a:pPr>
            <a:r>
              <a:rPr lang="en-US" sz="1000" dirty="0">
                <a:solidFill>
                  <a:srgbClr val="A9A69E"/>
                </a:solidFill>
                <a:latin typeface="Consolas" pitchFamily="34" charset="0"/>
                <a:ea typeface="Consolas" pitchFamily="34" charset="-122"/>
                <a:cs typeface="Consolas" pitchFamily="34" charset="-120"/>
              </a:rPr>
              <a:t>SKILL.md</a:t>
            </a:r>
            <a:endParaRPr lang="en-US" sz="1000" dirty="0"/>
          </a:p>
        </p:txBody>
      </p:sp>
      <p:sp>
        <p:nvSpPr>
          <p:cNvPr id="20" name="Text 18"/>
          <p:cNvSpPr/>
          <p:nvPr/>
        </p:nvSpPr>
        <p:spPr>
          <a:xfrm>
            <a:off x="5074920" y="2377440"/>
            <a:ext cx="3383280" cy="2103120"/>
          </a:xfrm>
          <a:prstGeom prst="rect">
            <a:avLst/>
          </a:prstGeom>
          <a:noFill/>
          <a:ln/>
        </p:spPr>
        <p:txBody>
          <a:bodyPr wrap="square" lIns="0" tIns="0" rIns="0" bIns="0" rtlCol="0" anchor="t"/>
          <a:lstStyle/>
          <a:p>
            <a:pPr indent="0" marL="0">
              <a:spcAft>
                <a:spcPts val="200"/>
              </a:spcAft>
              <a:buNone/>
            </a:pPr>
            <a:r>
              <a:rPr lang="en-US" sz="1000" dirty="0">
                <a:solidFill>
                  <a:srgbClr val="A9A69E"/>
                </a:solidFill>
                <a:latin typeface="Consolas" pitchFamily="34" charset="0"/>
                <a:ea typeface="Consolas" pitchFamily="34" charset="-122"/>
                <a:cs typeface="Consolas" pitchFamily="34" charset="-120"/>
              </a:rPr>
              <a:t>---</a:t>
            </a:r>
            <a:endParaRPr lang="en-US" sz="1000" dirty="0"/>
          </a:p>
          <a:p>
            <a:pPr indent="0" marL="0">
              <a:spcAft>
                <a:spcPts val="200"/>
              </a:spcAft>
              <a:buNone/>
            </a:pPr>
            <a:r>
              <a:rPr lang="en-US" sz="1000" dirty="0">
                <a:solidFill>
                  <a:srgbClr val="F7F5F0"/>
                </a:solidFill>
                <a:latin typeface="Consolas" pitchFamily="34" charset="0"/>
                <a:ea typeface="Consolas" pitchFamily="34" charset="-122"/>
                <a:cs typeface="Consolas" pitchFamily="34" charset="-120"/>
              </a:rPr>
              <a:t>name: pdf-extractor</a:t>
            </a:r>
            <a:endParaRPr lang="en-US" sz="1000" dirty="0"/>
          </a:p>
          <a:p>
            <a:pPr indent="0" marL="0">
              <a:spcAft>
                <a:spcPts val="200"/>
              </a:spcAft>
              <a:buNone/>
            </a:pPr>
            <a:r>
              <a:rPr lang="en-US" sz="1000" dirty="0">
                <a:solidFill>
                  <a:srgbClr val="F7F5F0"/>
                </a:solidFill>
                <a:latin typeface="Consolas" pitchFamily="34" charset="0"/>
                <a:ea typeface="Consolas" pitchFamily="34" charset="-122"/>
                <a:cs typeface="Consolas" pitchFamily="34" charset="-120"/>
              </a:rPr>
              <a:t>description: Extracts text and</a:t>
            </a:r>
            <a:endParaRPr lang="en-US" sz="1000" dirty="0"/>
          </a:p>
          <a:p>
            <a:pPr indent="0" marL="0">
              <a:spcAft>
                <a:spcPts val="200"/>
              </a:spcAft>
              <a:buNone/>
            </a:pPr>
            <a:r>
              <a:rPr lang="en-US" sz="1000" dirty="0">
                <a:solidFill>
                  <a:srgbClr val="F7F5F0"/>
                </a:solidFill>
                <a:latin typeface="Consolas" pitchFamily="34" charset="0"/>
                <a:ea typeface="Consolas" pitchFamily="34" charset="-122"/>
                <a:cs typeface="Consolas" pitchFamily="34" charset="-120"/>
              </a:rPr>
              <a:t>  tables from PDFs. Use when the</a:t>
            </a:r>
            <a:endParaRPr lang="en-US" sz="1000" dirty="0"/>
          </a:p>
          <a:p>
            <a:pPr indent="0" marL="0">
              <a:spcAft>
                <a:spcPts val="200"/>
              </a:spcAft>
              <a:buNone/>
            </a:pPr>
            <a:r>
              <a:rPr lang="en-US" sz="1000" dirty="0">
                <a:solidFill>
                  <a:srgbClr val="F7F5F0"/>
                </a:solidFill>
                <a:latin typeface="Consolas" pitchFamily="34" charset="0"/>
                <a:ea typeface="Consolas" pitchFamily="34" charset="-122"/>
                <a:cs typeface="Consolas" pitchFamily="34" charset="-120"/>
              </a:rPr>
              <a:t>  user mentions PDFs or forms.</a:t>
            </a:r>
            <a:endParaRPr lang="en-US" sz="1000" dirty="0"/>
          </a:p>
          <a:p>
            <a:pPr indent="0" marL="0">
              <a:spcAft>
                <a:spcPts val="200"/>
              </a:spcAft>
              <a:buNone/>
            </a:pPr>
            <a:r>
              <a:rPr lang="en-US" sz="1000" dirty="0">
                <a:solidFill>
                  <a:srgbClr val="A9A69E"/>
                </a:solidFill>
                <a:latin typeface="Consolas" pitchFamily="34" charset="0"/>
                <a:ea typeface="Consolas" pitchFamily="34" charset="-122"/>
                <a:cs typeface="Consolas" pitchFamily="34" charset="-120"/>
              </a:rPr>
              <a:t>---</a:t>
            </a:r>
            <a:endParaRPr lang="en-US" sz="1000" dirty="0"/>
          </a:p>
          <a:p>
            <a:pPr indent="0" marL="0">
              <a:spcAft>
                <a:spcPts val="200"/>
              </a:spcAft>
              <a:buNone/>
            </a:pPr>
            <a:endParaRPr lang="en-US" sz="1000" dirty="0"/>
          </a:p>
          <a:p>
            <a:pPr indent="0" marL="0">
              <a:spcAft>
                <a:spcPts val="200"/>
              </a:spcAft>
              <a:buNone/>
            </a:pPr>
            <a:r>
              <a:rPr lang="en-US" sz="1000" b="1" dirty="0">
                <a:solidFill>
                  <a:srgbClr val="CC785C"/>
                </a:solidFill>
                <a:latin typeface="Consolas" pitchFamily="34" charset="0"/>
                <a:ea typeface="Consolas" pitchFamily="34" charset="-122"/>
                <a:cs typeface="Consolas" pitchFamily="34" charset="-120"/>
              </a:rPr>
              <a:t># PDF Extractor</a:t>
            </a:r>
            <a:endParaRPr lang="en-US" sz="1000" dirty="0"/>
          </a:p>
          <a:p>
            <a:pPr indent="0" marL="0">
              <a:spcAft>
                <a:spcPts val="200"/>
              </a:spcAft>
              <a:buNone/>
            </a:pPr>
            <a:endParaRPr lang="en-US" sz="1000" dirty="0"/>
          </a:p>
          <a:p>
            <a:pPr indent="0" marL="0">
              <a:spcAft>
                <a:spcPts val="200"/>
              </a:spcAft>
              <a:buNone/>
            </a:pPr>
            <a:r>
              <a:rPr lang="en-US" sz="1000" dirty="0">
                <a:solidFill>
                  <a:srgbClr val="F7F5F0"/>
                </a:solidFill>
                <a:latin typeface="Consolas" pitchFamily="34" charset="0"/>
                <a:ea typeface="Consolas" pitchFamily="34" charset="-122"/>
                <a:cs typeface="Consolas" pitchFamily="34" charset="-120"/>
              </a:rPr>
              <a:t>Use scripts/extract.py to parse</a:t>
            </a:r>
            <a:endParaRPr lang="en-US" sz="1000" dirty="0"/>
          </a:p>
          <a:p>
            <a:pPr indent="0" marL="0">
              <a:spcAft>
                <a:spcPts val="200"/>
              </a:spcAft>
              <a:buNone/>
            </a:pPr>
            <a:r>
              <a:rPr lang="en-US" sz="1000" dirty="0">
                <a:solidFill>
                  <a:srgbClr val="F7F5F0"/>
                </a:solidFill>
                <a:latin typeface="Consolas" pitchFamily="34" charset="0"/>
                <a:ea typeface="Consolas" pitchFamily="34" charset="-122"/>
                <a:cs typeface="Consolas" pitchFamily="34" charset="-120"/>
              </a:rPr>
              <a:t>PDFs and return structured data.</a:t>
            </a:r>
            <a:endParaRPr lang="en-US" sz="1000" dirty="0"/>
          </a:p>
        </p:txBody>
      </p:sp>
      <p:sp>
        <p:nvSpPr>
          <p:cNvPr id="21" name="Text 19"/>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07  —  CONCEPT · SUBAGENTS</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Subagents — scoped helpers</a:t>
            </a:r>
            <a:endParaRPr lang="en-US" sz="36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Scoped agents spun off from the main session. Each gets its own tools, its own focus, and runs in parallel.</a:t>
            </a:r>
            <a:endParaRPr lang="en-US" sz="1300" dirty="0"/>
          </a:p>
        </p:txBody>
      </p:sp>
      <p:sp>
        <p:nvSpPr>
          <p:cNvPr id="5" name="Shape 3"/>
          <p:cNvSpPr/>
          <p:nvPr/>
        </p:nvSpPr>
        <p:spPr>
          <a:xfrm>
            <a:off x="502920" y="1965960"/>
            <a:ext cx="45720" cy="777240"/>
          </a:xfrm>
          <a:prstGeom prst="rect">
            <a:avLst/>
          </a:prstGeom>
          <a:solidFill>
            <a:srgbClr val="CC785C"/>
          </a:solidFill>
          <a:ln w="12700">
            <a:solidFill>
              <a:srgbClr val="CC785C"/>
            </a:solidFill>
            <a:prstDash val="solid"/>
          </a:ln>
        </p:spPr>
      </p:sp>
      <p:sp>
        <p:nvSpPr>
          <p:cNvPr id="6" name="Text 4"/>
          <p:cNvSpPr/>
          <p:nvPr/>
        </p:nvSpPr>
        <p:spPr>
          <a:xfrm>
            <a:off x="713232" y="1965960"/>
            <a:ext cx="3749040" cy="292608"/>
          </a:xfrm>
          <a:prstGeom prst="rect">
            <a:avLst/>
          </a:prstGeom>
          <a:noFill/>
          <a:ln/>
        </p:spPr>
        <p:txBody>
          <a:bodyPr wrap="square" lIns="0" tIns="0" rIns="0" bIns="0" rtlCol="0" anchor="ctr"/>
          <a:lstStyle/>
          <a:p>
            <a:pPr indent="0" marL="0">
              <a:buNone/>
            </a:pPr>
            <a:r>
              <a:rPr lang="en-US" sz="1500" b="1" dirty="0">
                <a:solidFill>
                  <a:srgbClr val="1A1B1F"/>
                </a:solidFill>
                <a:latin typeface="Georgia" pitchFamily="34" charset="0"/>
                <a:ea typeface="Georgia" pitchFamily="34" charset="-122"/>
                <a:cs typeface="Georgia" pitchFamily="34" charset="-120"/>
              </a:rPr>
              <a:t>Parallel work</a:t>
            </a:r>
            <a:endParaRPr lang="en-US" sz="1500" dirty="0"/>
          </a:p>
        </p:txBody>
      </p:sp>
      <p:sp>
        <p:nvSpPr>
          <p:cNvPr id="7" name="Text 5"/>
          <p:cNvSpPr/>
          <p:nvPr/>
        </p:nvSpPr>
        <p:spPr>
          <a:xfrm>
            <a:off x="713232" y="2258568"/>
            <a:ext cx="3749040" cy="50292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Run multiple narrow tasks at once — review, test, and scan at the same time.</a:t>
            </a:r>
            <a:endParaRPr lang="en-US" sz="1100" dirty="0"/>
          </a:p>
        </p:txBody>
      </p:sp>
      <p:sp>
        <p:nvSpPr>
          <p:cNvPr id="8" name="Shape 6"/>
          <p:cNvSpPr/>
          <p:nvPr/>
        </p:nvSpPr>
        <p:spPr>
          <a:xfrm>
            <a:off x="502920" y="2862072"/>
            <a:ext cx="45720" cy="777240"/>
          </a:xfrm>
          <a:prstGeom prst="rect">
            <a:avLst/>
          </a:prstGeom>
          <a:solidFill>
            <a:srgbClr val="CC785C"/>
          </a:solidFill>
          <a:ln w="12700">
            <a:solidFill>
              <a:srgbClr val="CC785C"/>
            </a:solidFill>
            <a:prstDash val="solid"/>
          </a:ln>
        </p:spPr>
      </p:sp>
      <p:sp>
        <p:nvSpPr>
          <p:cNvPr id="9" name="Text 7"/>
          <p:cNvSpPr/>
          <p:nvPr/>
        </p:nvSpPr>
        <p:spPr>
          <a:xfrm>
            <a:off x="713232" y="2862072"/>
            <a:ext cx="3749040" cy="292608"/>
          </a:xfrm>
          <a:prstGeom prst="rect">
            <a:avLst/>
          </a:prstGeom>
          <a:noFill/>
          <a:ln/>
        </p:spPr>
        <p:txBody>
          <a:bodyPr wrap="square" lIns="0" tIns="0" rIns="0" bIns="0" rtlCol="0" anchor="ctr"/>
          <a:lstStyle/>
          <a:p>
            <a:pPr indent="0" marL="0">
              <a:buNone/>
            </a:pPr>
            <a:r>
              <a:rPr lang="en-US" sz="1500" b="1" dirty="0">
                <a:solidFill>
                  <a:srgbClr val="1A1B1F"/>
                </a:solidFill>
                <a:latin typeface="Georgia" pitchFamily="34" charset="0"/>
                <a:ea typeface="Georgia" pitchFamily="34" charset="-122"/>
                <a:cs typeface="Georgia" pitchFamily="34" charset="-120"/>
              </a:rPr>
              <a:t>Narrow focus</a:t>
            </a:r>
            <a:endParaRPr lang="en-US" sz="1500" dirty="0"/>
          </a:p>
        </p:txBody>
      </p:sp>
      <p:sp>
        <p:nvSpPr>
          <p:cNvPr id="10" name="Text 8"/>
          <p:cNvSpPr/>
          <p:nvPr/>
        </p:nvSpPr>
        <p:spPr>
          <a:xfrm>
            <a:off x="713232" y="3154680"/>
            <a:ext cx="3749040" cy="50292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Each subagent keeps its own context, so the main thread stays uncluttered.</a:t>
            </a:r>
            <a:endParaRPr lang="en-US" sz="1100" dirty="0"/>
          </a:p>
        </p:txBody>
      </p:sp>
      <p:sp>
        <p:nvSpPr>
          <p:cNvPr id="11" name="Shape 9"/>
          <p:cNvSpPr/>
          <p:nvPr/>
        </p:nvSpPr>
        <p:spPr>
          <a:xfrm>
            <a:off x="502920" y="3758184"/>
            <a:ext cx="45720" cy="777240"/>
          </a:xfrm>
          <a:prstGeom prst="rect">
            <a:avLst/>
          </a:prstGeom>
          <a:solidFill>
            <a:srgbClr val="CC785C"/>
          </a:solidFill>
          <a:ln w="12700">
            <a:solidFill>
              <a:srgbClr val="CC785C"/>
            </a:solidFill>
            <a:prstDash val="solid"/>
          </a:ln>
        </p:spPr>
      </p:sp>
      <p:sp>
        <p:nvSpPr>
          <p:cNvPr id="12" name="Text 10"/>
          <p:cNvSpPr/>
          <p:nvPr/>
        </p:nvSpPr>
        <p:spPr>
          <a:xfrm>
            <a:off x="713232" y="3758184"/>
            <a:ext cx="3749040" cy="292608"/>
          </a:xfrm>
          <a:prstGeom prst="rect">
            <a:avLst/>
          </a:prstGeom>
          <a:noFill/>
          <a:ln/>
        </p:spPr>
        <p:txBody>
          <a:bodyPr wrap="square" lIns="0" tIns="0" rIns="0" bIns="0" rtlCol="0" anchor="ctr"/>
          <a:lstStyle/>
          <a:p>
            <a:pPr indent="0" marL="0">
              <a:buNone/>
            </a:pPr>
            <a:r>
              <a:rPr lang="en-US" sz="1500" b="1" dirty="0">
                <a:solidFill>
                  <a:srgbClr val="1A1B1F"/>
                </a:solidFill>
                <a:latin typeface="Georgia" pitchFamily="34" charset="0"/>
                <a:ea typeface="Georgia" pitchFamily="34" charset="-122"/>
                <a:cs typeface="Georgia" pitchFamily="34" charset="-120"/>
              </a:rPr>
              <a:t>Scoped tools</a:t>
            </a:r>
            <a:endParaRPr lang="en-US" sz="1500" dirty="0"/>
          </a:p>
        </p:txBody>
      </p:sp>
      <p:sp>
        <p:nvSpPr>
          <p:cNvPr id="13" name="Text 11"/>
          <p:cNvSpPr/>
          <p:nvPr/>
        </p:nvSpPr>
        <p:spPr>
          <a:xfrm>
            <a:off x="713232" y="4050792"/>
            <a:ext cx="3749040" cy="50292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Give each subagent only the tools it needs — a reviewer doesn't need Bash.</a:t>
            </a:r>
            <a:endParaRPr lang="en-US" sz="1100" dirty="0"/>
          </a:p>
        </p:txBody>
      </p:sp>
      <p:sp>
        <p:nvSpPr>
          <p:cNvPr id="14" name="Shape 12"/>
          <p:cNvSpPr/>
          <p:nvPr/>
        </p:nvSpPr>
        <p:spPr>
          <a:xfrm>
            <a:off x="5577840" y="2011680"/>
            <a:ext cx="2286000" cy="640080"/>
          </a:xfrm>
          <a:prstGeom prst="rect">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pic>
        <p:nvPicPr>
          <p:cNvPr id="15" name="Image 0" descr="preencoded.png">    </p:cNvPr>
          <p:cNvPicPr>
            <a:picLocks noChangeAspect="1"/>
          </p:cNvPicPr>
          <p:nvPr/>
        </p:nvPicPr>
        <p:blipFill>
          <a:blip r:embed="rId1"/>
          <a:stretch>
            <a:fillRect/>
          </a:stretch>
        </p:blipFill>
        <p:spPr>
          <a:xfrm>
            <a:off x="5715000" y="2203704"/>
            <a:ext cx="256032" cy="256032"/>
          </a:xfrm>
          <a:prstGeom prst="rect">
            <a:avLst/>
          </a:prstGeom>
        </p:spPr>
      </p:pic>
      <p:sp>
        <p:nvSpPr>
          <p:cNvPr id="16" name="Text 13"/>
          <p:cNvSpPr/>
          <p:nvPr/>
        </p:nvSpPr>
        <p:spPr>
          <a:xfrm>
            <a:off x="6053328" y="2084832"/>
            <a:ext cx="1737360" cy="274320"/>
          </a:xfrm>
          <a:prstGeom prst="rect">
            <a:avLst/>
          </a:prstGeom>
          <a:noFill/>
          <a:ln/>
        </p:spPr>
        <p:txBody>
          <a:bodyPr wrap="square" lIns="0" tIns="0" rIns="0" bIns="0" rtlCol="0" anchor="ctr"/>
          <a:lstStyle/>
          <a:p>
            <a:pPr indent="0" marL="0">
              <a:buNone/>
            </a:pPr>
            <a:r>
              <a:rPr lang="en-US" sz="1300" b="1" dirty="0">
                <a:solidFill>
                  <a:srgbClr val="F7F5F0"/>
                </a:solidFill>
                <a:latin typeface="Georgia" pitchFamily="34" charset="0"/>
                <a:ea typeface="Georgia" pitchFamily="34" charset="-122"/>
                <a:cs typeface="Georgia" pitchFamily="34" charset="-120"/>
              </a:rPr>
              <a:t>Main agent</a:t>
            </a:r>
            <a:endParaRPr lang="en-US" sz="1300" dirty="0"/>
          </a:p>
        </p:txBody>
      </p:sp>
      <p:sp>
        <p:nvSpPr>
          <p:cNvPr id="17" name="Text 14"/>
          <p:cNvSpPr/>
          <p:nvPr/>
        </p:nvSpPr>
        <p:spPr>
          <a:xfrm>
            <a:off x="6053328" y="2350008"/>
            <a:ext cx="1737360" cy="228600"/>
          </a:xfrm>
          <a:prstGeom prst="rect">
            <a:avLst/>
          </a:prstGeom>
          <a:noFill/>
          <a:ln/>
        </p:spPr>
        <p:txBody>
          <a:bodyPr wrap="square" lIns="0" tIns="0" rIns="0" bIns="0" rtlCol="0" anchor="ctr"/>
          <a:lstStyle/>
          <a:p>
            <a:pPr indent="0" marL="0">
              <a:buNone/>
            </a:pPr>
            <a:r>
              <a:rPr lang="en-US" sz="900" dirty="0">
                <a:solidFill>
                  <a:srgbClr val="A9A69E"/>
                </a:solidFill>
                <a:latin typeface="Consolas" pitchFamily="34" charset="0"/>
                <a:ea typeface="Consolas" pitchFamily="34" charset="-122"/>
                <a:cs typeface="Consolas" pitchFamily="34" charset="-120"/>
              </a:rPr>
              <a:t>orchestrates</a:t>
            </a:r>
            <a:endParaRPr lang="en-US" sz="900" dirty="0"/>
          </a:p>
        </p:txBody>
      </p:sp>
      <p:sp>
        <p:nvSpPr>
          <p:cNvPr id="18" name="Shape 15"/>
          <p:cNvSpPr/>
          <p:nvPr/>
        </p:nvSpPr>
        <p:spPr>
          <a:xfrm>
            <a:off x="6720840" y="2651760"/>
            <a:ext cx="0" cy="201168"/>
          </a:xfrm>
          <a:prstGeom prst="line">
            <a:avLst/>
          </a:prstGeom>
          <a:noFill/>
          <a:ln w="15240">
            <a:solidFill>
              <a:srgbClr val="CC785C"/>
            </a:solidFill>
            <a:prstDash val="solid"/>
          </a:ln>
        </p:spPr>
      </p:sp>
      <p:sp>
        <p:nvSpPr>
          <p:cNvPr id="19" name="Shape 16"/>
          <p:cNvSpPr/>
          <p:nvPr/>
        </p:nvSpPr>
        <p:spPr>
          <a:xfrm>
            <a:off x="5417820" y="2852928"/>
            <a:ext cx="2615184" cy="0"/>
          </a:xfrm>
          <a:prstGeom prst="line">
            <a:avLst/>
          </a:prstGeom>
          <a:noFill/>
          <a:ln w="15240">
            <a:solidFill>
              <a:srgbClr val="CC785C"/>
            </a:solidFill>
            <a:prstDash val="solid"/>
          </a:ln>
        </p:spPr>
      </p:sp>
      <p:sp>
        <p:nvSpPr>
          <p:cNvPr id="20" name="Shape 17"/>
          <p:cNvSpPr/>
          <p:nvPr/>
        </p:nvSpPr>
        <p:spPr>
          <a:xfrm>
            <a:off x="5417820" y="2852928"/>
            <a:ext cx="0" cy="301752"/>
          </a:xfrm>
          <a:prstGeom prst="line">
            <a:avLst/>
          </a:prstGeom>
          <a:noFill/>
          <a:ln w="15240">
            <a:solidFill>
              <a:srgbClr val="CC785C"/>
            </a:solidFill>
            <a:prstDash val="solid"/>
          </a:ln>
        </p:spPr>
      </p:sp>
      <p:sp>
        <p:nvSpPr>
          <p:cNvPr id="21" name="Shape 18"/>
          <p:cNvSpPr/>
          <p:nvPr/>
        </p:nvSpPr>
        <p:spPr>
          <a:xfrm>
            <a:off x="6725412" y="2852928"/>
            <a:ext cx="0" cy="301752"/>
          </a:xfrm>
          <a:prstGeom prst="line">
            <a:avLst/>
          </a:prstGeom>
          <a:noFill/>
          <a:ln w="15240">
            <a:solidFill>
              <a:srgbClr val="CC785C"/>
            </a:solidFill>
            <a:prstDash val="solid"/>
          </a:ln>
        </p:spPr>
      </p:sp>
      <p:sp>
        <p:nvSpPr>
          <p:cNvPr id="22" name="Shape 19"/>
          <p:cNvSpPr/>
          <p:nvPr/>
        </p:nvSpPr>
        <p:spPr>
          <a:xfrm>
            <a:off x="8033004" y="2852928"/>
            <a:ext cx="0" cy="301752"/>
          </a:xfrm>
          <a:prstGeom prst="line">
            <a:avLst/>
          </a:prstGeom>
          <a:noFill/>
          <a:ln w="15240">
            <a:solidFill>
              <a:srgbClr val="CC785C"/>
            </a:solidFill>
            <a:prstDash val="solid"/>
          </a:ln>
        </p:spPr>
      </p:sp>
      <p:sp>
        <p:nvSpPr>
          <p:cNvPr id="23" name="Shape 20"/>
          <p:cNvSpPr/>
          <p:nvPr/>
        </p:nvSpPr>
        <p:spPr>
          <a:xfrm>
            <a:off x="4800600" y="3154680"/>
            <a:ext cx="1234440" cy="6858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24" name="Shape 21"/>
          <p:cNvSpPr/>
          <p:nvPr/>
        </p:nvSpPr>
        <p:spPr>
          <a:xfrm>
            <a:off x="4800600" y="3154680"/>
            <a:ext cx="1234440" cy="45720"/>
          </a:xfrm>
          <a:prstGeom prst="rect">
            <a:avLst/>
          </a:prstGeom>
          <a:solidFill>
            <a:srgbClr val="CC785C"/>
          </a:solidFill>
          <a:ln w="12700">
            <a:solidFill>
              <a:srgbClr val="CC785C"/>
            </a:solidFill>
            <a:prstDash val="solid"/>
          </a:ln>
        </p:spPr>
      </p:sp>
      <p:sp>
        <p:nvSpPr>
          <p:cNvPr id="25" name="Text 22"/>
          <p:cNvSpPr/>
          <p:nvPr/>
        </p:nvSpPr>
        <p:spPr>
          <a:xfrm>
            <a:off x="4873752" y="3264408"/>
            <a:ext cx="1088136" cy="274320"/>
          </a:xfrm>
          <a:prstGeom prst="rect">
            <a:avLst/>
          </a:prstGeom>
          <a:noFill/>
          <a:ln/>
        </p:spPr>
        <p:txBody>
          <a:bodyPr wrap="square" lIns="0" tIns="0" rIns="0" bIns="0" rtlCol="0" anchor="ctr"/>
          <a:lstStyle/>
          <a:p>
            <a:pPr indent="0" marL="0">
              <a:buNone/>
            </a:pPr>
            <a:r>
              <a:rPr lang="en-US" sz="1000" b="1" dirty="0">
                <a:solidFill>
                  <a:srgbClr val="1A1B1F"/>
                </a:solidFill>
                <a:latin typeface="Consolas" pitchFamily="34" charset="0"/>
                <a:ea typeface="Consolas" pitchFamily="34" charset="-122"/>
                <a:cs typeface="Consolas" pitchFamily="34" charset="-120"/>
              </a:rPr>
              <a:t>code-reviewer</a:t>
            </a:r>
            <a:endParaRPr lang="en-US" sz="1000" dirty="0"/>
          </a:p>
        </p:txBody>
      </p:sp>
      <p:sp>
        <p:nvSpPr>
          <p:cNvPr id="26" name="Text 23"/>
          <p:cNvSpPr/>
          <p:nvPr/>
        </p:nvSpPr>
        <p:spPr>
          <a:xfrm>
            <a:off x="4873752" y="3538728"/>
            <a:ext cx="1088136" cy="228600"/>
          </a:xfrm>
          <a:prstGeom prst="rect">
            <a:avLst/>
          </a:prstGeom>
          <a:noFill/>
          <a:ln/>
        </p:spPr>
        <p:txBody>
          <a:bodyPr wrap="square" lIns="0" tIns="0" rIns="0" bIns="0" rtlCol="0" anchor="ctr"/>
          <a:lstStyle/>
          <a:p>
            <a:pPr indent="0" marL="0">
              <a:buNone/>
            </a:pPr>
            <a:r>
              <a:rPr lang="en-US" sz="900" dirty="0">
                <a:solidFill>
                  <a:srgbClr val="6B6A66"/>
                </a:solidFill>
                <a:latin typeface="Consolas" pitchFamily="34" charset="0"/>
                <a:ea typeface="Consolas" pitchFamily="34" charset="-122"/>
                <a:cs typeface="Consolas" pitchFamily="34" charset="-120"/>
              </a:rPr>
              <a:t>tools: Grep, Read</a:t>
            </a:r>
            <a:endParaRPr lang="en-US" sz="900" dirty="0"/>
          </a:p>
        </p:txBody>
      </p:sp>
      <p:sp>
        <p:nvSpPr>
          <p:cNvPr id="27" name="Shape 24"/>
          <p:cNvSpPr/>
          <p:nvPr/>
        </p:nvSpPr>
        <p:spPr>
          <a:xfrm>
            <a:off x="6108192" y="3154680"/>
            <a:ext cx="1234440" cy="6858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28" name="Shape 25"/>
          <p:cNvSpPr/>
          <p:nvPr/>
        </p:nvSpPr>
        <p:spPr>
          <a:xfrm>
            <a:off x="6108192" y="3154680"/>
            <a:ext cx="1234440" cy="45720"/>
          </a:xfrm>
          <a:prstGeom prst="rect">
            <a:avLst/>
          </a:prstGeom>
          <a:solidFill>
            <a:srgbClr val="CC785C"/>
          </a:solidFill>
          <a:ln w="12700">
            <a:solidFill>
              <a:srgbClr val="CC785C"/>
            </a:solidFill>
            <a:prstDash val="solid"/>
          </a:ln>
        </p:spPr>
      </p:sp>
      <p:sp>
        <p:nvSpPr>
          <p:cNvPr id="29" name="Text 26"/>
          <p:cNvSpPr/>
          <p:nvPr/>
        </p:nvSpPr>
        <p:spPr>
          <a:xfrm>
            <a:off x="6181344" y="3264408"/>
            <a:ext cx="1088136" cy="274320"/>
          </a:xfrm>
          <a:prstGeom prst="rect">
            <a:avLst/>
          </a:prstGeom>
          <a:noFill/>
          <a:ln/>
        </p:spPr>
        <p:txBody>
          <a:bodyPr wrap="square" lIns="0" tIns="0" rIns="0" bIns="0" rtlCol="0" anchor="ctr"/>
          <a:lstStyle/>
          <a:p>
            <a:pPr indent="0" marL="0">
              <a:buNone/>
            </a:pPr>
            <a:r>
              <a:rPr lang="en-US" sz="1000" b="1" dirty="0">
                <a:solidFill>
                  <a:srgbClr val="1A1B1F"/>
                </a:solidFill>
                <a:latin typeface="Consolas" pitchFamily="34" charset="0"/>
                <a:ea typeface="Consolas" pitchFamily="34" charset="-122"/>
                <a:cs typeface="Consolas" pitchFamily="34" charset="-120"/>
              </a:rPr>
              <a:t>test-runner</a:t>
            </a:r>
            <a:endParaRPr lang="en-US" sz="1000" dirty="0"/>
          </a:p>
        </p:txBody>
      </p:sp>
      <p:sp>
        <p:nvSpPr>
          <p:cNvPr id="30" name="Text 27"/>
          <p:cNvSpPr/>
          <p:nvPr/>
        </p:nvSpPr>
        <p:spPr>
          <a:xfrm>
            <a:off x="6181344" y="3538728"/>
            <a:ext cx="1088136" cy="228600"/>
          </a:xfrm>
          <a:prstGeom prst="rect">
            <a:avLst/>
          </a:prstGeom>
          <a:noFill/>
          <a:ln/>
        </p:spPr>
        <p:txBody>
          <a:bodyPr wrap="square" lIns="0" tIns="0" rIns="0" bIns="0" rtlCol="0" anchor="ctr"/>
          <a:lstStyle/>
          <a:p>
            <a:pPr indent="0" marL="0">
              <a:buNone/>
            </a:pPr>
            <a:r>
              <a:rPr lang="en-US" sz="900" dirty="0">
                <a:solidFill>
                  <a:srgbClr val="6B6A66"/>
                </a:solidFill>
                <a:latin typeface="Consolas" pitchFamily="34" charset="0"/>
                <a:ea typeface="Consolas" pitchFamily="34" charset="-122"/>
                <a:cs typeface="Consolas" pitchFamily="34" charset="-120"/>
              </a:rPr>
              <a:t>tools: Bash, Read</a:t>
            </a:r>
            <a:endParaRPr lang="en-US" sz="900" dirty="0"/>
          </a:p>
        </p:txBody>
      </p:sp>
      <p:sp>
        <p:nvSpPr>
          <p:cNvPr id="31" name="Shape 28"/>
          <p:cNvSpPr/>
          <p:nvPr/>
        </p:nvSpPr>
        <p:spPr>
          <a:xfrm>
            <a:off x="7415784" y="3154680"/>
            <a:ext cx="1234440" cy="6858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32" name="Shape 29"/>
          <p:cNvSpPr/>
          <p:nvPr/>
        </p:nvSpPr>
        <p:spPr>
          <a:xfrm>
            <a:off x="7415784" y="3154680"/>
            <a:ext cx="1234440" cy="45720"/>
          </a:xfrm>
          <a:prstGeom prst="rect">
            <a:avLst/>
          </a:prstGeom>
          <a:solidFill>
            <a:srgbClr val="CC785C"/>
          </a:solidFill>
          <a:ln w="12700">
            <a:solidFill>
              <a:srgbClr val="CC785C"/>
            </a:solidFill>
            <a:prstDash val="solid"/>
          </a:ln>
        </p:spPr>
      </p:sp>
      <p:sp>
        <p:nvSpPr>
          <p:cNvPr id="33" name="Text 30"/>
          <p:cNvSpPr/>
          <p:nvPr/>
        </p:nvSpPr>
        <p:spPr>
          <a:xfrm>
            <a:off x="7488936" y="3264408"/>
            <a:ext cx="1088136" cy="274320"/>
          </a:xfrm>
          <a:prstGeom prst="rect">
            <a:avLst/>
          </a:prstGeom>
          <a:noFill/>
          <a:ln/>
        </p:spPr>
        <p:txBody>
          <a:bodyPr wrap="square" lIns="0" tIns="0" rIns="0" bIns="0" rtlCol="0" anchor="ctr"/>
          <a:lstStyle/>
          <a:p>
            <a:pPr indent="0" marL="0">
              <a:buNone/>
            </a:pPr>
            <a:r>
              <a:rPr lang="en-US" sz="1000" b="1" dirty="0">
                <a:solidFill>
                  <a:srgbClr val="1A1B1F"/>
                </a:solidFill>
                <a:latin typeface="Consolas" pitchFamily="34" charset="0"/>
                <a:ea typeface="Consolas" pitchFamily="34" charset="-122"/>
                <a:cs typeface="Consolas" pitchFamily="34" charset="-120"/>
              </a:rPr>
              <a:t>security-scan</a:t>
            </a:r>
            <a:endParaRPr lang="en-US" sz="1000" dirty="0"/>
          </a:p>
        </p:txBody>
      </p:sp>
      <p:sp>
        <p:nvSpPr>
          <p:cNvPr id="34" name="Text 31"/>
          <p:cNvSpPr/>
          <p:nvPr/>
        </p:nvSpPr>
        <p:spPr>
          <a:xfrm>
            <a:off x="7488936" y="3538728"/>
            <a:ext cx="1088136" cy="228600"/>
          </a:xfrm>
          <a:prstGeom prst="rect">
            <a:avLst/>
          </a:prstGeom>
          <a:noFill/>
          <a:ln/>
        </p:spPr>
        <p:txBody>
          <a:bodyPr wrap="square" lIns="0" tIns="0" rIns="0" bIns="0" rtlCol="0" anchor="ctr"/>
          <a:lstStyle/>
          <a:p>
            <a:pPr indent="0" marL="0">
              <a:buNone/>
            </a:pPr>
            <a:r>
              <a:rPr lang="en-US" sz="900" dirty="0">
                <a:solidFill>
                  <a:srgbClr val="6B6A66"/>
                </a:solidFill>
                <a:latin typeface="Consolas" pitchFamily="34" charset="0"/>
                <a:ea typeface="Consolas" pitchFamily="34" charset="-122"/>
                <a:cs typeface="Consolas" pitchFamily="34" charset="-120"/>
              </a:rPr>
              <a:t>tools: Grep, Read</a:t>
            </a:r>
            <a:endParaRPr lang="en-US" sz="900" dirty="0"/>
          </a:p>
        </p:txBody>
      </p:sp>
      <p:sp>
        <p:nvSpPr>
          <p:cNvPr id="35" name="Text 32"/>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08  —  CAPABILITIES</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What it can do</a:t>
            </a:r>
            <a:endParaRPr lang="en-US" sz="36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Common categories of work people hand to Claude Code. You review the diff before it lands.</a:t>
            </a:r>
            <a:endParaRPr lang="en-US" sz="1300" dirty="0"/>
          </a:p>
        </p:txBody>
      </p:sp>
      <p:sp>
        <p:nvSpPr>
          <p:cNvPr id="5" name="Shape 3"/>
          <p:cNvSpPr/>
          <p:nvPr/>
        </p:nvSpPr>
        <p:spPr>
          <a:xfrm>
            <a:off x="502920" y="196596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04088" y="2167128"/>
            <a:ext cx="502920" cy="502920"/>
          </a:xfrm>
          <a:prstGeom prst="ellipse">
            <a:avLst/>
          </a:prstGeom>
          <a:solidFill>
            <a:srgbClr val="EFEAE0"/>
          </a:solidFill>
          <a:ln w="12700">
            <a:solidFill>
              <a:srgbClr val="EFEAE0"/>
            </a:solidFill>
            <a:prstDash val="solid"/>
          </a:ln>
        </p:spPr>
      </p:sp>
      <p:pic>
        <p:nvPicPr>
          <p:cNvPr id="7" name="Image 0" descr="preencoded.png">    </p:cNvPr>
          <p:cNvPicPr>
            <a:picLocks noChangeAspect="1"/>
          </p:cNvPicPr>
          <p:nvPr/>
        </p:nvPicPr>
        <p:blipFill>
          <a:blip r:embed="rId1"/>
          <a:stretch>
            <a:fillRect/>
          </a:stretch>
        </p:blipFill>
        <p:spPr>
          <a:xfrm>
            <a:off x="804672" y="2267712"/>
            <a:ext cx="301752" cy="301752"/>
          </a:xfrm>
          <a:prstGeom prst="rect">
            <a:avLst/>
          </a:prstGeom>
        </p:spPr>
      </p:pic>
      <p:sp>
        <p:nvSpPr>
          <p:cNvPr id="8" name="Text 5"/>
          <p:cNvSpPr/>
          <p:nvPr/>
        </p:nvSpPr>
        <p:spPr>
          <a:xfrm>
            <a:off x="1325880" y="2167128"/>
            <a:ext cx="173736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Build features</a:t>
            </a:r>
            <a:endParaRPr lang="en-US" sz="1400" dirty="0"/>
          </a:p>
        </p:txBody>
      </p:sp>
      <p:sp>
        <p:nvSpPr>
          <p:cNvPr id="9" name="Text 6"/>
          <p:cNvSpPr/>
          <p:nvPr/>
        </p:nvSpPr>
        <p:spPr>
          <a:xfrm>
            <a:off x="704088" y="2743200"/>
            <a:ext cx="2331720" cy="45720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Plans across files, writes code and tests, runs the suite.</a:t>
            </a:r>
            <a:endParaRPr lang="en-US" sz="1100" dirty="0"/>
          </a:p>
        </p:txBody>
      </p:sp>
      <p:sp>
        <p:nvSpPr>
          <p:cNvPr id="10" name="Shape 7"/>
          <p:cNvSpPr/>
          <p:nvPr/>
        </p:nvSpPr>
        <p:spPr>
          <a:xfrm>
            <a:off x="3246120" y="196596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1" name="Shape 8"/>
          <p:cNvSpPr/>
          <p:nvPr/>
        </p:nvSpPr>
        <p:spPr>
          <a:xfrm>
            <a:off x="3447288" y="2167128"/>
            <a:ext cx="502920" cy="502920"/>
          </a:xfrm>
          <a:prstGeom prst="ellipse">
            <a:avLst/>
          </a:prstGeom>
          <a:solidFill>
            <a:srgbClr val="EFEAE0"/>
          </a:solidFill>
          <a:ln w="12700">
            <a:solidFill>
              <a:srgbClr val="EFEAE0"/>
            </a:solidFill>
            <a:prstDash val="solid"/>
          </a:ln>
        </p:spPr>
      </p:sp>
      <p:pic>
        <p:nvPicPr>
          <p:cNvPr id="12" name="Image 1" descr="preencoded.png">    </p:cNvPr>
          <p:cNvPicPr>
            <a:picLocks noChangeAspect="1"/>
          </p:cNvPicPr>
          <p:nvPr/>
        </p:nvPicPr>
        <p:blipFill>
          <a:blip r:embed="rId2"/>
          <a:stretch>
            <a:fillRect/>
          </a:stretch>
        </p:blipFill>
        <p:spPr>
          <a:xfrm>
            <a:off x="3547872" y="2267712"/>
            <a:ext cx="301752" cy="301752"/>
          </a:xfrm>
          <a:prstGeom prst="rect">
            <a:avLst/>
          </a:prstGeom>
        </p:spPr>
      </p:pic>
      <p:sp>
        <p:nvSpPr>
          <p:cNvPr id="13" name="Text 9"/>
          <p:cNvSpPr/>
          <p:nvPr/>
        </p:nvSpPr>
        <p:spPr>
          <a:xfrm>
            <a:off x="4069080" y="2167128"/>
            <a:ext cx="173736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Fix bugs</a:t>
            </a:r>
            <a:endParaRPr lang="en-US" sz="1400" dirty="0"/>
          </a:p>
        </p:txBody>
      </p:sp>
      <p:sp>
        <p:nvSpPr>
          <p:cNvPr id="14" name="Text 10"/>
          <p:cNvSpPr/>
          <p:nvPr/>
        </p:nvSpPr>
        <p:spPr>
          <a:xfrm>
            <a:off x="3447288" y="2743200"/>
            <a:ext cx="2331720" cy="45720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Reads the stack trace, traces the cause, proposes a patch.</a:t>
            </a:r>
            <a:endParaRPr lang="en-US" sz="1100" dirty="0"/>
          </a:p>
        </p:txBody>
      </p:sp>
      <p:sp>
        <p:nvSpPr>
          <p:cNvPr id="15" name="Shape 11"/>
          <p:cNvSpPr/>
          <p:nvPr/>
        </p:nvSpPr>
        <p:spPr>
          <a:xfrm>
            <a:off x="5989320" y="196596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6" name="Shape 12"/>
          <p:cNvSpPr/>
          <p:nvPr/>
        </p:nvSpPr>
        <p:spPr>
          <a:xfrm>
            <a:off x="6190488" y="2167128"/>
            <a:ext cx="502920" cy="502920"/>
          </a:xfrm>
          <a:prstGeom prst="ellipse">
            <a:avLst/>
          </a:prstGeom>
          <a:solidFill>
            <a:srgbClr val="EFEAE0"/>
          </a:solidFill>
          <a:ln w="12700">
            <a:solidFill>
              <a:srgbClr val="EFEAE0"/>
            </a:solidFill>
            <a:prstDash val="solid"/>
          </a:ln>
        </p:spPr>
      </p:sp>
      <p:pic>
        <p:nvPicPr>
          <p:cNvPr id="17" name="Image 2" descr="preencoded.png">    </p:cNvPr>
          <p:cNvPicPr>
            <a:picLocks noChangeAspect="1"/>
          </p:cNvPicPr>
          <p:nvPr/>
        </p:nvPicPr>
        <p:blipFill>
          <a:blip r:embed="rId3"/>
          <a:stretch>
            <a:fillRect/>
          </a:stretch>
        </p:blipFill>
        <p:spPr>
          <a:xfrm>
            <a:off x="6291072" y="2267712"/>
            <a:ext cx="301752" cy="301752"/>
          </a:xfrm>
          <a:prstGeom prst="rect">
            <a:avLst/>
          </a:prstGeom>
        </p:spPr>
      </p:pic>
      <p:sp>
        <p:nvSpPr>
          <p:cNvPr id="18" name="Text 13"/>
          <p:cNvSpPr/>
          <p:nvPr/>
        </p:nvSpPr>
        <p:spPr>
          <a:xfrm>
            <a:off x="6812280" y="2167128"/>
            <a:ext cx="173736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Refactor</a:t>
            </a:r>
            <a:endParaRPr lang="en-US" sz="1400" dirty="0"/>
          </a:p>
        </p:txBody>
      </p:sp>
      <p:sp>
        <p:nvSpPr>
          <p:cNvPr id="19" name="Text 14"/>
          <p:cNvSpPr/>
          <p:nvPr/>
        </p:nvSpPr>
        <p:spPr>
          <a:xfrm>
            <a:off x="6190488" y="2743200"/>
            <a:ext cx="2331720" cy="45720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Renames, restructures, or extracts across many files at once.</a:t>
            </a:r>
            <a:endParaRPr lang="en-US" sz="1100" dirty="0"/>
          </a:p>
        </p:txBody>
      </p:sp>
      <p:sp>
        <p:nvSpPr>
          <p:cNvPr id="20" name="Shape 15"/>
          <p:cNvSpPr/>
          <p:nvPr/>
        </p:nvSpPr>
        <p:spPr>
          <a:xfrm>
            <a:off x="502920" y="333756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21" name="Shape 16"/>
          <p:cNvSpPr/>
          <p:nvPr/>
        </p:nvSpPr>
        <p:spPr>
          <a:xfrm>
            <a:off x="704088" y="3538728"/>
            <a:ext cx="502920" cy="502920"/>
          </a:xfrm>
          <a:prstGeom prst="ellipse">
            <a:avLst/>
          </a:prstGeom>
          <a:solidFill>
            <a:srgbClr val="EFEAE0"/>
          </a:solidFill>
          <a:ln w="12700">
            <a:solidFill>
              <a:srgbClr val="EFEAE0"/>
            </a:solidFill>
            <a:prstDash val="solid"/>
          </a:ln>
        </p:spPr>
      </p:sp>
      <p:pic>
        <p:nvPicPr>
          <p:cNvPr id="22" name="Image 3" descr="preencoded.png">    </p:cNvPr>
          <p:cNvPicPr>
            <a:picLocks noChangeAspect="1"/>
          </p:cNvPicPr>
          <p:nvPr/>
        </p:nvPicPr>
        <p:blipFill>
          <a:blip r:embed="rId4"/>
          <a:stretch>
            <a:fillRect/>
          </a:stretch>
        </p:blipFill>
        <p:spPr>
          <a:xfrm>
            <a:off x="804672" y="3639312"/>
            <a:ext cx="301752" cy="301752"/>
          </a:xfrm>
          <a:prstGeom prst="rect">
            <a:avLst/>
          </a:prstGeom>
        </p:spPr>
      </p:pic>
      <p:sp>
        <p:nvSpPr>
          <p:cNvPr id="23" name="Text 17"/>
          <p:cNvSpPr/>
          <p:nvPr/>
        </p:nvSpPr>
        <p:spPr>
          <a:xfrm>
            <a:off x="1325880" y="3538728"/>
            <a:ext cx="173736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Write &amp; run tests</a:t>
            </a:r>
            <a:endParaRPr lang="en-US" sz="1400" dirty="0"/>
          </a:p>
        </p:txBody>
      </p:sp>
      <p:sp>
        <p:nvSpPr>
          <p:cNvPr id="24" name="Text 18"/>
          <p:cNvSpPr/>
          <p:nvPr/>
        </p:nvSpPr>
        <p:spPr>
          <a:xfrm>
            <a:off x="704088" y="4114800"/>
            <a:ext cx="2331720" cy="45720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Generates tests, runs the suite, iterates on failures.</a:t>
            </a:r>
            <a:endParaRPr lang="en-US" sz="1100" dirty="0"/>
          </a:p>
        </p:txBody>
      </p:sp>
      <p:sp>
        <p:nvSpPr>
          <p:cNvPr id="25" name="Shape 19"/>
          <p:cNvSpPr/>
          <p:nvPr/>
        </p:nvSpPr>
        <p:spPr>
          <a:xfrm>
            <a:off x="3246120" y="333756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26" name="Shape 20"/>
          <p:cNvSpPr/>
          <p:nvPr/>
        </p:nvSpPr>
        <p:spPr>
          <a:xfrm>
            <a:off x="3447288" y="3538728"/>
            <a:ext cx="502920" cy="502920"/>
          </a:xfrm>
          <a:prstGeom prst="ellipse">
            <a:avLst/>
          </a:prstGeom>
          <a:solidFill>
            <a:srgbClr val="EFEAE0"/>
          </a:solidFill>
          <a:ln w="12700">
            <a:solidFill>
              <a:srgbClr val="EFEAE0"/>
            </a:solidFill>
            <a:prstDash val="solid"/>
          </a:ln>
        </p:spPr>
      </p:sp>
      <p:pic>
        <p:nvPicPr>
          <p:cNvPr id="27" name="Image 4" descr="preencoded.png">    </p:cNvPr>
          <p:cNvPicPr>
            <a:picLocks noChangeAspect="1"/>
          </p:cNvPicPr>
          <p:nvPr/>
        </p:nvPicPr>
        <p:blipFill>
          <a:blip r:embed="rId5"/>
          <a:stretch>
            <a:fillRect/>
          </a:stretch>
        </p:blipFill>
        <p:spPr>
          <a:xfrm>
            <a:off x="3547872" y="3639312"/>
            <a:ext cx="301752" cy="301752"/>
          </a:xfrm>
          <a:prstGeom prst="rect">
            <a:avLst/>
          </a:prstGeom>
        </p:spPr>
      </p:pic>
      <p:sp>
        <p:nvSpPr>
          <p:cNvPr id="28" name="Text 21"/>
          <p:cNvSpPr/>
          <p:nvPr/>
        </p:nvSpPr>
        <p:spPr>
          <a:xfrm>
            <a:off x="4069080" y="3538728"/>
            <a:ext cx="173736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Explain code</a:t>
            </a:r>
            <a:endParaRPr lang="en-US" sz="1400" dirty="0"/>
          </a:p>
        </p:txBody>
      </p:sp>
      <p:sp>
        <p:nvSpPr>
          <p:cNvPr id="29" name="Text 22"/>
          <p:cNvSpPr/>
          <p:nvPr/>
        </p:nvSpPr>
        <p:spPr>
          <a:xfrm>
            <a:off x="3447288" y="4114800"/>
            <a:ext cx="2331720" cy="45720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Reads an unfamiliar system and walks you through it.</a:t>
            </a:r>
            <a:endParaRPr lang="en-US" sz="1100" dirty="0"/>
          </a:p>
        </p:txBody>
      </p:sp>
      <p:sp>
        <p:nvSpPr>
          <p:cNvPr id="30" name="Shape 23"/>
          <p:cNvSpPr/>
          <p:nvPr/>
        </p:nvSpPr>
        <p:spPr>
          <a:xfrm>
            <a:off x="5989320" y="333756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31" name="Shape 24"/>
          <p:cNvSpPr/>
          <p:nvPr/>
        </p:nvSpPr>
        <p:spPr>
          <a:xfrm>
            <a:off x="6190488" y="3538728"/>
            <a:ext cx="502920" cy="502920"/>
          </a:xfrm>
          <a:prstGeom prst="ellipse">
            <a:avLst/>
          </a:prstGeom>
          <a:solidFill>
            <a:srgbClr val="EFEAE0"/>
          </a:solidFill>
          <a:ln w="12700">
            <a:solidFill>
              <a:srgbClr val="EFEAE0"/>
            </a:solidFill>
            <a:prstDash val="solid"/>
          </a:ln>
        </p:spPr>
      </p:sp>
      <p:pic>
        <p:nvPicPr>
          <p:cNvPr id="32" name="Image 5" descr="preencoded.png">    </p:cNvPr>
          <p:cNvPicPr>
            <a:picLocks noChangeAspect="1"/>
          </p:cNvPicPr>
          <p:nvPr/>
        </p:nvPicPr>
        <p:blipFill>
          <a:blip r:embed="rId6"/>
          <a:stretch>
            <a:fillRect/>
          </a:stretch>
        </p:blipFill>
        <p:spPr>
          <a:xfrm>
            <a:off x="6291072" y="3639312"/>
            <a:ext cx="301752" cy="301752"/>
          </a:xfrm>
          <a:prstGeom prst="rect">
            <a:avLst/>
          </a:prstGeom>
        </p:spPr>
      </p:pic>
      <p:sp>
        <p:nvSpPr>
          <p:cNvPr id="33" name="Text 25"/>
          <p:cNvSpPr/>
          <p:nvPr/>
        </p:nvSpPr>
        <p:spPr>
          <a:xfrm>
            <a:off x="6812280" y="3538728"/>
            <a:ext cx="173736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Handle Git</a:t>
            </a:r>
            <a:endParaRPr lang="en-US" sz="1400" dirty="0"/>
          </a:p>
        </p:txBody>
      </p:sp>
      <p:sp>
        <p:nvSpPr>
          <p:cNvPr id="34" name="Text 26"/>
          <p:cNvSpPr/>
          <p:nvPr/>
        </p:nvSpPr>
        <p:spPr>
          <a:xfrm>
            <a:off x="6190488" y="4114800"/>
            <a:ext cx="2331720" cy="45720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Drafts commits, resolves conflicts, opens PRs.</a:t>
            </a:r>
            <a:endParaRPr lang="en-US" sz="1100" dirty="0"/>
          </a:p>
        </p:txBody>
      </p:sp>
      <p:sp>
        <p:nvSpPr>
          <p:cNvPr id="35" name="Text 27"/>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09  —  IN ACTION</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The loop, on a real task</a:t>
            </a:r>
            <a:endParaRPr lang="en-US" sz="36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You ask: "Add rate limiting to our API." Here's how Claude Code works through it.</a:t>
            </a:r>
            <a:endParaRPr lang="en-US" sz="1300" dirty="0"/>
          </a:p>
        </p:txBody>
      </p:sp>
      <p:sp>
        <p:nvSpPr>
          <p:cNvPr id="5" name="Shape 3"/>
          <p:cNvSpPr/>
          <p:nvPr/>
        </p:nvSpPr>
        <p:spPr>
          <a:xfrm>
            <a:off x="502920" y="1920240"/>
            <a:ext cx="8138160" cy="658368"/>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502920" y="1920240"/>
            <a:ext cx="685800" cy="658368"/>
          </a:xfrm>
          <a:prstGeom prst="rect">
            <a:avLst/>
          </a:prstGeom>
          <a:solidFill>
            <a:srgbClr val="1A1B1F"/>
          </a:solidFill>
          <a:ln w="12700">
            <a:solidFill>
              <a:srgbClr val="1A1B1F"/>
            </a:solidFill>
            <a:prstDash val="solid"/>
          </a:ln>
        </p:spPr>
      </p:sp>
      <p:sp>
        <p:nvSpPr>
          <p:cNvPr id="7" name="Text 5"/>
          <p:cNvSpPr/>
          <p:nvPr/>
        </p:nvSpPr>
        <p:spPr>
          <a:xfrm>
            <a:off x="502920" y="1920240"/>
            <a:ext cx="685800" cy="658368"/>
          </a:xfrm>
          <a:prstGeom prst="rect">
            <a:avLst/>
          </a:prstGeom>
          <a:noFill/>
          <a:ln/>
        </p:spPr>
        <p:txBody>
          <a:bodyPr wrap="square" lIns="0" tIns="0" rIns="0" bIns="0" rtlCol="0" anchor="ctr"/>
          <a:lstStyle/>
          <a:p>
            <a:pPr algn="ctr" indent="0" marL="0">
              <a:buNone/>
            </a:pPr>
            <a:r>
              <a:rPr lang="en-US" sz="2200" b="1" dirty="0">
                <a:solidFill>
                  <a:srgbClr val="CC785C"/>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1371600" y="1993392"/>
            <a:ext cx="1828800" cy="201168"/>
          </a:xfrm>
          <a:prstGeom prst="rect">
            <a:avLst/>
          </a:prstGeom>
          <a:noFill/>
          <a:ln/>
        </p:spPr>
        <p:txBody>
          <a:bodyPr wrap="square" lIns="0" tIns="0" rIns="0" bIns="0" rtlCol="0" anchor="ctr"/>
          <a:lstStyle/>
          <a:p>
            <a:pPr indent="0" marL="0">
              <a:buNone/>
            </a:pPr>
            <a:r>
              <a:rPr lang="en-US" sz="900" b="1" spc="300" kern="0" dirty="0">
                <a:solidFill>
                  <a:srgbClr val="CC785C"/>
                </a:solidFill>
                <a:latin typeface="Calibri" pitchFamily="34" charset="0"/>
                <a:ea typeface="Calibri" pitchFamily="34" charset="-122"/>
                <a:cs typeface="Calibri" pitchFamily="34" charset="-120"/>
              </a:rPr>
              <a:t>UNDERSTAND</a:t>
            </a:r>
            <a:endParaRPr lang="en-US" sz="900" dirty="0"/>
          </a:p>
        </p:txBody>
      </p:sp>
      <p:sp>
        <p:nvSpPr>
          <p:cNvPr id="9" name="Text 7"/>
          <p:cNvSpPr/>
          <p:nvPr/>
        </p:nvSpPr>
        <p:spPr>
          <a:xfrm>
            <a:off x="1371600" y="2176272"/>
            <a:ext cx="7132320" cy="201168"/>
          </a:xfrm>
          <a:prstGeom prst="rect">
            <a:avLst/>
          </a:prstGeom>
          <a:noFill/>
          <a:ln/>
        </p:spPr>
        <p:txBody>
          <a:bodyPr wrap="square" lIns="0" tIns="0" rIns="0" bIns="0" rtlCol="0" anchor="ctr"/>
          <a:lstStyle/>
          <a:p>
            <a:pPr indent="0" marL="0">
              <a:buNone/>
            </a:pPr>
            <a:r>
              <a:rPr lang="en-US" sz="1050" dirty="0">
                <a:solidFill>
                  <a:srgbClr val="1A1B1F"/>
                </a:solidFill>
                <a:latin typeface="Consolas" pitchFamily="34" charset="0"/>
                <a:ea typeface="Consolas" pitchFamily="34" charset="-122"/>
                <a:cs typeface="Consolas" pitchFamily="34" charset="-120"/>
              </a:rPr>
              <a:t>● Reading middleware/ and routes/api/</a:t>
            </a:r>
            <a:endParaRPr lang="en-US" sz="1050" dirty="0"/>
          </a:p>
        </p:txBody>
      </p:sp>
      <p:sp>
        <p:nvSpPr>
          <p:cNvPr id="10" name="Text 8"/>
          <p:cNvSpPr/>
          <p:nvPr/>
        </p:nvSpPr>
        <p:spPr>
          <a:xfrm>
            <a:off x="1371600" y="2359152"/>
            <a:ext cx="7132320" cy="201168"/>
          </a:xfrm>
          <a:prstGeom prst="rect">
            <a:avLst/>
          </a:prstGeom>
          <a:noFill/>
          <a:ln/>
        </p:spPr>
        <p:txBody>
          <a:bodyPr wrap="square" lIns="0" tIns="0" rIns="0" bIns="0" rtlCol="0" anchor="ctr"/>
          <a:lstStyle/>
          <a:p>
            <a:pPr indent="0" marL="0">
              <a:buNone/>
            </a:pPr>
            <a:r>
              <a:rPr lang="en-US" sz="1050" dirty="0">
                <a:solidFill>
                  <a:srgbClr val="6B6A66"/>
                </a:solidFill>
                <a:latin typeface="Consolas" pitchFamily="34" charset="0"/>
                <a:ea typeface="Consolas" pitchFamily="34" charset="-122"/>
                <a:cs typeface="Consolas" pitchFamily="34" charset="-120"/>
              </a:rPr>
              <a:t>● Found 3 endpoints; Express + custom auth middleware</a:t>
            </a:r>
            <a:endParaRPr lang="en-US" sz="1050" dirty="0"/>
          </a:p>
        </p:txBody>
      </p:sp>
      <p:sp>
        <p:nvSpPr>
          <p:cNvPr id="11" name="Shape 9"/>
          <p:cNvSpPr/>
          <p:nvPr/>
        </p:nvSpPr>
        <p:spPr>
          <a:xfrm>
            <a:off x="502920" y="2651760"/>
            <a:ext cx="8138160" cy="658368"/>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2" name="Shape 10"/>
          <p:cNvSpPr/>
          <p:nvPr/>
        </p:nvSpPr>
        <p:spPr>
          <a:xfrm>
            <a:off x="502920" y="2651760"/>
            <a:ext cx="685800" cy="658368"/>
          </a:xfrm>
          <a:prstGeom prst="rect">
            <a:avLst/>
          </a:prstGeom>
          <a:solidFill>
            <a:srgbClr val="1A1B1F"/>
          </a:solidFill>
          <a:ln w="12700">
            <a:solidFill>
              <a:srgbClr val="1A1B1F"/>
            </a:solidFill>
            <a:prstDash val="solid"/>
          </a:ln>
        </p:spPr>
      </p:sp>
      <p:sp>
        <p:nvSpPr>
          <p:cNvPr id="13" name="Text 11"/>
          <p:cNvSpPr/>
          <p:nvPr/>
        </p:nvSpPr>
        <p:spPr>
          <a:xfrm>
            <a:off x="502920" y="2651760"/>
            <a:ext cx="685800" cy="658368"/>
          </a:xfrm>
          <a:prstGeom prst="rect">
            <a:avLst/>
          </a:prstGeom>
          <a:noFill/>
          <a:ln/>
        </p:spPr>
        <p:txBody>
          <a:bodyPr wrap="square" lIns="0" tIns="0" rIns="0" bIns="0" rtlCol="0" anchor="ctr"/>
          <a:lstStyle/>
          <a:p>
            <a:pPr algn="ctr" indent="0" marL="0">
              <a:buNone/>
            </a:pPr>
            <a:r>
              <a:rPr lang="en-US" sz="2200" b="1" dirty="0">
                <a:solidFill>
                  <a:srgbClr val="CC785C"/>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1371600" y="2724912"/>
            <a:ext cx="1828800" cy="201168"/>
          </a:xfrm>
          <a:prstGeom prst="rect">
            <a:avLst/>
          </a:prstGeom>
          <a:noFill/>
          <a:ln/>
        </p:spPr>
        <p:txBody>
          <a:bodyPr wrap="square" lIns="0" tIns="0" rIns="0" bIns="0" rtlCol="0" anchor="ctr"/>
          <a:lstStyle/>
          <a:p>
            <a:pPr indent="0" marL="0">
              <a:buNone/>
            </a:pPr>
            <a:r>
              <a:rPr lang="en-US" sz="900" b="1" spc="300" kern="0" dirty="0">
                <a:solidFill>
                  <a:srgbClr val="CC785C"/>
                </a:solidFill>
                <a:latin typeface="Calibri" pitchFamily="34" charset="0"/>
                <a:ea typeface="Calibri" pitchFamily="34" charset="-122"/>
                <a:cs typeface="Calibri" pitchFamily="34" charset="-120"/>
              </a:rPr>
              <a:t>PLAN</a:t>
            </a:r>
            <a:endParaRPr lang="en-US" sz="900" dirty="0"/>
          </a:p>
        </p:txBody>
      </p:sp>
      <p:sp>
        <p:nvSpPr>
          <p:cNvPr id="15" name="Text 13"/>
          <p:cNvSpPr/>
          <p:nvPr/>
        </p:nvSpPr>
        <p:spPr>
          <a:xfrm>
            <a:off x="1371600" y="2907792"/>
            <a:ext cx="7132320" cy="201168"/>
          </a:xfrm>
          <a:prstGeom prst="rect">
            <a:avLst/>
          </a:prstGeom>
          <a:noFill/>
          <a:ln/>
        </p:spPr>
        <p:txBody>
          <a:bodyPr wrap="square" lIns="0" tIns="0" rIns="0" bIns="0" rtlCol="0" anchor="ctr"/>
          <a:lstStyle/>
          <a:p>
            <a:pPr indent="0" marL="0">
              <a:buNone/>
            </a:pPr>
            <a:r>
              <a:rPr lang="en-US" sz="1050" dirty="0">
                <a:solidFill>
                  <a:srgbClr val="1A1B1F"/>
                </a:solidFill>
                <a:latin typeface="Consolas" pitchFamily="34" charset="0"/>
                <a:ea typeface="Consolas" pitchFamily="34" charset="-122"/>
                <a:cs typeface="Consolas" pitchFamily="34" charset="-120"/>
              </a:rPr>
              <a:t>Use express-rate-limit: 100 req/min per IP.</a:t>
            </a:r>
            <a:endParaRPr lang="en-US" sz="1050" dirty="0"/>
          </a:p>
        </p:txBody>
      </p:sp>
      <p:sp>
        <p:nvSpPr>
          <p:cNvPr id="16" name="Text 14"/>
          <p:cNvSpPr/>
          <p:nvPr/>
        </p:nvSpPr>
        <p:spPr>
          <a:xfrm>
            <a:off x="1371600" y="3090672"/>
            <a:ext cx="7132320" cy="201168"/>
          </a:xfrm>
          <a:prstGeom prst="rect">
            <a:avLst/>
          </a:prstGeom>
          <a:noFill/>
          <a:ln/>
        </p:spPr>
        <p:txBody>
          <a:bodyPr wrap="square" lIns="0" tIns="0" rIns="0" bIns="0" rtlCol="0" anchor="ctr"/>
          <a:lstStyle/>
          <a:p>
            <a:pPr indent="0" marL="0">
              <a:buNone/>
            </a:pPr>
            <a:r>
              <a:rPr lang="en-US" sz="1050" dirty="0">
                <a:solidFill>
                  <a:srgbClr val="6B6A66"/>
                </a:solidFill>
                <a:latin typeface="Consolas" pitchFamily="34" charset="0"/>
                <a:ea typeface="Consolas" pitchFamily="34" charset="-122"/>
                <a:cs typeface="Consolas" pitchFamily="34" charset="-120"/>
              </a:rPr>
              <a:t>Add shared config; apply to all /api/* routes; cover with tests.</a:t>
            </a:r>
            <a:endParaRPr lang="en-US" sz="1050" dirty="0"/>
          </a:p>
        </p:txBody>
      </p:sp>
      <p:sp>
        <p:nvSpPr>
          <p:cNvPr id="17" name="Shape 15"/>
          <p:cNvSpPr/>
          <p:nvPr/>
        </p:nvSpPr>
        <p:spPr>
          <a:xfrm>
            <a:off x="502920" y="3383280"/>
            <a:ext cx="8138160" cy="658368"/>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8" name="Shape 16"/>
          <p:cNvSpPr/>
          <p:nvPr/>
        </p:nvSpPr>
        <p:spPr>
          <a:xfrm>
            <a:off x="502920" y="3383280"/>
            <a:ext cx="685800" cy="658368"/>
          </a:xfrm>
          <a:prstGeom prst="rect">
            <a:avLst/>
          </a:prstGeom>
          <a:solidFill>
            <a:srgbClr val="1A1B1F"/>
          </a:solidFill>
          <a:ln w="12700">
            <a:solidFill>
              <a:srgbClr val="1A1B1F"/>
            </a:solidFill>
            <a:prstDash val="solid"/>
          </a:ln>
        </p:spPr>
      </p:sp>
      <p:sp>
        <p:nvSpPr>
          <p:cNvPr id="19" name="Text 17"/>
          <p:cNvSpPr/>
          <p:nvPr/>
        </p:nvSpPr>
        <p:spPr>
          <a:xfrm>
            <a:off x="502920" y="3383280"/>
            <a:ext cx="685800" cy="658368"/>
          </a:xfrm>
          <a:prstGeom prst="rect">
            <a:avLst/>
          </a:prstGeom>
          <a:noFill/>
          <a:ln/>
        </p:spPr>
        <p:txBody>
          <a:bodyPr wrap="square" lIns="0" tIns="0" rIns="0" bIns="0" rtlCol="0" anchor="ctr"/>
          <a:lstStyle/>
          <a:p>
            <a:pPr algn="ctr" indent="0" marL="0">
              <a:buNone/>
            </a:pPr>
            <a:r>
              <a:rPr lang="en-US" sz="2200" b="1" dirty="0">
                <a:solidFill>
                  <a:srgbClr val="CC785C"/>
                </a:solidFill>
                <a:latin typeface="Georgia" pitchFamily="34" charset="0"/>
                <a:ea typeface="Georgia" pitchFamily="34" charset="-122"/>
                <a:cs typeface="Georgia" pitchFamily="34" charset="-120"/>
              </a:rPr>
              <a:t>3</a:t>
            </a:r>
            <a:endParaRPr lang="en-US" sz="2200" dirty="0"/>
          </a:p>
        </p:txBody>
      </p:sp>
      <p:sp>
        <p:nvSpPr>
          <p:cNvPr id="20" name="Text 18"/>
          <p:cNvSpPr/>
          <p:nvPr/>
        </p:nvSpPr>
        <p:spPr>
          <a:xfrm>
            <a:off x="1371600" y="3456432"/>
            <a:ext cx="1828800" cy="201168"/>
          </a:xfrm>
          <a:prstGeom prst="rect">
            <a:avLst/>
          </a:prstGeom>
          <a:noFill/>
          <a:ln/>
        </p:spPr>
        <p:txBody>
          <a:bodyPr wrap="square" lIns="0" tIns="0" rIns="0" bIns="0" rtlCol="0" anchor="ctr"/>
          <a:lstStyle/>
          <a:p>
            <a:pPr indent="0" marL="0">
              <a:buNone/>
            </a:pPr>
            <a:r>
              <a:rPr lang="en-US" sz="900" b="1" spc="300" kern="0" dirty="0">
                <a:solidFill>
                  <a:srgbClr val="CC785C"/>
                </a:solidFill>
                <a:latin typeface="Calibri" pitchFamily="34" charset="0"/>
                <a:ea typeface="Calibri" pitchFamily="34" charset="-122"/>
                <a:cs typeface="Calibri" pitchFamily="34" charset="-120"/>
              </a:rPr>
              <a:t>ACT</a:t>
            </a:r>
            <a:endParaRPr lang="en-US" sz="900" dirty="0"/>
          </a:p>
        </p:txBody>
      </p:sp>
      <p:sp>
        <p:nvSpPr>
          <p:cNvPr id="21" name="Text 19"/>
          <p:cNvSpPr/>
          <p:nvPr/>
        </p:nvSpPr>
        <p:spPr>
          <a:xfrm>
            <a:off x="1371600" y="3639312"/>
            <a:ext cx="7132320" cy="201168"/>
          </a:xfrm>
          <a:prstGeom prst="rect">
            <a:avLst/>
          </a:prstGeom>
          <a:noFill/>
          <a:ln/>
        </p:spPr>
        <p:txBody>
          <a:bodyPr wrap="square" lIns="0" tIns="0" rIns="0" bIns="0" rtlCol="0" anchor="ctr"/>
          <a:lstStyle/>
          <a:p>
            <a:pPr indent="0" marL="0">
              <a:buNone/>
            </a:pPr>
            <a:r>
              <a:rPr lang="en-US" sz="1050" dirty="0">
                <a:solidFill>
                  <a:srgbClr val="1A1B1F"/>
                </a:solidFill>
                <a:latin typeface="Consolas" pitchFamily="34" charset="0"/>
                <a:ea typeface="Consolas" pitchFamily="34" charset="-122"/>
                <a:cs typeface="Consolas" pitchFamily="34" charset="-120"/>
              </a:rPr>
              <a:t>● Created middleware/rateLimit.js</a:t>
            </a:r>
            <a:endParaRPr lang="en-US" sz="1050" dirty="0"/>
          </a:p>
        </p:txBody>
      </p:sp>
      <p:sp>
        <p:nvSpPr>
          <p:cNvPr id="22" name="Text 20"/>
          <p:cNvSpPr/>
          <p:nvPr/>
        </p:nvSpPr>
        <p:spPr>
          <a:xfrm>
            <a:off x="1371600" y="3822192"/>
            <a:ext cx="7132320" cy="201168"/>
          </a:xfrm>
          <a:prstGeom prst="rect">
            <a:avLst/>
          </a:prstGeom>
          <a:noFill/>
          <a:ln/>
        </p:spPr>
        <p:txBody>
          <a:bodyPr wrap="square" lIns="0" tIns="0" rIns="0" bIns="0" rtlCol="0" anchor="ctr"/>
          <a:lstStyle/>
          <a:p>
            <a:pPr indent="0" marL="0">
              <a:buNone/>
            </a:pPr>
            <a:r>
              <a:rPr lang="en-US" sz="1050" dirty="0">
                <a:solidFill>
                  <a:srgbClr val="6B6A66"/>
                </a:solidFill>
                <a:latin typeface="Consolas" pitchFamily="34" charset="0"/>
                <a:ea typeface="Consolas" pitchFamily="34" charset="-122"/>
                <a:cs typeface="Consolas" pitchFamily="34" charset="-120"/>
              </a:rPr>
              <a:t>● Wired into app.js; added tests in test/rateLimit.test.js</a:t>
            </a:r>
            <a:endParaRPr lang="en-US" sz="1050" dirty="0"/>
          </a:p>
        </p:txBody>
      </p:sp>
      <p:sp>
        <p:nvSpPr>
          <p:cNvPr id="23" name="Shape 21"/>
          <p:cNvSpPr/>
          <p:nvPr/>
        </p:nvSpPr>
        <p:spPr>
          <a:xfrm>
            <a:off x="502920" y="4114800"/>
            <a:ext cx="8138160" cy="658368"/>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24" name="Shape 22"/>
          <p:cNvSpPr/>
          <p:nvPr/>
        </p:nvSpPr>
        <p:spPr>
          <a:xfrm>
            <a:off x="502920" y="4114800"/>
            <a:ext cx="685800" cy="658368"/>
          </a:xfrm>
          <a:prstGeom prst="rect">
            <a:avLst/>
          </a:prstGeom>
          <a:solidFill>
            <a:srgbClr val="1A1B1F"/>
          </a:solidFill>
          <a:ln w="12700">
            <a:solidFill>
              <a:srgbClr val="1A1B1F"/>
            </a:solidFill>
            <a:prstDash val="solid"/>
          </a:ln>
        </p:spPr>
      </p:sp>
      <p:sp>
        <p:nvSpPr>
          <p:cNvPr id="25" name="Text 23"/>
          <p:cNvSpPr/>
          <p:nvPr/>
        </p:nvSpPr>
        <p:spPr>
          <a:xfrm>
            <a:off x="502920" y="4114800"/>
            <a:ext cx="685800" cy="658368"/>
          </a:xfrm>
          <a:prstGeom prst="rect">
            <a:avLst/>
          </a:prstGeom>
          <a:noFill/>
          <a:ln/>
        </p:spPr>
        <p:txBody>
          <a:bodyPr wrap="square" lIns="0" tIns="0" rIns="0" bIns="0" rtlCol="0" anchor="ctr"/>
          <a:lstStyle/>
          <a:p>
            <a:pPr algn="ctr" indent="0" marL="0">
              <a:buNone/>
            </a:pPr>
            <a:r>
              <a:rPr lang="en-US" sz="2200" b="1" dirty="0">
                <a:solidFill>
                  <a:srgbClr val="CC785C"/>
                </a:solidFill>
                <a:latin typeface="Georgia" pitchFamily="34" charset="0"/>
                <a:ea typeface="Georgia" pitchFamily="34" charset="-122"/>
                <a:cs typeface="Georgia" pitchFamily="34" charset="-120"/>
              </a:rPr>
              <a:t>4</a:t>
            </a:r>
            <a:endParaRPr lang="en-US" sz="2200" dirty="0"/>
          </a:p>
        </p:txBody>
      </p:sp>
      <p:sp>
        <p:nvSpPr>
          <p:cNvPr id="26" name="Text 24"/>
          <p:cNvSpPr/>
          <p:nvPr/>
        </p:nvSpPr>
        <p:spPr>
          <a:xfrm>
            <a:off x="1371600" y="4187952"/>
            <a:ext cx="1828800" cy="201168"/>
          </a:xfrm>
          <a:prstGeom prst="rect">
            <a:avLst/>
          </a:prstGeom>
          <a:noFill/>
          <a:ln/>
        </p:spPr>
        <p:txBody>
          <a:bodyPr wrap="square" lIns="0" tIns="0" rIns="0" bIns="0" rtlCol="0" anchor="ctr"/>
          <a:lstStyle/>
          <a:p>
            <a:pPr indent="0" marL="0">
              <a:buNone/>
            </a:pPr>
            <a:r>
              <a:rPr lang="en-US" sz="900" b="1" spc="300" kern="0" dirty="0">
                <a:solidFill>
                  <a:srgbClr val="CC785C"/>
                </a:solidFill>
                <a:latin typeface="Calibri" pitchFamily="34" charset="0"/>
                <a:ea typeface="Calibri" pitchFamily="34" charset="-122"/>
                <a:cs typeface="Calibri" pitchFamily="34" charset="-120"/>
              </a:rPr>
              <a:t>VERIFY</a:t>
            </a:r>
            <a:endParaRPr lang="en-US" sz="900" dirty="0"/>
          </a:p>
        </p:txBody>
      </p:sp>
      <p:sp>
        <p:nvSpPr>
          <p:cNvPr id="27" name="Text 25"/>
          <p:cNvSpPr/>
          <p:nvPr/>
        </p:nvSpPr>
        <p:spPr>
          <a:xfrm>
            <a:off x="1371600" y="4370832"/>
            <a:ext cx="7132320" cy="201168"/>
          </a:xfrm>
          <a:prstGeom prst="rect">
            <a:avLst/>
          </a:prstGeom>
          <a:noFill/>
          <a:ln/>
        </p:spPr>
        <p:txBody>
          <a:bodyPr wrap="square" lIns="0" tIns="0" rIns="0" bIns="0" rtlCol="0" anchor="ctr"/>
          <a:lstStyle/>
          <a:p>
            <a:pPr indent="0" marL="0">
              <a:buNone/>
            </a:pPr>
            <a:r>
              <a:rPr lang="en-US" sz="1050" dirty="0">
                <a:solidFill>
                  <a:srgbClr val="1A1B1F"/>
                </a:solidFill>
                <a:latin typeface="Consolas" pitchFamily="34" charset="0"/>
                <a:ea typeface="Consolas" pitchFamily="34" charset="-122"/>
                <a:cs typeface="Consolas" pitchFamily="34" charset="-120"/>
              </a:rPr>
              <a:t>● Running test suite... 23/23 passed</a:t>
            </a:r>
            <a:endParaRPr lang="en-US" sz="1050" dirty="0"/>
          </a:p>
        </p:txBody>
      </p:sp>
      <p:sp>
        <p:nvSpPr>
          <p:cNvPr id="28" name="Text 26"/>
          <p:cNvSpPr/>
          <p:nvPr/>
        </p:nvSpPr>
        <p:spPr>
          <a:xfrm>
            <a:off x="1371600" y="4553712"/>
            <a:ext cx="7132320" cy="201168"/>
          </a:xfrm>
          <a:prstGeom prst="rect">
            <a:avLst/>
          </a:prstGeom>
          <a:noFill/>
          <a:ln/>
        </p:spPr>
        <p:txBody>
          <a:bodyPr wrap="square" lIns="0" tIns="0" rIns="0" bIns="0" rtlCol="0" anchor="ctr"/>
          <a:lstStyle/>
          <a:p>
            <a:pPr indent="0" marL="0">
              <a:buNone/>
            </a:pPr>
            <a:r>
              <a:rPr lang="en-US" sz="1050" dirty="0">
                <a:solidFill>
                  <a:srgbClr val="6B6A66"/>
                </a:solidFill>
                <a:latin typeface="Consolas" pitchFamily="34" charset="0"/>
                <a:ea typeface="Consolas" pitchFamily="34" charset="-122"/>
                <a:cs typeface="Consolas" pitchFamily="34" charset="-120"/>
              </a:rPr>
              <a:t>● Done. Open a PR, or keep iterating?</a:t>
            </a:r>
            <a:endParaRPr lang="en-US" sz="1050" dirty="0"/>
          </a:p>
        </p:txBody>
      </p:sp>
      <p:sp>
        <p:nvSpPr>
          <p:cNvPr id="29" name="Text 27"/>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10  —  SURFACES</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Where it runs</a:t>
            </a:r>
            <a:endParaRPr lang="en-US" sz="3600" dirty="0"/>
          </a:p>
        </p:txBody>
      </p:sp>
      <p:sp>
        <p:nvSpPr>
          <p:cNvPr id="4" name="Text 2"/>
          <p:cNvSpPr/>
          <p:nvPr/>
        </p:nvSpPr>
        <p:spPr>
          <a:xfrm>
            <a:off x="502920" y="1417320"/>
            <a:ext cx="8229600" cy="32004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Pick the surface that fits your workflow — the same agent, different front ends.</a:t>
            </a:r>
            <a:endParaRPr lang="en-US" sz="1300" dirty="0"/>
          </a:p>
        </p:txBody>
      </p:sp>
      <p:sp>
        <p:nvSpPr>
          <p:cNvPr id="5" name="Shape 3"/>
          <p:cNvSpPr/>
          <p:nvPr/>
        </p:nvSpPr>
        <p:spPr>
          <a:xfrm>
            <a:off x="502920" y="192024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731520" y="2148840"/>
            <a:ext cx="365760" cy="365760"/>
          </a:xfrm>
          <a:prstGeom prst="rect">
            <a:avLst/>
          </a:prstGeom>
        </p:spPr>
      </p:pic>
      <p:sp>
        <p:nvSpPr>
          <p:cNvPr id="7" name="Text 4"/>
          <p:cNvSpPr/>
          <p:nvPr/>
        </p:nvSpPr>
        <p:spPr>
          <a:xfrm>
            <a:off x="731520" y="2560320"/>
            <a:ext cx="224028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Terminal CLI</a:t>
            </a:r>
            <a:endParaRPr lang="en-US" sz="1400" dirty="0"/>
          </a:p>
        </p:txBody>
      </p:sp>
      <p:sp>
        <p:nvSpPr>
          <p:cNvPr id="8" name="Text 5"/>
          <p:cNvSpPr/>
          <p:nvPr/>
        </p:nvSpPr>
        <p:spPr>
          <a:xfrm>
            <a:off x="731520" y="2834640"/>
            <a:ext cx="2240280" cy="365760"/>
          </a:xfrm>
          <a:prstGeom prst="rect">
            <a:avLst/>
          </a:prstGeom>
          <a:noFill/>
          <a:ln/>
        </p:spPr>
        <p:txBody>
          <a:bodyPr wrap="square" lIns="0" tIns="0" rIns="0" bIns="0" rtlCol="0" anchor="ctr"/>
          <a:lstStyle/>
          <a:p>
            <a:pPr indent="0" marL="0">
              <a:buNone/>
            </a:pPr>
            <a:r>
              <a:rPr lang="en-US" sz="1050" dirty="0">
                <a:solidFill>
                  <a:srgbClr val="6B6A66"/>
                </a:solidFill>
                <a:latin typeface="Calibri" pitchFamily="34" charset="0"/>
                <a:ea typeface="Calibri" pitchFamily="34" charset="-122"/>
                <a:cs typeface="Calibri" pitchFamily="34" charset="-120"/>
              </a:rPr>
              <a:t>The full-featured agent at the command line.</a:t>
            </a:r>
            <a:endParaRPr lang="en-US" sz="1050" dirty="0"/>
          </a:p>
        </p:txBody>
      </p:sp>
      <p:sp>
        <p:nvSpPr>
          <p:cNvPr id="9" name="Shape 6"/>
          <p:cNvSpPr/>
          <p:nvPr/>
        </p:nvSpPr>
        <p:spPr>
          <a:xfrm>
            <a:off x="3246120" y="192024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pic>
        <p:nvPicPr>
          <p:cNvPr id="10" name="Image 1" descr="preencoded.png">    </p:cNvPr>
          <p:cNvPicPr>
            <a:picLocks noChangeAspect="1"/>
          </p:cNvPicPr>
          <p:nvPr/>
        </p:nvPicPr>
        <p:blipFill>
          <a:blip r:embed="rId2"/>
          <a:stretch>
            <a:fillRect/>
          </a:stretch>
        </p:blipFill>
        <p:spPr>
          <a:xfrm>
            <a:off x="3474720" y="2148840"/>
            <a:ext cx="365760" cy="365760"/>
          </a:xfrm>
          <a:prstGeom prst="rect">
            <a:avLst/>
          </a:prstGeom>
        </p:spPr>
      </p:pic>
      <p:sp>
        <p:nvSpPr>
          <p:cNvPr id="11" name="Text 7"/>
          <p:cNvSpPr/>
          <p:nvPr/>
        </p:nvSpPr>
        <p:spPr>
          <a:xfrm>
            <a:off x="3474720" y="2560320"/>
            <a:ext cx="224028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VS Code</a:t>
            </a:r>
            <a:endParaRPr lang="en-US" sz="1400" dirty="0"/>
          </a:p>
        </p:txBody>
      </p:sp>
      <p:sp>
        <p:nvSpPr>
          <p:cNvPr id="12" name="Text 8"/>
          <p:cNvSpPr/>
          <p:nvPr/>
        </p:nvSpPr>
        <p:spPr>
          <a:xfrm>
            <a:off x="3474720" y="2834640"/>
            <a:ext cx="2240280" cy="365760"/>
          </a:xfrm>
          <a:prstGeom prst="rect">
            <a:avLst/>
          </a:prstGeom>
          <a:noFill/>
          <a:ln/>
        </p:spPr>
        <p:txBody>
          <a:bodyPr wrap="square" lIns="0" tIns="0" rIns="0" bIns="0" rtlCol="0" anchor="ctr"/>
          <a:lstStyle/>
          <a:p>
            <a:pPr indent="0" marL="0">
              <a:buNone/>
            </a:pPr>
            <a:r>
              <a:rPr lang="en-US" sz="1050" dirty="0">
                <a:solidFill>
                  <a:srgbClr val="6B6A66"/>
                </a:solidFill>
                <a:latin typeface="Calibri" pitchFamily="34" charset="0"/>
                <a:ea typeface="Calibri" pitchFamily="34" charset="-122"/>
                <a:cs typeface="Calibri" pitchFamily="34" charset="-120"/>
              </a:rPr>
              <a:t>Inline diffs, @-mentions, plan review in the editor.</a:t>
            </a:r>
            <a:endParaRPr lang="en-US" sz="1050" dirty="0"/>
          </a:p>
        </p:txBody>
      </p:sp>
      <p:sp>
        <p:nvSpPr>
          <p:cNvPr id="13" name="Shape 9"/>
          <p:cNvSpPr/>
          <p:nvPr/>
        </p:nvSpPr>
        <p:spPr>
          <a:xfrm>
            <a:off x="5989320" y="192024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pic>
        <p:nvPicPr>
          <p:cNvPr id="14" name="Image 2" descr="preencoded.png">    </p:cNvPr>
          <p:cNvPicPr>
            <a:picLocks noChangeAspect="1"/>
          </p:cNvPicPr>
          <p:nvPr/>
        </p:nvPicPr>
        <p:blipFill>
          <a:blip r:embed="rId3"/>
          <a:stretch>
            <a:fillRect/>
          </a:stretch>
        </p:blipFill>
        <p:spPr>
          <a:xfrm>
            <a:off x="6217920" y="2148840"/>
            <a:ext cx="365760" cy="365760"/>
          </a:xfrm>
          <a:prstGeom prst="rect">
            <a:avLst/>
          </a:prstGeom>
        </p:spPr>
      </p:pic>
      <p:sp>
        <p:nvSpPr>
          <p:cNvPr id="15" name="Text 10"/>
          <p:cNvSpPr/>
          <p:nvPr/>
        </p:nvSpPr>
        <p:spPr>
          <a:xfrm>
            <a:off x="6217920" y="2560320"/>
            <a:ext cx="224028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JetBrains</a:t>
            </a:r>
            <a:endParaRPr lang="en-US" sz="1400" dirty="0"/>
          </a:p>
        </p:txBody>
      </p:sp>
      <p:sp>
        <p:nvSpPr>
          <p:cNvPr id="16" name="Text 11"/>
          <p:cNvSpPr/>
          <p:nvPr/>
        </p:nvSpPr>
        <p:spPr>
          <a:xfrm>
            <a:off x="6217920" y="2834640"/>
            <a:ext cx="2240280" cy="365760"/>
          </a:xfrm>
          <a:prstGeom prst="rect">
            <a:avLst/>
          </a:prstGeom>
          <a:noFill/>
          <a:ln/>
        </p:spPr>
        <p:txBody>
          <a:bodyPr wrap="square" lIns="0" tIns="0" rIns="0" bIns="0" rtlCol="0" anchor="ctr"/>
          <a:lstStyle/>
          <a:p>
            <a:pPr indent="0" marL="0">
              <a:buNone/>
            </a:pPr>
            <a:r>
              <a:rPr lang="en-US" sz="1050" dirty="0">
                <a:solidFill>
                  <a:srgbClr val="6B6A66"/>
                </a:solidFill>
                <a:latin typeface="Calibri" pitchFamily="34" charset="0"/>
                <a:ea typeface="Calibri" pitchFamily="34" charset="-122"/>
                <a:cs typeface="Calibri" pitchFamily="34" charset="-120"/>
              </a:rPr>
              <a:t>IntelliJ, PyCharm, WebStorm — diff viewer and context sharing.</a:t>
            </a:r>
            <a:endParaRPr lang="en-US" sz="1050" dirty="0"/>
          </a:p>
        </p:txBody>
      </p:sp>
      <p:sp>
        <p:nvSpPr>
          <p:cNvPr id="17" name="Shape 12"/>
          <p:cNvSpPr/>
          <p:nvPr/>
        </p:nvSpPr>
        <p:spPr>
          <a:xfrm>
            <a:off x="502920" y="329184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pic>
        <p:nvPicPr>
          <p:cNvPr id="18" name="Image 3" descr="preencoded.png">    </p:cNvPr>
          <p:cNvPicPr>
            <a:picLocks noChangeAspect="1"/>
          </p:cNvPicPr>
          <p:nvPr/>
        </p:nvPicPr>
        <p:blipFill>
          <a:blip r:embed="rId4"/>
          <a:stretch>
            <a:fillRect/>
          </a:stretch>
        </p:blipFill>
        <p:spPr>
          <a:xfrm>
            <a:off x="731520" y="3520440"/>
            <a:ext cx="365760" cy="365760"/>
          </a:xfrm>
          <a:prstGeom prst="rect">
            <a:avLst/>
          </a:prstGeom>
        </p:spPr>
      </p:pic>
      <p:sp>
        <p:nvSpPr>
          <p:cNvPr id="19" name="Text 13"/>
          <p:cNvSpPr/>
          <p:nvPr/>
        </p:nvSpPr>
        <p:spPr>
          <a:xfrm>
            <a:off x="731520" y="3931920"/>
            <a:ext cx="224028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Desktop app</a:t>
            </a:r>
            <a:endParaRPr lang="en-US" sz="1400" dirty="0"/>
          </a:p>
        </p:txBody>
      </p:sp>
      <p:sp>
        <p:nvSpPr>
          <p:cNvPr id="20" name="Text 14"/>
          <p:cNvSpPr/>
          <p:nvPr/>
        </p:nvSpPr>
        <p:spPr>
          <a:xfrm>
            <a:off x="731520" y="4206240"/>
            <a:ext cx="2240280" cy="365760"/>
          </a:xfrm>
          <a:prstGeom prst="rect">
            <a:avLst/>
          </a:prstGeom>
          <a:noFill/>
          <a:ln/>
        </p:spPr>
        <p:txBody>
          <a:bodyPr wrap="square" lIns="0" tIns="0" rIns="0" bIns="0" rtlCol="0" anchor="ctr"/>
          <a:lstStyle/>
          <a:p>
            <a:pPr indent="0" marL="0">
              <a:buNone/>
            </a:pPr>
            <a:r>
              <a:rPr lang="en-US" sz="1050" dirty="0">
                <a:solidFill>
                  <a:srgbClr val="6B6A66"/>
                </a:solidFill>
                <a:latin typeface="Calibri" pitchFamily="34" charset="0"/>
                <a:ea typeface="Calibri" pitchFamily="34" charset="-122"/>
                <a:cs typeface="Calibri" pitchFamily="34" charset="-120"/>
              </a:rPr>
              <a:t>Native macOS and Windows app with a Code tab.</a:t>
            </a:r>
            <a:endParaRPr lang="en-US" sz="1050" dirty="0"/>
          </a:p>
        </p:txBody>
      </p:sp>
      <p:sp>
        <p:nvSpPr>
          <p:cNvPr id="21" name="Shape 15"/>
          <p:cNvSpPr/>
          <p:nvPr/>
        </p:nvSpPr>
        <p:spPr>
          <a:xfrm>
            <a:off x="3246120" y="329184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pic>
        <p:nvPicPr>
          <p:cNvPr id="22" name="Image 4" descr="preencoded.png">    </p:cNvPr>
          <p:cNvPicPr>
            <a:picLocks noChangeAspect="1"/>
          </p:cNvPicPr>
          <p:nvPr/>
        </p:nvPicPr>
        <p:blipFill>
          <a:blip r:embed="rId5"/>
          <a:stretch>
            <a:fillRect/>
          </a:stretch>
        </p:blipFill>
        <p:spPr>
          <a:xfrm>
            <a:off x="3474720" y="3520440"/>
            <a:ext cx="365760" cy="365760"/>
          </a:xfrm>
          <a:prstGeom prst="rect">
            <a:avLst/>
          </a:prstGeom>
        </p:spPr>
      </p:pic>
      <p:sp>
        <p:nvSpPr>
          <p:cNvPr id="23" name="Text 16"/>
          <p:cNvSpPr/>
          <p:nvPr/>
        </p:nvSpPr>
        <p:spPr>
          <a:xfrm>
            <a:off x="3474720" y="3931920"/>
            <a:ext cx="224028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Web &amp; mobile</a:t>
            </a:r>
            <a:endParaRPr lang="en-US" sz="1400" dirty="0"/>
          </a:p>
        </p:txBody>
      </p:sp>
      <p:sp>
        <p:nvSpPr>
          <p:cNvPr id="24" name="Text 17"/>
          <p:cNvSpPr/>
          <p:nvPr/>
        </p:nvSpPr>
        <p:spPr>
          <a:xfrm>
            <a:off x="3474720" y="4206240"/>
            <a:ext cx="2240280" cy="365760"/>
          </a:xfrm>
          <a:prstGeom prst="rect">
            <a:avLst/>
          </a:prstGeom>
          <a:noFill/>
          <a:ln/>
        </p:spPr>
        <p:txBody>
          <a:bodyPr wrap="square" lIns="0" tIns="0" rIns="0" bIns="0" rtlCol="0" anchor="ctr"/>
          <a:lstStyle/>
          <a:p>
            <a:pPr indent="0" marL="0">
              <a:buNone/>
            </a:pPr>
            <a:r>
              <a:rPr lang="en-US" sz="1050" dirty="0">
                <a:solidFill>
                  <a:srgbClr val="6B6A66"/>
                </a:solidFill>
                <a:latin typeface="Calibri" pitchFamily="34" charset="0"/>
                <a:ea typeface="Calibri" pitchFamily="34" charset="-122"/>
                <a:cs typeface="Calibri" pitchFamily="34" charset="-120"/>
              </a:rPr>
              <a:t>claude.ai/code — long tasks, parallel runs, no local setup.</a:t>
            </a:r>
            <a:endParaRPr lang="en-US" sz="1050" dirty="0"/>
          </a:p>
        </p:txBody>
      </p:sp>
      <p:sp>
        <p:nvSpPr>
          <p:cNvPr id="25" name="Shape 18"/>
          <p:cNvSpPr/>
          <p:nvPr/>
        </p:nvSpPr>
        <p:spPr>
          <a:xfrm>
            <a:off x="5989320" y="3291840"/>
            <a:ext cx="2697480" cy="128016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pic>
        <p:nvPicPr>
          <p:cNvPr id="26" name="Image 5" descr="preencoded.png">    </p:cNvPr>
          <p:cNvPicPr>
            <a:picLocks noChangeAspect="1"/>
          </p:cNvPicPr>
          <p:nvPr/>
        </p:nvPicPr>
        <p:blipFill>
          <a:blip r:embed="rId6"/>
          <a:stretch>
            <a:fillRect/>
          </a:stretch>
        </p:blipFill>
        <p:spPr>
          <a:xfrm>
            <a:off x="6217920" y="3520440"/>
            <a:ext cx="365760" cy="365760"/>
          </a:xfrm>
          <a:prstGeom prst="rect">
            <a:avLst/>
          </a:prstGeom>
        </p:spPr>
      </p:pic>
      <p:sp>
        <p:nvSpPr>
          <p:cNvPr id="27" name="Text 19"/>
          <p:cNvSpPr/>
          <p:nvPr/>
        </p:nvSpPr>
        <p:spPr>
          <a:xfrm>
            <a:off x="6217920" y="3931920"/>
            <a:ext cx="2240280" cy="292608"/>
          </a:xfrm>
          <a:prstGeom prst="rect">
            <a:avLst/>
          </a:prstGeom>
          <a:noFill/>
          <a:ln/>
        </p:spPr>
        <p:txBody>
          <a:bodyPr wrap="square" lIns="0" tIns="0" rIns="0" bIns="0" rtlCol="0" anchor="ctr"/>
          <a:lstStyle/>
          <a:p>
            <a:pPr indent="0" marL="0">
              <a:buNone/>
            </a:pPr>
            <a:r>
              <a:rPr lang="en-US" sz="1400" b="1" dirty="0">
                <a:solidFill>
                  <a:srgbClr val="1A1B1F"/>
                </a:solidFill>
                <a:latin typeface="Georgia" pitchFamily="34" charset="0"/>
                <a:ea typeface="Georgia" pitchFamily="34" charset="-122"/>
                <a:cs typeface="Georgia" pitchFamily="34" charset="-120"/>
              </a:rPr>
              <a:t>GitHub Actions</a:t>
            </a:r>
            <a:endParaRPr lang="en-US" sz="1400" dirty="0"/>
          </a:p>
        </p:txBody>
      </p:sp>
      <p:sp>
        <p:nvSpPr>
          <p:cNvPr id="28" name="Text 20"/>
          <p:cNvSpPr/>
          <p:nvPr/>
        </p:nvSpPr>
        <p:spPr>
          <a:xfrm>
            <a:off x="6217920" y="4206240"/>
            <a:ext cx="2240280" cy="365760"/>
          </a:xfrm>
          <a:prstGeom prst="rect">
            <a:avLst/>
          </a:prstGeom>
          <a:noFill/>
          <a:ln/>
        </p:spPr>
        <p:txBody>
          <a:bodyPr wrap="square" lIns="0" tIns="0" rIns="0" bIns="0" rtlCol="0" anchor="ctr"/>
          <a:lstStyle/>
          <a:p>
            <a:pPr indent="0" marL="0">
              <a:buNone/>
            </a:pPr>
            <a:r>
              <a:rPr lang="en-US" sz="1050" dirty="0">
                <a:solidFill>
                  <a:srgbClr val="6B6A66"/>
                </a:solidFill>
                <a:latin typeface="Calibri" pitchFamily="34" charset="0"/>
                <a:ea typeface="Calibri" pitchFamily="34" charset="-122"/>
                <a:cs typeface="Calibri" pitchFamily="34" charset="-120"/>
              </a:rPr>
              <a:t>Tag @claude in issues and PRs; automate review and triage.</a:t>
            </a:r>
            <a:endParaRPr lang="en-US" sz="1050" dirty="0"/>
          </a:p>
        </p:txBody>
      </p:sp>
      <p:sp>
        <p:nvSpPr>
          <p:cNvPr id="29" name="Text 21"/>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11  —  IN PRACTICE</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How you'd actually use it</a:t>
            </a:r>
            <a:endParaRPr lang="en-US" sz="3600" dirty="0"/>
          </a:p>
        </p:txBody>
      </p:sp>
      <p:sp>
        <p:nvSpPr>
          <p:cNvPr id="4" name="Shape 2"/>
          <p:cNvSpPr/>
          <p:nvPr/>
        </p:nvSpPr>
        <p:spPr>
          <a:xfrm>
            <a:off x="502920" y="1600200"/>
            <a:ext cx="8138160" cy="96012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502920" y="1600200"/>
            <a:ext cx="914400" cy="960120"/>
          </a:xfrm>
          <a:prstGeom prst="rect">
            <a:avLst/>
          </a:prstGeom>
          <a:solidFill>
            <a:srgbClr val="1A1B1F"/>
          </a:solidFill>
          <a:ln w="12700">
            <a:solidFill>
              <a:srgbClr val="1A1B1F"/>
            </a:solidFill>
            <a:prstDash val="solid"/>
          </a:ln>
        </p:spPr>
      </p:sp>
      <p:sp>
        <p:nvSpPr>
          <p:cNvPr id="6" name="Text 4"/>
          <p:cNvSpPr/>
          <p:nvPr/>
        </p:nvSpPr>
        <p:spPr>
          <a:xfrm>
            <a:off x="502920" y="1600200"/>
            <a:ext cx="914400" cy="960120"/>
          </a:xfrm>
          <a:prstGeom prst="rect">
            <a:avLst/>
          </a:prstGeom>
          <a:noFill/>
          <a:ln/>
        </p:spPr>
        <p:txBody>
          <a:bodyPr wrap="square" lIns="0" tIns="0" rIns="0" bIns="0" rtlCol="0" anchor="ctr"/>
          <a:lstStyle/>
          <a:p>
            <a:pPr algn="ctr" indent="0" marL="0">
              <a:buNone/>
            </a:pPr>
            <a:r>
              <a:rPr lang="en-US" sz="2800" b="1" dirty="0">
                <a:solidFill>
                  <a:srgbClr val="CC785C"/>
                </a:solidFill>
                <a:latin typeface="Georgia" pitchFamily="34" charset="0"/>
                <a:ea typeface="Georgia" pitchFamily="34" charset="-122"/>
                <a:cs typeface="Georgia" pitchFamily="34" charset="-120"/>
              </a:rPr>
              <a:t>01</a:t>
            </a:r>
            <a:endParaRPr lang="en-US" sz="2800" dirty="0"/>
          </a:p>
        </p:txBody>
      </p:sp>
      <p:sp>
        <p:nvSpPr>
          <p:cNvPr id="7" name="Text 5"/>
          <p:cNvSpPr/>
          <p:nvPr/>
        </p:nvSpPr>
        <p:spPr>
          <a:xfrm>
            <a:off x="1600200" y="1691640"/>
            <a:ext cx="6949440" cy="320040"/>
          </a:xfrm>
          <a:prstGeom prst="rect">
            <a:avLst/>
          </a:prstGeom>
          <a:noFill/>
          <a:ln/>
        </p:spPr>
        <p:txBody>
          <a:bodyPr wrap="square" lIns="0" tIns="0" rIns="0" bIns="0" rtlCol="0" anchor="ctr"/>
          <a:lstStyle/>
          <a:p>
            <a:pPr indent="0" marL="0">
              <a:buNone/>
            </a:pPr>
            <a:r>
              <a:rPr lang="en-US" sz="1600" b="1" dirty="0">
                <a:solidFill>
                  <a:srgbClr val="1A1B1F"/>
                </a:solidFill>
                <a:latin typeface="Georgia" pitchFamily="34" charset="0"/>
                <a:ea typeface="Georgia" pitchFamily="34" charset="-122"/>
                <a:cs typeface="Georgia" pitchFamily="34" charset="-120"/>
              </a:rPr>
              <a:t>Build a feature</a:t>
            </a:r>
            <a:endParaRPr lang="en-US" sz="1600" dirty="0"/>
          </a:p>
        </p:txBody>
      </p:sp>
      <p:sp>
        <p:nvSpPr>
          <p:cNvPr id="8" name="Text 6"/>
          <p:cNvSpPr/>
          <p:nvPr/>
        </p:nvSpPr>
        <p:spPr>
          <a:xfrm>
            <a:off x="1600200" y="1984248"/>
            <a:ext cx="6949440" cy="292608"/>
          </a:xfrm>
          <a:prstGeom prst="rect">
            <a:avLst/>
          </a:prstGeom>
          <a:noFill/>
          <a:ln/>
        </p:spPr>
        <p:txBody>
          <a:bodyPr wrap="square" lIns="0" tIns="0" rIns="0" bIns="0" rtlCol="0" anchor="ctr"/>
          <a:lstStyle/>
          <a:p>
            <a:pPr indent="0" marL="0">
              <a:buNone/>
            </a:pPr>
            <a:r>
              <a:rPr lang="en-US" sz="1100" i="1" dirty="0">
                <a:solidFill>
                  <a:srgbClr val="B56548"/>
                </a:solidFill>
                <a:latin typeface="Consolas" pitchFamily="34" charset="0"/>
                <a:ea typeface="Consolas" pitchFamily="34" charset="-122"/>
                <a:cs typeface="Consolas" pitchFamily="34" charset="-120"/>
              </a:rPr>
              <a:t>"Add GET /users/:id returning name, email, created_at. Match the error-handling in routes/posts.js. Include tests."</a:t>
            </a:r>
            <a:endParaRPr lang="en-US" sz="1100" dirty="0"/>
          </a:p>
        </p:txBody>
      </p:sp>
      <p:sp>
        <p:nvSpPr>
          <p:cNvPr id="9" name="Text 7"/>
          <p:cNvSpPr/>
          <p:nvPr/>
        </p:nvSpPr>
        <p:spPr>
          <a:xfrm>
            <a:off x="1600200" y="2258568"/>
            <a:ext cx="6949440" cy="27432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Plans across files, writes code + tests, runs the suite, reports what changed.</a:t>
            </a:r>
            <a:endParaRPr lang="en-US" sz="1100" dirty="0"/>
          </a:p>
        </p:txBody>
      </p:sp>
      <p:sp>
        <p:nvSpPr>
          <p:cNvPr id="10" name="Shape 8"/>
          <p:cNvSpPr/>
          <p:nvPr/>
        </p:nvSpPr>
        <p:spPr>
          <a:xfrm>
            <a:off x="502920" y="2670048"/>
            <a:ext cx="8138160" cy="96012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1" name="Shape 9"/>
          <p:cNvSpPr/>
          <p:nvPr/>
        </p:nvSpPr>
        <p:spPr>
          <a:xfrm>
            <a:off x="502920" y="2670048"/>
            <a:ext cx="914400" cy="960120"/>
          </a:xfrm>
          <a:prstGeom prst="rect">
            <a:avLst/>
          </a:prstGeom>
          <a:solidFill>
            <a:srgbClr val="1A1B1F"/>
          </a:solidFill>
          <a:ln w="12700">
            <a:solidFill>
              <a:srgbClr val="1A1B1F"/>
            </a:solidFill>
            <a:prstDash val="solid"/>
          </a:ln>
        </p:spPr>
      </p:sp>
      <p:sp>
        <p:nvSpPr>
          <p:cNvPr id="12" name="Text 10"/>
          <p:cNvSpPr/>
          <p:nvPr/>
        </p:nvSpPr>
        <p:spPr>
          <a:xfrm>
            <a:off x="502920" y="2670048"/>
            <a:ext cx="914400" cy="960120"/>
          </a:xfrm>
          <a:prstGeom prst="rect">
            <a:avLst/>
          </a:prstGeom>
          <a:noFill/>
          <a:ln/>
        </p:spPr>
        <p:txBody>
          <a:bodyPr wrap="square" lIns="0" tIns="0" rIns="0" bIns="0" rtlCol="0" anchor="ctr"/>
          <a:lstStyle/>
          <a:p>
            <a:pPr algn="ctr" indent="0" marL="0">
              <a:buNone/>
            </a:pPr>
            <a:r>
              <a:rPr lang="en-US" sz="2800" b="1" dirty="0">
                <a:solidFill>
                  <a:srgbClr val="CC785C"/>
                </a:solidFill>
                <a:latin typeface="Georgia" pitchFamily="34" charset="0"/>
                <a:ea typeface="Georgia" pitchFamily="34" charset="-122"/>
                <a:cs typeface="Georgia" pitchFamily="34" charset="-120"/>
              </a:rPr>
              <a:t>02</a:t>
            </a:r>
            <a:endParaRPr lang="en-US" sz="2800" dirty="0"/>
          </a:p>
        </p:txBody>
      </p:sp>
      <p:sp>
        <p:nvSpPr>
          <p:cNvPr id="13" name="Text 11"/>
          <p:cNvSpPr/>
          <p:nvPr/>
        </p:nvSpPr>
        <p:spPr>
          <a:xfrm>
            <a:off x="1600200" y="2761488"/>
            <a:ext cx="6949440" cy="320040"/>
          </a:xfrm>
          <a:prstGeom prst="rect">
            <a:avLst/>
          </a:prstGeom>
          <a:noFill/>
          <a:ln/>
        </p:spPr>
        <p:txBody>
          <a:bodyPr wrap="square" lIns="0" tIns="0" rIns="0" bIns="0" rtlCol="0" anchor="ctr"/>
          <a:lstStyle/>
          <a:p>
            <a:pPr indent="0" marL="0">
              <a:buNone/>
            </a:pPr>
            <a:r>
              <a:rPr lang="en-US" sz="1600" b="1" dirty="0">
                <a:solidFill>
                  <a:srgbClr val="1A1B1F"/>
                </a:solidFill>
                <a:latin typeface="Georgia" pitchFamily="34" charset="0"/>
                <a:ea typeface="Georgia" pitchFamily="34" charset="-122"/>
                <a:cs typeface="Georgia" pitchFamily="34" charset="-120"/>
              </a:rPr>
              <a:t>Fix a bug</a:t>
            </a:r>
            <a:endParaRPr lang="en-US" sz="1600" dirty="0"/>
          </a:p>
        </p:txBody>
      </p:sp>
      <p:sp>
        <p:nvSpPr>
          <p:cNvPr id="14" name="Text 12"/>
          <p:cNvSpPr/>
          <p:nvPr/>
        </p:nvSpPr>
        <p:spPr>
          <a:xfrm>
            <a:off x="1600200" y="3054096"/>
            <a:ext cx="6949440" cy="292608"/>
          </a:xfrm>
          <a:prstGeom prst="rect">
            <a:avLst/>
          </a:prstGeom>
          <a:noFill/>
          <a:ln/>
        </p:spPr>
        <p:txBody>
          <a:bodyPr wrap="square" lIns="0" tIns="0" rIns="0" bIns="0" rtlCol="0" anchor="ctr"/>
          <a:lstStyle/>
          <a:p>
            <a:pPr indent="0" marL="0">
              <a:buNone/>
            </a:pPr>
            <a:r>
              <a:rPr lang="en-US" sz="1100" i="1" dirty="0">
                <a:solidFill>
                  <a:srgbClr val="B56548"/>
                </a:solidFill>
                <a:latin typeface="Consolas" pitchFamily="34" charset="0"/>
                <a:ea typeface="Consolas" pitchFamily="34" charset="-122"/>
                <a:cs typeface="Consolas" pitchFamily="34" charset="-120"/>
              </a:rPr>
              <a:t>"Startup throws 'Cannot read property X of undefined' from services/auth.ts:42. Find the cause and fix it."</a:t>
            </a:r>
            <a:endParaRPr lang="en-US" sz="1100" dirty="0"/>
          </a:p>
        </p:txBody>
      </p:sp>
      <p:sp>
        <p:nvSpPr>
          <p:cNvPr id="15" name="Text 13"/>
          <p:cNvSpPr/>
          <p:nvPr/>
        </p:nvSpPr>
        <p:spPr>
          <a:xfrm>
            <a:off x="1600200" y="3328416"/>
            <a:ext cx="6949440" cy="27432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Traces the error, reads the relevant modules, proposes a fix, and verifies.</a:t>
            </a:r>
            <a:endParaRPr lang="en-US" sz="1100" dirty="0"/>
          </a:p>
        </p:txBody>
      </p:sp>
      <p:sp>
        <p:nvSpPr>
          <p:cNvPr id="16" name="Shape 14"/>
          <p:cNvSpPr/>
          <p:nvPr/>
        </p:nvSpPr>
        <p:spPr>
          <a:xfrm>
            <a:off x="502920" y="3739896"/>
            <a:ext cx="8138160" cy="96012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7" name="Shape 15"/>
          <p:cNvSpPr/>
          <p:nvPr/>
        </p:nvSpPr>
        <p:spPr>
          <a:xfrm>
            <a:off x="502920" y="3739896"/>
            <a:ext cx="914400" cy="960120"/>
          </a:xfrm>
          <a:prstGeom prst="rect">
            <a:avLst/>
          </a:prstGeom>
          <a:solidFill>
            <a:srgbClr val="1A1B1F"/>
          </a:solidFill>
          <a:ln w="12700">
            <a:solidFill>
              <a:srgbClr val="1A1B1F"/>
            </a:solidFill>
            <a:prstDash val="solid"/>
          </a:ln>
        </p:spPr>
      </p:sp>
      <p:sp>
        <p:nvSpPr>
          <p:cNvPr id="18" name="Text 16"/>
          <p:cNvSpPr/>
          <p:nvPr/>
        </p:nvSpPr>
        <p:spPr>
          <a:xfrm>
            <a:off x="502920" y="3739896"/>
            <a:ext cx="914400" cy="960120"/>
          </a:xfrm>
          <a:prstGeom prst="rect">
            <a:avLst/>
          </a:prstGeom>
          <a:noFill/>
          <a:ln/>
        </p:spPr>
        <p:txBody>
          <a:bodyPr wrap="square" lIns="0" tIns="0" rIns="0" bIns="0" rtlCol="0" anchor="ctr"/>
          <a:lstStyle/>
          <a:p>
            <a:pPr algn="ctr" indent="0" marL="0">
              <a:buNone/>
            </a:pPr>
            <a:r>
              <a:rPr lang="en-US" sz="2800" b="1" dirty="0">
                <a:solidFill>
                  <a:srgbClr val="CC785C"/>
                </a:solidFill>
                <a:latin typeface="Georgia" pitchFamily="34" charset="0"/>
                <a:ea typeface="Georgia" pitchFamily="34" charset="-122"/>
                <a:cs typeface="Georgia" pitchFamily="34" charset="-120"/>
              </a:rPr>
              <a:t>03</a:t>
            </a:r>
            <a:endParaRPr lang="en-US" sz="2800" dirty="0"/>
          </a:p>
        </p:txBody>
      </p:sp>
      <p:sp>
        <p:nvSpPr>
          <p:cNvPr id="19" name="Text 17"/>
          <p:cNvSpPr/>
          <p:nvPr/>
        </p:nvSpPr>
        <p:spPr>
          <a:xfrm>
            <a:off x="1600200" y="3831336"/>
            <a:ext cx="6949440" cy="320040"/>
          </a:xfrm>
          <a:prstGeom prst="rect">
            <a:avLst/>
          </a:prstGeom>
          <a:noFill/>
          <a:ln/>
        </p:spPr>
        <p:txBody>
          <a:bodyPr wrap="square" lIns="0" tIns="0" rIns="0" bIns="0" rtlCol="0" anchor="ctr"/>
          <a:lstStyle/>
          <a:p>
            <a:pPr indent="0" marL="0">
              <a:buNone/>
            </a:pPr>
            <a:r>
              <a:rPr lang="en-US" sz="1600" b="1" dirty="0">
                <a:solidFill>
                  <a:srgbClr val="1A1B1F"/>
                </a:solidFill>
                <a:latin typeface="Georgia" pitchFamily="34" charset="0"/>
                <a:ea typeface="Georgia" pitchFamily="34" charset="-122"/>
                <a:cs typeface="Georgia" pitchFamily="34" charset="-120"/>
              </a:rPr>
              <a:t>Understand code</a:t>
            </a:r>
            <a:endParaRPr lang="en-US" sz="1600" dirty="0"/>
          </a:p>
        </p:txBody>
      </p:sp>
      <p:sp>
        <p:nvSpPr>
          <p:cNvPr id="20" name="Text 18"/>
          <p:cNvSpPr/>
          <p:nvPr/>
        </p:nvSpPr>
        <p:spPr>
          <a:xfrm>
            <a:off x="1600200" y="4123944"/>
            <a:ext cx="6949440" cy="292608"/>
          </a:xfrm>
          <a:prstGeom prst="rect">
            <a:avLst/>
          </a:prstGeom>
          <a:noFill/>
          <a:ln/>
        </p:spPr>
        <p:txBody>
          <a:bodyPr wrap="square" lIns="0" tIns="0" rIns="0" bIns="0" rtlCol="0" anchor="ctr"/>
          <a:lstStyle/>
          <a:p>
            <a:pPr indent="0" marL="0">
              <a:buNone/>
            </a:pPr>
            <a:r>
              <a:rPr lang="en-US" sz="1100" i="1" dirty="0">
                <a:solidFill>
                  <a:srgbClr val="B56548"/>
                </a:solidFill>
                <a:latin typeface="Consolas" pitchFamily="34" charset="0"/>
                <a:ea typeface="Consolas" pitchFamily="34" charset="-122"/>
                <a:cs typeface="Consolas" pitchFamily="34" charset="-120"/>
              </a:rPr>
              <a:t>"Walk me through auth end-to-end. Start at the login endpoint; call out the token validation path."</a:t>
            </a:r>
            <a:endParaRPr lang="en-US" sz="1100" dirty="0"/>
          </a:p>
        </p:txBody>
      </p:sp>
      <p:sp>
        <p:nvSpPr>
          <p:cNvPr id="21" name="Text 19"/>
          <p:cNvSpPr/>
          <p:nvPr/>
        </p:nvSpPr>
        <p:spPr>
          <a:xfrm>
            <a:off x="1600200" y="4398264"/>
            <a:ext cx="6949440" cy="27432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Maps the system, summarizes the flow, and points at the key entry points.</a:t>
            </a:r>
            <a:endParaRPr lang="en-US" sz="1100" dirty="0"/>
          </a:p>
        </p:txBody>
      </p:sp>
      <p:sp>
        <p:nvSpPr>
          <p:cNvPr id="22" name="Text 20"/>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12  —  COMMANDS</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Essential commands</a:t>
            </a:r>
            <a:endParaRPr lang="en-US" sz="36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You can use Claude Code with plain English only. These shortcuts just make everyday sessions faster.</a:t>
            </a:r>
            <a:endParaRPr lang="en-US" sz="1300" dirty="0"/>
          </a:p>
        </p:txBody>
      </p:sp>
      <p:sp>
        <p:nvSpPr>
          <p:cNvPr id="5" name="Shape 3"/>
          <p:cNvSpPr/>
          <p:nvPr/>
        </p:nvSpPr>
        <p:spPr>
          <a:xfrm>
            <a:off x="502920" y="1920240"/>
            <a:ext cx="2697480" cy="2651760"/>
          </a:xfrm>
          <a:prstGeom prst="rect">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502920" y="1920240"/>
            <a:ext cx="2697480" cy="502920"/>
          </a:xfrm>
          <a:prstGeom prst="rect">
            <a:avLst/>
          </a:prstGeom>
          <a:solidFill>
            <a:srgbClr val="2A2B30"/>
          </a:solidFill>
          <a:ln w="12700">
            <a:solidFill>
              <a:srgbClr val="2A2B30"/>
            </a:solidFill>
            <a:prstDash val="solid"/>
          </a:ln>
        </p:spPr>
      </p:sp>
      <p:sp>
        <p:nvSpPr>
          <p:cNvPr id="7" name="Text 5"/>
          <p:cNvSpPr/>
          <p:nvPr/>
        </p:nvSpPr>
        <p:spPr>
          <a:xfrm>
            <a:off x="685800" y="2029968"/>
            <a:ext cx="2331720" cy="201168"/>
          </a:xfrm>
          <a:prstGeom prst="rect">
            <a:avLst/>
          </a:prstGeom>
          <a:noFill/>
          <a:ln/>
        </p:spPr>
        <p:txBody>
          <a:bodyPr wrap="square" lIns="0" tIns="0" rIns="0" bIns="0" rtlCol="0" anchor="ctr"/>
          <a:lstStyle/>
          <a:p>
            <a:pPr indent="0" marL="0">
              <a:buNone/>
            </a:pPr>
            <a:r>
              <a:rPr lang="en-US" sz="900" b="1" spc="300" kern="0" dirty="0">
                <a:solidFill>
                  <a:srgbClr val="CC785C"/>
                </a:solidFill>
                <a:latin typeface="Calibri" pitchFamily="34" charset="0"/>
                <a:ea typeface="Calibri" pitchFamily="34" charset="-122"/>
                <a:cs typeface="Calibri" pitchFamily="34" charset="-120"/>
              </a:rPr>
              <a:t>INSIDE A SESSION</a:t>
            </a:r>
            <a:endParaRPr lang="en-US" sz="900" dirty="0"/>
          </a:p>
        </p:txBody>
      </p:sp>
      <p:sp>
        <p:nvSpPr>
          <p:cNvPr id="8" name="Text 6"/>
          <p:cNvSpPr/>
          <p:nvPr/>
        </p:nvSpPr>
        <p:spPr>
          <a:xfrm>
            <a:off x="685800" y="2212848"/>
            <a:ext cx="2331720" cy="182880"/>
          </a:xfrm>
          <a:prstGeom prst="rect">
            <a:avLst/>
          </a:prstGeom>
          <a:noFill/>
          <a:ln/>
        </p:spPr>
        <p:txBody>
          <a:bodyPr wrap="square" lIns="0" tIns="0" rIns="0" bIns="0" rtlCol="0" anchor="ctr"/>
          <a:lstStyle/>
          <a:p>
            <a:pPr indent="0" marL="0">
              <a:buNone/>
            </a:pPr>
            <a:r>
              <a:rPr lang="en-US" sz="1200" i="1" dirty="0">
                <a:solidFill>
                  <a:srgbClr val="F7F5F0"/>
                </a:solidFill>
                <a:latin typeface="Georgia" pitchFamily="34" charset="0"/>
                <a:ea typeface="Georgia" pitchFamily="34" charset="-122"/>
                <a:cs typeface="Georgia" pitchFamily="34" charset="-120"/>
              </a:rPr>
              <a:t>Slash commands</a:t>
            </a:r>
            <a:endParaRPr lang="en-US" sz="1200" dirty="0"/>
          </a:p>
        </p:txBody>
      </p:sp>
      <p:sp>
        <p:nvSpPr>
          <p:cNvPr id="9" name="Text 7"/>
          <p:cNvSpPr/>
          <p:nvPr/>
        </p:nvSpPr>
        <p:spPr>
          <a:xfrm>
            <a:off x="685800" y="2560320"/>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/clear</a:t>
            </a:r>
            <a:endParaRPr lang="en-US" sz="1100" dirty="0"/>
          </a:p>
        </p:txBody>
      </p:sp>
      <p:sp>
        <p:nvSpPr>
          <p:cNvPr id="10" name="Text 8"/>
          <p:cNvSpPr/>
          <p:nvPr/>
        </p:nvSpPr>
        <p:spPr>
          <a:xfrm>
            <a:off x="2011680" y="2560320"/>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Start fresh</a:t>
            </a:r>
            <a:endParaRPr lang="en-US" sz="1050" dirty="0"/>
          </a:p>
        </p:txBody>
      </p:sp>
      <p:sp>
        <p:nvSpPr>
          <p:cNvPr id="11" name="Text 9"/>
          <p:cNvSpPr/>
          <p:nvPr/>
        </p:nvSpPr>
        <p:spPr>
          <a:xfrm>
            <a:off x="685800" y="2944368"/>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/compact</a:t>
            </a:r>
            <a:endParaRPr lang="en-US" sz="1100" dirty="0"/>
          </a:p>
        </p:txBody>
      </p:sp>
      <p:sp>
        <p:nvSpPr>
          <p:cNvPr id="12" name="Text 10"/>
          <p:cNvSpPr/>
          <p:nvPr/>
        </p:nvSpPr>
        <p:spPr>
          <a:xfrm>
            <a:off x="2011680" y="2944368"/>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Compress history</a:t>
            </a:r>
            <a:endParaRPr lang="en-US" sz="1050" dirty="0"/>
          </a:p>
        </p:txBody>
      </p:sp>
      <p:sp>
        <p:nvSpPr>
          <p:cNvPr id="13" name="Text 11"/>
          <p:cNvSpPr/>
          <p:nvPr/>
        </p:nvSpPr>
        <p:spPr>
          <a:xfrm>
            <a:off x="685800" y="3328416"/>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/model</a:t>
            </a:r>
            <a:endParaRPr lang="en-US" sz="1100" dirty="0"/>
          </a:p>
        </p:txBody>
      </p:sp>
      <p:sp>
        <p:nvSpPr>
          <p:cNvPr id="14" name="Text 12"/>
          <p:cNvSpPr/>
          <p:nvPr/>
        </p:nvSpPr>
        <p:spPr>
          <a:xfrm>
            <a:off x="2011680" y="3328416"/>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Switch model</a:t>
            </a:r>
            <a:endParaRPr lang="en-US" sz="1050" dirty="0"/>
          </a:p>
        </p:txBody>
      </p:sp>
      <p:sp>
        <p:nvSpPr>
          <p:cNvPr id="15" name="Text 13"/>
          <p:cNvSpPr/>
          <p:nvPr/>
        </p:nvSpPr>
        <p:spPr>
          <a:xfrm>
            <a:off x="685800" y="3712464"/>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/review</a:t>
            </a:r>
            <a:endParaRPr lang="en-US" sz="1100" dirty="0"/>
          </a:p>
        </p:txBody>
      </p:sp>
      <p:sp>
        <p:nvSpPr>
          <p:cNvPr id="16" name="Text 14"/>
          <p:cNvSpPr/>
          <p:nvPr/>
        </p:nvSpPr>
        <p:spPr>
          <a:xfrm>
            <a:off x="2011680" y="3712464"/>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Review changes</a:t>
            </a:r>
            <a:endParaRPr lang="en-US" sz="1050" dirty="0"/>
          </a:p>
        </p:txBody>
      </p:sp>
      <p:sp>
        <p:nvSpPr>
          <p:cNvPr id="17" name="Text 15"/>
          <p:cNvSpPr/>
          <p:nvPr/>
        </p:nvSpPr>
        <p:spPr>
          <a:xfrm>
            <a:off x="685800" y="4096512"/>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/help</a:t>
            </a:r>
            <a:endParaRPr lang="en-US" sz="1100" dirty="0"/>
          </a:p>
        </p:txBody>
      </p:sp>
      <p:sp>
        <p:nvSpPr>
          <p:cNvPr id="18" name="Text 16"/>
          <p:cNvSpPr/>
          <p:nvPr/>
        </p:nvSpPr>
        <p:spPr>
          <a:xfrm>
            <a:off x="2011680" y="4096512"/>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List all commands</a:t>
            </a:r>
            <a:endParaRPr lang="en-US" sz="1050" dirty="0"/>
          </a:p>
        </p:txBody>
      </p:sp>
      <p:sp>
        <p:nvSpPr>
          <p:cNvPr id="19" name="Shape 17"/>
          <p:cNvSpPr/>
          <p:nvPr/>
        </p:nvSpPr>
        <p:spPr>
          <a:xfrm>
            <a:off x="3246120" y="1920240"/>
            <a:ext cx="2697480" cy="2651760"/>
          </a:xfrm>
          <a:prstGeom prst="rect">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sp>
        <p:nvSpPr>
          <p:cNvPr id="20" name="Shape 18"/>
          <p:cNvSpPr/>
          <p:nvPr/>
        </p:nvSpPr>
        <p:spPr>
          <a:xfrm>
            <a:off x="3246120" y="1920240"/>
            <a:ext cx="2697480" cy="502920"/>
          </a:xfrm>
          <a:prstGeom prst="rect">
            <a:avLst/>
          </a:prstGeom>
          <a:solidFill>
            <a:srgbClr val="2A2B30"/>
          </a:solidFill>
          <a:ln w="12700">
            <a:solidFill>
              <a:srgbClr val="2A2B30"/>
            </a:solidFill>
            <a:prstDash val="solid"/>
          </a:ln>
        </p:spPr>
      </p:sp>
      <p:sp>
        <p:nvSpPr>
          <p:cNvPr id="21" name="Text 19"/>
          <p:cNvSpPr/>
          <p:nvPr/>
        </p:nvSpPr>
        <p:spPr>
          <a:xfrm>
            <a:off x="3429000" y="2029968"/>
            <a:ext cx="2331720" cy="201168"/>
          </a:xfrm>
          <a:prstGeom prst="rect">
            <a:avLst/>
          </a:prstGeom>
          <a:noFill/>
          <a:ln/>
        </p:spPr>
        <p:txBody>
          <a:bodyPr wrap="square" lIns="0" tIns="0" rIns="0" bIns="0" rtlCol="0" anchor="ctr"/>
          <a:lstStyle/>
          <a:p>
            <a:pPr indent="0" marL="0">
              <a:buNone/>
            </a:pPr>
            <a:r>
              <a:rPr lang="en-US" sz="900" b="1" spc="300" kern="0" dirty="0">
                <a:solidFill>
                  <a:srgbClr val="CC785C"/>
                </a:solidFill>
                <a:latin typeface="Calibri" pitchFamily="34" charset="0"/>
                <a:ea typeface="Calibri" pitchFamily="34" charset="-122"/>
                <a:cs typeface="Calibri" pitchFamily="34" charset="-120"/>
              </a:rPr>
              <a:t>KEYBOARD</a:t>
            </a:r>
            <a:endParaRPr lang="en-US" sz="900" dirty="0"/>
          </a:p>
        </p:txBody>
      </p:sp>
      <p:sp>
        <p:nvSpPr>
          <p:cNvPr id="22" name="Text 20"/>
          <p:cNvSpPr/>
          <p:nvPr/>
        </p:nvSpPr>
        <p:spPr>
          <a:xfrm>
            <a:off x="3429000" y="2212848"/>
            <a:ext cx="2331720" cy="182880"/>
          </a:xfrm>
          <a:prstGeom prst="rect">
            <a:avLst/>
          </a:prstGeom>
          <a:noFill/>
          <a:ln/>
        </p:spPr>
        <p:txBody>
          <a:bodyPr wrap="square" lIns="0" tIns="0" rIns="0" bIns="0" rtlCol="0" anchor="ctr"/>
          <a:lstStyle/>
          <a:p>
            <a:pPr indent="0" marL="0">
              <a:buNone/>
            </a:pPr>
            <a:r>
              <a:rPr lang="en-US" sz="1200" i="1" dirty="0">
                <a:solidFill>
                  <a:srgbClr val="F7F5F0"/>
                </a:solidFill>
                <a:latin typeface="Georgia" pitchFamily="34" charset="0"/>
                <a:ea typeface="Georgia" pitchFamily="34" charset="-122"/>
                <a:cs typeface="Georgia" pitchFamily="34" charset="-120"/>
              </a:rPr>
              <a:t>Shortcuts</a:t>
            </a:r>
            <a:endParaRPr lang="en-US" sz="1200" dirty="0"/>
          </a:p>
        </p:txBody>
      </p:sp>
      <p:sp>
        <p:nvSpPr>
          <p:cNvPr id="23" name="Text 21"/>
          <p:cNvSpPr/>
          <p:nvPr/>
        </p:nvSpPr>
        <p:spPr>
          <a:xfrm>
            <a:off x="3429000" y="2560320"/>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Shift+Tab</a:t>
            </a:r>
            <a:endParaRPr lang="en-US" sz="1100" dirty="0"/>
          </a:p>
        </p:txBody>
      </p:sp>
      <p:sp>
        <p:nvSpPr>
          <p:cNvPr id="24" name="Text 22"/>
          <p:cNvSpPr/>
          <p:nvPr/>
        </p:nvSpPr>
        <p:spPr>
          <a:xfrm>
            <a:off x="4754880" y="2560320"/>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Cycle modes</a:t>
            </a:r>
            <a:endParaRPr lang="en-US" sz="1050" dirty="0"/>
          </a:p>
        </p:txBody>
      </p:sp>
      <p:sp>
        <p:nvSpPr>
          <p:cNvPr id="25" name="Text 23"/>
          <p:cNvSpPr/>
          <p:nvPr/>
        </p:nvSpPr>
        <p:spPr>
          <a:xfrm>
            <a:off x="3429000" y="2944368"/>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Ctrl+C</a:t>
            </a:r>
            <a:endParaRPr lang="en-US" sz="1100" dirty="0"/>
          </a:p>
        </p:txBody>
      </p:sp>
      <p:sp>
        <p:nvSpPr>
          <p:cNvPr id="26" name="Text 24"/>
          <p:cNvSpPr/>
          <p:nvPr/>
        </p:nvSpPr>
        <p:spPr>
          <a:xfrm>
            <a:off x="4754880" y="2944368"/>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Interrupt</a:t>
            </a:r>
            <a:endParaRPr lang="en-US" sz="1050" dirty="0"/>
          </a:p>
        </p:txBody>
      </p:sp>
      <p:sp>
        <p:nvSpPr>
          <p:cNvPr id="27" name="Text 25"/>
          <p:cNvSpPr/>
          <p:nvPr/>
        </p:nvSpPr>
        <p:spPr>
          <a:xfrm>
            <a:off x="3429000" y="3328416"/>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Esc Esc</a:t>
            </a:r>
            <a:endParaRPr lang="en-US" sz="1100" dirty="0"/>
          </a:p>
        </p:txBody>
      </p:sp>
      <p:sp>
        <p:nvSpPr>
          <p:cNvPr id="28" name="Text 26"/>
          <p:cNvSpPr/>
          <p:nvPr/>
        </p:nvSpPr>
        <p:spPr>
          <a:xfrm>
            <a:off x="4754880" y="3328416"/>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Rewind</a:t>
            </a:r>
            <a:endParaRPr lang="en-US" sz="1050" dirty="0"/>
          </a:p>
        </p:txBody>
      </p:sp>
      <p:sp>
        <p:nvSpPr>
          <p:cNvPr id="29" name="Text 27"/>
          <p:cNvSpPr/>
          <p:nvPr/>
        </p:nvSpPr>
        <p:spPr>
          <a:xfrm>
            <a:off x="3429000" y="3712464"/>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a:t>
            </a:r>
            <a:endParaRPr lang="en-US" sz="1100" dirty="0"/>
          </a:p>
        </p:txBody>
      </p:sp>
      <p:sp>
        <p:nvSpPr>
          <p:cNvPr id="30" name="Text 28"/>
          <p:cNvSpPr/>
          <p:nvPr/>
        </p:nvSpPr>
        <p:spPr>
          <a:xfrm>
            <a:off x="4754880" y="3712464"/>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Reference a file</a:t>
            </a:r>
            <a:endParaRPr lang="en-US" sz="1050" dirty="0"/>
          </a:p>
        </p:txBody>
      </p:sp>
      <p:sp>
        <p:nvSpPr>
          <p:cNvPr id="31" name="Text 29"/>
          <p:cNvSpPr/>
          <p:nvPr/>
        </p:nvSpPr>
        <p:spPr>
          <a:xfrm>
            <a:off x="3429000" y="4096512"/>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a:t>
            </a:r>
            <a:endParaRPr lang="en-US" sz="1100" dirty="0"/>
          </a:p>
        </p:txBody>
      </p:sp>
      <p:sp>
        <p:nvSpPr>
          <p:cNvPr id="32" name="Text 30"/>
          <p:cNvSpPr/>
          <p:nvPr/>
        </p:nvSpPr>
        <p:spPr>
          <a:xfrm>
            <a:off x="4754880" y="4096512"/>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Run a shell command</a:t>
            </a:r>
            <a:endParaRPr lang="en-US" sz="1050" dirty="0"/>
          </a:p>
        </p:txBody>
      </p:sp>
      <p:sp>
        <p:nvSpPr>
          <p:cNvPr id="33" name="Shape 31"/>
          <p:cNvSpPr/>
          <p:nvPr/>
        </p:nvSpPr>
        <p:spPr>
          <a:xfrm>
            <a:off x="5989320" y="1920240"/>
            <a:ext cx="2697480" cy="2651760"/>
          </a:xfrm>
          <a:prstGeom prst="rect">
            <a:avLst/>
          </a:prstGeom>
          <a:solidFill>
            <a:srgbClr val="1A1B1F"/>
          </a:solidFill>
          <a:ln w="12700">
            <a:solidFill>
              <a:srgbClr val="1A1B1F"/>
            </a:solidFill>
            <a:prstDash val="solid"/>
          </a:ln>
          <a:effectLst>
            <a:outerShdw sx="100000" sy="100000" kx="0" ky="0" algn="bl" rotWithShape="0" blurRad="127000" dist="25400" dir="5400000">
              <a:srgbClr val="000000">
                <a:alpha val="8000"/>
              </a:srgbClr>
            </a:outerShdw>
          </a:effectLst>
        </p:spPr>
      </p:sp>
      <p:sp>
        <p:nvSpPr>
          <p:cNvPr id="34" name="Shape 32"/>
          <p:cNvSpPr/>
          <p:nvPr/>
        </p:nvSpPr>
        <p:spPr>
          <a:xfrm>
            <a:off x="5989320" y="1920240"/>
            <a:ext cx="2697480" cy="502920"/>
          </a:xfrm>
          <a:prstGeom prst="rect">
            <a:avLst/>
          </a:prstGeom>
          <a:solidFill>
            <a:srgbClr val="2A2B30"/>
          </a:solidFill>
          <a:ln w="12700">
            <a:solidFill>
              <a:srgbClr val="2A2B30"/>
            </a:solidFill>
            <a:prstDash val="solid"/>
          </a:ln>
        </p:spPr>
      </p:sp>
      <p:sp>
        <p:nvSpPr>
          <p:cNvPr id="35" name="Text 33"/>
          <p:cNvSpPr/>
          <p:nvPr/>
        </p:nvSpPr>
        <p:spPr>
          <a:xfrm>
            <a:off x="6172200" y="2029968"/>
            <a:ext cx="2331720" cy="201168"/>
          </a:xfrm>
          <a:prstGeom prst="rect">
            <a:avLst/>
          </a:prstGeom>
          <a:noFill/>
          <a:ln/>
        </p:spPr>
        <p:txBody>
          <a:bodyPr wrap="square" lIns="0" tIns="0" rIns="0" bIns="0" rtlCol="0" anchor="ctr"/>
          <a:lstStyle/>
          <a:p>
            <a:pPr indent="0" marL="0">
              <a:buNone/>
            </a:pPr>
            <a:r>
              <a:rPr lang="en-US" sz="900" b="1" spc="300" kern="0" dirty="0">
                <a:solidFill>
                  <a:srgbClr val="CC785C"/>
                </a:solidFill>
                <a:latin typeface="Calibri" pitchFamily="34" charset="0"/>
                <a:ea typeface="Calibri" pitchFamily="34" charset="-122"/>
                <a:cs typeface="Calibri" pitchFamily="34" charset="-120"/>
              </a:rPr>
              <a:t>AT STARTUP</a:t>
            </a:r>
            <a:endParaRPr lang="en-US" sz="900" dirty="0"/>
          </a:p>
        </p:txBody>
      </p:sp>
      <p:sp>
        <p:nvSpPr>
          <p:cNvPr id="36" name="Text 34"/>
          <p:cNvSpPr/>
          <p:nvPr/>
        </p:nvSpPr>
        <p:spPr>
          <a:xfrm>
            <a:off x="6172200" y="2212848"/>
            <a:ext cx="2331720" cy="182880"/>
          </a:xfrm>
          <a:prstGeom prst="rect">
            <a:avLst/>
          </a:prstGeom>
          <a:noFill/>
          <a:ln/>
        </p:spPr>
        <p:txBody>
          <a:bodyPr wrap="square" lIns="0" tIns="0" rIns="0" bIns="0" rtlCol="0" anchor="ctr"/>
          <a:lstStyle/>
          <a:p>
            <a:pPr indent="0" marL="0">
              <a:buNone/>
            </a:pPr>
            <a:r>
              <a:rPr lang="en-US" sz="1200" i="1" dirty="0">
                <a:solidFill>
                  <a:srgbClr val="F7F5F0"/>
                </a:solidFill>
                <a:latin typeface="Georgia" pitchFamily="34" charset="0"/>
                <a:ea typeface="Georgia" pitchFamily="34" charset="-122"/>
                <a:cs typeface="Georgia" pitchFamily="34" charset="-120"/>
              </a:rPr>
              <a:t>CLI flags</a:t>
            </a:r>
            <a:endParaRPr lang="en-US" sz="1200" dirty="0"/>
          </a:p>
        </p:txBody>
      </p:sp>
      <p:sp>
        <p:nvSpPr>
          <p:cNvPr id="37" name="Text 35"/>
          <p:cNvSpPr/>
          <p:nvPr/>
        </p:nvSpPr>
        <p:spPr>
          <a:xfrm>
            <a:off x="6172200" y="2560320"/>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claude -c</a:t>
            </a:r>
            <a:endParaRPr lang="en-US" sz="1100" dirty="0"/>
          </a:p>
        </p:txBody>
      </p:sp>
      <p:sp>
        <p:nvSpPr>
          <p:cNvPr id="38" name="Text 36"/>
          <p:cNvSpPr/>
          <p:nvPr/>
        </p:nvSpPr>
        <p:spPr>
          <a:xfrm>
            <a:off x="7498080" y="2560320"/>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Continue previous</a:t>
            </a:r>
            <a:endParaRPr lang="en-US" sz="1050" dirty="0"/>
          </a:p>
        </p:txBody>
      </p:sp>
      <p:sp>
        <p:nvSpPr>
          <p:cNvPr id="39" name="Text 37"/>
          <p:cNvSpPr/>
          <p:nvPr/>
        </p:nvSpPr>
        <p:spPr>
          <a:xfrm>
            <a:off x="6172200" y="2944368"/>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claude -p "..."</a:t>
            </a:r>
            <a:endParaRPr lang="en-US" sz="1100" dirty="0"/>
          </a:p>
        </p:txBody>
      </p:sp>
      <p:sp>
        <p:nvSpPr>
          <p:cNvPr id="40" name="Text 38"/>
          <p:cNvSpPr/>
          <p:nvPr/>
        </p:nvSpPr>
        <p:spPr>
          <a:xfrm>
            <a:off x="7498080" y="2944368"/>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One-shot, no prompt</a:t>
            </a:r>
            <a:endParaRPr lang="en-US" sz="1050" dirty="0"/>
          </a:p>
        </p:txBody>
      </p:sp>
      <p:sp>
        <p:nvSpPr>
          <p:cNvPr id="41" name="Text 39"/>
          <p:cNvSpPr/>
          <p:nvPr/>
        </p:nvSpPr>
        <p:spPr>
          <a:xfrm>
            <a:off x="6172200" y="3328416"/>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--model opus</a:t>
            </a:r>
            <a:endParaRPr lang="en-US" sz="1100" dirty="0"/>
          </a:p>
        </p:txBody>
      </p:sp>
      <p:sp>
        <p:nvSpPr>
          <p:cNvPr id="42" name="Text 40"/>
          <p:cNvSpPr/>
          <p:nvPr/>
        </p:nvSpPr>
        <p:spPr>
          <a:xfrm>
            <a:off x="7498080" y="3328416"/>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Choose model</a:t>
            </a:r>
            <a:endParaRPr lang="en-US" sz="1050" dirty="0"/>
          </a:p>
        </p:txBody>
      </p:sp>
      <p:sp>
        <p:nvSpPr>
          <p:cNvPr id="43" name="Text 41"/>
          <p:cNvSpPr/>
          <p:nvPr/>
        </p:nvSpPr>
        <p:spPr>
          <a:xfrm>
            <a:off x="6172200" y="3712464"/>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--permission-mode</a:t>
            </a:r>
            <a:endParaRPr lang="en-US" sz="1100" dirty="0"/>
          </a:p>
        </p:txBody>
      </p:sp>
      <p:sp>
        <p:nvSpPr>
          <p:cNvPr id="44" name="Text 42"/>
          <p:cNvSpPr/>
          <p:nvPr/>
        </p:nvSpPr>
        <p:spPr>
          <a:xfrm>
            <a:off x="7498080" y="3712464"/>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Auto-approve edits</a:t>
            </a:r>
            <a:endParaRPr lang="en-US" sz="1050" dirty="0"/>
          </a:p>
        </p:txBody>
      </p:sp>
      <p:sp>
        <p:nvSpPr>
          <p:cNvPr id="45" name="Text 43"/>
          <p:cNvSpPr/>
          <p:nvPr/>
        </p:nvSpPr>
        <p:spPr>
          <a:xfrm>
            <a:off x="6172200" y="4096512"/>
            <a:ext cx="1325880" cy="384048"/>
          </a:xfrm>
          <a:prstGeom prst="rect">
            <a:avLst/>
          </a:prstGeom>
          <a:noFill/>
          <a:ln/>
        </p:spPr>
        <p:txBody>
          <a:bodyPr wrap="square" lIns="0" tIns="0" rIns="0" bIns="0" rtlCol="0" anchor="ctr"/>
          <a:lstStyle/>
          <a:p>
            <a:pPr indent="0" marL="0">
              <a:buNone/>
            </a:pPr>
            <a:r>
              <a:rPr lang="en-US" sz="1100" b="1" dirty="0">
                <a:solidFill>
                  <a:srgbClr val="CC785C"/>
                </a:solidFill>
                <a:latin typeface="Consolas" pitchFamily="34" charset="0"/>
                <a:ea typeface="Consolas" pitchFamily="34" charset="-122"/>
                <a:cs typeface="Consolas" pitchFamily="34" charset="-120"/>
              </a:rPr>
              <a:t>--help</a:t>
            </a:r>
            <a:endParaRPr lang="en-US" sz="1100" dirty="0"/>
          </a:p>
        </p:txBody>
      </p:sp>
      <p:sp>
        <p:nvSpPr>
          <p:cNvPr id="46" name="Text 44"/>
          <p:cNvSpPr/>
          <p:nvPr/>
        </p:nvSpPr>
        <p:spPr>
          <a:xfrm>
            <a:off x="7498080" y="4096512"/>
            <a:ext cx="1051560" cy="384048"/>
          </a:xfrm>
          <a:prstGeom prst="rect">
            <a:avLst/>
          </a:prstGeom>
          <a:noFill/>
          <a:ln/>
        </p:spPr>
        <p:txBody>
          <a:bodyPr wrap="square" lIns="0" tIns="0" rIns="0" bIns="0" rtlCol="0" anchor="ctr"/>
          <a:lstStyle/>
          <a:p>
            <a:pPr indent="0" marL="0">
              <a:buNone/>
            </a:pPr>
            <a:r>
              <a:rPr lang="en-US" sz="1050" dirty="0">
                <a:solidFill>
                  <a:srgbClr val="A9A69E"/>
                </a:solidFill>
                <a:latin typeface="Calibri" pitchFamily="34" charset="0"/>
                <a:ea typeface="Calibri" pitchFamily="34" charset="-122"/>
                <a:cs typeface="Calibri" pitchFamily="34" charset="-120"/>
              </a:rPr>
              <a:t>List all flags</a:t>
            </a:r>
            <a:endParaRPr lang="en-US" sz="1050" dirty="0"/>
          </a:p>
        </p:txBody>
      </p:sp>
      <p:sp>
        <p:nvSpPr>
          <p:cNvPr id="47" name="Text 45"/>
          <p:cNvSpPr/>
          <p:nvPr/>
        </p:nvSpPr>
        <p:spPr>
          <a:xfrm>
            <a:off x="502920" y="4645152"/>
            <a:ext cx="8138160" cy="274320"/>
          </a:xfrm>
          <a:prstGeom prst="rect">
            <a:avLst/>
          </a:prstGeom>
          <a:noFill/>
          <a:ln/>
        </p:spPr>
        <p:txBody>
          <a:bodyPr wrap="square" lIns="0" tIns="0" rIns="0" bIns="0" rtlCol="0" anchor="ctr"/>
          <a:lstStyle/>
          <a:p>
            <a:pPr indent="0" marL="0">
              <a:buNone/>
            </a:pPr>
            <a:r>
              <a:rPr lang="en-US" sz="1000" i="1" dirty="0">
                <a:solidFill>
                  <a:srgbClr val="6B6A66"/>
                </a:solidFill>
                <a:latin typeface="Calibri" pitchFamily="34" charset="0"/>
                <a:ea typeface="Calibri" pitchFamily="34" charset="-122"/>
                <a:cs typeface="Calibri" pitchFamily="34" charset="-120"/>
              </a:rPr>
              <a:t>Start with /clear and Shift+Tab — the two you'll use most often.</a:t>
            </a:r>
            <a:endParaRPr lang="en-US" sz="1000" dirty="0"/>
          </a:p>
        </p:txBody>
      </p:sp>
      <p:sp>
        <p:nvSpPr>
          <p:cNvPr id="48" name="Text 46"/>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B1F"/>
        </a:solidFill>
      </p:bgPr>
    </p:bg>
    <p:spTree>
      <p:nvGrpSpPr>
        <p:cNvPr id="1" name=""/>
        <p:cNvGrpSpPr/>
        <p:nvPr/>
      </p:nvGrpSpPr>
      <p:grpSpPr>
        <a:xfrm>
          <a:off x="0" y="0"/>
          <a:ext cx="0" cy="0"/>
          <a:chOff x="0" y="0"/>
          <a:chExt cx="0" cy="0"/>
        </a:xfrm>
      </p:grpSpPr>
      <p:sp>
        <p:nvSpPr>
          <p:cNvPr id="2" name="Shape 0"/>
          <p:cNvSpPr/>
          <p:nvPr/>
        </p:nvSpPr>
        <p:spPr>
          <a:xfrm>
            <a:off x="502920" y="502920"/>
            <a:ext cx="164592" cy="164592"/>
          </a:xfrm>
          <a:prstGeom prst="ellipse">
            <a:avLst/>
          </a:prstGeom>
          <a:solidFill>
            <a:srgbClr val="CC785C"/>
          </a:solidFill>
          <a:ln w="12700">
            <a:solidFill>
              <a:srgbClr val="CC785C"/>
            </a:solidFill>
            <a:prstDash val="solid"/>
          </a:ln>
        </p:spPr>
      </p:sp>
      <p:sp>
        <p:nvSpPr>
          <p:cNvPr id="3" name="Text 1"/>
          <p:cNvSpPr/>
          <p:nvPr/>
        </p:nvSpPr>
        <p:spPr>
          <a:xfrm>
            <a:off x="749808" y="457200"/>
            <a:ext cx="4572000" cy="256032"/>
          </a:xfrm>
          <a:prstGeom prst="rect">
            <a:avLst/>
          </a:prstGeom>
          <a:noFill/>
          <a:ln/>
        </p:spPr>
        <p:txBody>
          <a:bodyPr wrap="square" lIns="0" tIns="0" rIns="0" bIns="0" rtlCol="0" anchor="ctr"/>
          <a:lstStyle/>
          <a:p>
            <a:pPr indent="0" marL="0">
              <a:buNone/>
            </a:pPr>
            <a:r>
              <a:rPr lang="en-US" sz="1100" b="1" spc="400" kern="0" dirty="0">
                <a:solidFill>
                  <a:srgbClr val="A9A69E"/>
                </a:solidFill>
                <a:latin typeface="Calibri" pitchFamily="34" charset="0"/>
                <a:ea typeface="Calibri" pitchFamily="34" charset="-122"/>
                <a:cs typeface="Calibri" pitchFamily="34" charset="-120"/>
              </a:rPr>
              <a:t>END  —  NEXT STEPS</a:t>
            </a:r>
            <a:endParaRPr lang="en-US" sz="1100" dirty="0"/>
          </a:p>
        </p:txBody>
      </p:sp>
      <p:sp>
        <p:nvSpPr>
          <p:cNvPr id="4" name="Text 2"/>
          <p:cNvSpPr/>
          <p:nvPr/>
        </p:nvSpPr>
        <p:spPr>
          <a:xfrm>
            <a:off x="502920" y="1691640"/>
            <a:ext cx="8412480" cy="731520"/>
          </a:xfrm>
          <a:prstGeom prst="rect">
            <a:avLst/>
          </a:prstGeom>
          <a:noFill/>
          <a:ln/>
        </p:spPr>
        <p:txBody>
          <a:bodyPr wrap="square" lIns="0" tIns="0" rIns="0" bIns="0" rtlCol="0" anchor="ctr"/>
          <a:lstStyle/>
          <a:p>
            <a:pPr indent="0" marL="0">
              <a:buNone/>
            </a:pPr>
            <a:r>
              <a:rPr lang="en-US" sz="3400" b="1" dirty="0">
                <a:solidFill>
                  <a:srgbClr val="F7F5F0"/>
                </a:solidFill>
                <a:latin typeface="Georgia" pitchFamily="34" charset="0"/>
                <a:ea typeface="Georgia" pitchFamily="34" charset="-122"/>
                <a:cs typeface="Georgia" pitchFamily="34" charset="-120"/>
              </a:rPr>
              <a:t>That's the overview.</a:t>
            </a:r>
            <a:endParaRPr lang="en-US" sz="3400" dirty="0"/>
          </a:p>
        </p:txBody>
      </p:sp>
      <p:sp>
        <p:nvSpPr>
          <p:cNvPr id="5" name="Text 3"/>
          <p:cNvSpPr/>
          <p:nvPr/>
        </p:nvSpPr>
        <p:spPr>
          <a:xfrm>
            <a:off x="502920" y="2377440"/>
            <a:ext cx="8412480" cy="731520"/>
          </a:xfrm>
          <a:prstGeom prst="rect">
            <a:avLst/>
          </a:prstGeom>
          <a:noFill/>
          <a:ln/>
        </p:spPr>
        <p:txBody>
          <a:bodyPr wrap="square" lIns="0" tIns="0" rIns="0" bIns="0" rtlCol="0" anchor="ctr"/>
          <a:lstStyle/>
          <a:p>
            <a:pPr indent="0" marL="0">
              <a:buNone/>
            </a:pPr>
            <a:r>
              <a:rPr lang="en-US" sz="3400" i="1" dirty="0">
                <a:solidFill>
                  <a:srgbClr val="CC785C"/>
                </a:solidFill>
                <a:latin typeface="Georgia" pitchFamily="34" charset="0"/>
                <a:ea typeface="Georgia" pitchFamily="34" charset="-122"/>
                <a:cs typeface="Georgia" pitchFamily="34" charset="-120"/>
              </a:rPr>
              <a:t>Questions and discussion.</a:t>
            </a:r>
            <a:endParaRPr lang="en-US" sz="3400" dirty="0"/>
          </a:p>
        </p:txBody>
      </p:sp>
      <p:sp>
        <p:nvSpPr>
          <p:cNvPr id="6" name="Text 4"/>
          <p:cNvSpPr/>
          <p:nvPr/>
        </p:nvSpPr>
        <p:spPr>
          <a:xfrm>
            <a:off x="502920" y="3703320"/>
            <a:ext cx="2743200" cy="228600"/>
          </a:xfrm>
          <a:prstGeom prst="rect">
            <a:avLst/>
          </a:prstGeom>
          <a:noFill/>
          <a:ln/>
        </p:spPr>
        <p:txBody>
          <a:bodyPr wrap="square" lIns="0" tIns="0" rIns="0" bIns="0" rtlCol="0" anchor="ctr"/>
          <a:lstStyle/>
          <a:p>
            <a:pPr indent="0" marL="0">
              <a:buNone/>
            </a:pPr>
            <a:r>
              <a:rPr lang="en-US" sz="900" b="1" spc="300" kern="0" dirty="0">
                <a:solidFill>
                  <a:srgbClr val="A9A69E"/>
                </a:solidFill>
                <a:latin typeface="Calibri" pitchFamily="34" charset="0"/>
                <a:ea typeface="Calibri" pitchFamily="34" charset="-122"/>
                <a:cs typeface="Calibri" pitchFamily="34" charset="-120"/>
              </a:rPr>
              <a:t>DOCUMENTATION</a:t>
            </a:r>
            <a:endParaRPr lang="en-US" sz="900" dirty="0"/>
          </a:p>
        </p:txBody>
      </p:sp>
      <p:sp>
        <p:nvSpPr>
          <p:cNvPr id="7" name="Text 5"/>
          <p:cNvSpPr/>
          <p:nvPr/>
        </p:nvSpPr>
        <p:spPr>
          <a:xfrm>
            <a:off x="502920" y="3931920"/>
            <a:ext cx="4572000" cy="320040"/>
          </a:xfrm>
          <a:prstGeom prst="rect">
            <a:avLst/>
          </a:prstGeom>
          <a:noFill/>
          <a:ln/>
        </p:spPr>
        <p:txBody>
          <a:bodyPr wrap="square" lIns="0" tIns="0" rIns="0" bIns="0" rtlCol="0" anchor="ctr"/>
          <a:lstStyle/>
          <a:p>
            <a:pPr indent="0" marL="0">
              <a:buNone/>
            </a:pPr>
            <a:r>
              <a:rPr lang="en-US" sz="1400" dirty="0">
                <a:solidFill>
                  <a:srgbClr val="F7F5F0"/>
                </a:solidFill>
                <a:latin typeface="Consolas" pitchFamily="34" charset="0"/>
                <a:ea typeface="Consolas" pitchFamily="34" charset="-122"/>
                <a:cs typeface="Consolas" pitchFamily="34" charset="-120"/>
              </a:rPr>
              <a:t>docs.claude.com/en/docs/claude-code</a:t>
            </a:r>
            <a:endParaRPr lang="en-US" sz="1400" dirty="0"/>
          </a:p>
        </p:txBody>
      </p:sp>
      <p:sp>
        <p:nvSpPr>
          <p:cNvPr id="8" name="Text 6"/>
          <p:cNvSpPr/>
          <p:nvPr/>
        </p:nvSpPr>
        <p:spPr>
          <a:xfrm>
            <a:off x="5303520" y="3703320"/>
            <a:ext cx="2743200" cy="228600"/>
          </a:xfrm>
          <a:prstGeom prst="rect">
            <a:avLst/>
          </a:prstGeom>
          <a:noFill/>
          <a:ln/>
        </p:spPr>
        <p:txBody>
          <a:bodyPr wrap="square" lIns="0" tIns="0" rIns="0" bIns="0" rtlCol="0" anchor="ctr"/>
          <a:lstStyle/>
          <a:p>
            <a:pPr indent="0" marL="0">
              <a:buNone/>
            </a:pPr>
            <a:r>
              <a:rPr lang="en-US" sz="900" b="1" spc="300" kern="0" dirty="0">
                <a:solidFill>
                  <a:srgbClr val="A9A69E"/>
                </a:solidFill>
                <a:latin typeface="Calibri" pitchFamily="34" charset="0"/>
                <a:ea typeface="Calibri" pitchFamily="34" charset="-122"/>
                <a:cs typeface="Calibri" pitchFamily="34" charset="-120"/>
              </a:rPr>
              <a:t>CHANGELOG</a:t>
            </a:r>
            <a:endParaRPr lang="en-US" sz="900" dirty="0"/>
          </a:p>
        </p:txBody>
      </p:sp>
      <p:sp>
        <p:nvSpPr>
          <p:cNvPr id="9" name="Text 7"/>
          <p:cNvSpPr/>
          <p:nvPr/>
        </p:nvSpPr>
        <p:spPr>
          <a:xfrm>
            <a:off x="5303520" y="3931920"/>
            <a:ext cx="3657600" cy="320040"/>
          </a:xfrm>
          <a:prstGeom prst="rect">
            <a:avLst/>
          </a:prstGeom>
          <a:noFill/>
          <a:ln/>
        </p:spPr>
        <p:txBody>
          <a:bodyPr wrap="square" lIns="0" tIns="0" rIns="0" bIns="0" rtlCol="0" anchor="ctr"/>
          <a:lstStyle/>
          <a:p>
            <a:pPr indent="0" marL="0">
              <a:buNone/>
            </a:pPr>
            <a:r>
              <a:rPr lang="en-US" sz="1400" dirty="0">
                <a:solidFill>
                  <a:srgbClr val="CC785C"/>
                </a:solidFill>
                <a:latin typeface="Consolas" pitchFamily="34" charset="0"/>
                <a:ea typeface="Consolas" pitchFamily="34" charset="-122"/>
                <a:cs typeface="Consolas" pitchFamily="34" charset="-120"/>
              </a:rPr>
              <a:t>docs.claude.com/en/release-notes</a:t>
            </a:r>
            <a:endParaRPr lang="en-US" sz="1400" dirty="0"/>
          </a:p>
        </p:txBody>
      </p:sp>
      <p:sp>
        <p:nvSpPr>
          <p:cNvPr id="10" name="Shape 8"/>
          <p:cNvSpPr/>
          <p:nvPr/>
        </p:nvSpPr>
        <p:spPr>
          <a:xfrm>
            <a:off x="502920" y="4617720"/>
            <a:ext cx="8138160" cy="0"/>
          </a:xfrm>
          <a:prstGeom prst="line">
            <a:avLst/>
          </a:prstGeom>
          <a:noFill/>
          <a:ln w="12700">
            <a:solidFill>
              <a:srgbClr val="2A2B30"/>
            </a:solidFill>
            <a:prstDash val="solid"/>
          </a:ln>
        </p:spPr>
      </p:sp>
      <p:sp>
        <p:nvSpPr>
          <p:cNvPr id="11" name="Text 9"/>
          <p:cNvSpPr/>
          <p:nvPr/>
        </p:nvSpPr>
        <p:spPr>
          <a:xfrm>
            <a:off x="502920" y="4709160"/>
            <a:ext cx="4572000" cy="274320"/>
          </a:xfrm>
          <a:prstGeom prst="rect">
            <a:avLst/>
          </a:prstGeom>
          <a:noFill/>
          <a:ln/>
        </p:spPr>
        <p:txBody>
          <a:bodyPr wrap="square" lIns="0" tIns="0" rIns="0" bIns="0" rtlCol="0" anchor="ctr"/>
          <a:lstStyle/>
          <a:p>
            <a:pPr indent="0" marL="0">
              <a:buNone/>
            </a:pPr>
            <a:r>
              <a:rPr lang="en-US" sz="1000" dirty="0">
                <a:solidFill>
                  <a:srgbClr val="A9A69E"/>
                </a:solidFill>
                <a:latin typeface="Calibri" pitchFamily="34" charset="0"/>
                <a:ea typeface="Calibri" pitchFamily="34" charset="-122"/>
                <a:cs typeface="Calibri" pitchFamily="34" charset="-120"/>
              </a:rPr>
              <a:t>Thank you</a:t>
            </a:r>
            <a:endParaRPr lang="en-US" sz="1000" dirty="0"/>
          </a:p>
        </p:txBody>
      </p:sp>
      <p:sp>
        <p:nvSpPr>
          <p:cNvPr id="12" name="Text 10"/>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A9A69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02920" y="411480"/>
            <a:ext cx="6400800" cy="274320"/>
          </a:xfrm>
          <a:prstGeom prst="rect">
            <a:avLst/>
          </a:prstGeom>
          <a:noFill/>
          <a:ln/>
        </p:spPr>
        <p:txBody>
          <a:bodyPr wrap="square" lIns="0" tIns="0" rIns="0" bIns="0" rtlCol="0" anchor="ctr"/>
          <a:lstStyle/>
          <a:p>
            <a:pPr indent="0" marL="0">
              <a:buNone/>
            </a:pPr>
            <a:r>
              <a:rPr lang="en-US" sz="1000" b="1" spc="400" kern="0" dirty="0">
                <a:solidFill>
                  <a:srgbClr val="CC785C"/>
                </a:solidFill>
                <a:latin typeface="Calibri" pitchFamily="34" charset="0"/>
                <a:ea typeface="Calibri" pitchFamily="34" charset="-122"/>
                <a:cs typeface="Calibri" pitchFamily="34" charset="-120"/>
              </a:rPr>
              <a:t>13  —  LIMITATIONS</a:t>
            </a:r>
            <a:endParaRPr lang="en-US" sz="1000" dirty="0"/>
          </a:p>
        </p:txBody>
      </p:sp>
      <p:sp>
        <p:nvSpPr>
          <p:cNvPr id="3" name="Text 1"/>
          <p:cNvSpPr/>
          <p:nvPr/>
        </p:nvSpPr>
        <p:spPr>
          <a:xfrm>
            <a:off x="502920" y="731520"/>
            <a:ext cx="8229600" cy="685800"/>
          </a:xfrm>
          <a:prstGeom prst="rect">
            <a:avLst/>
          </a:prstGeom>
          <a:noFill/>
          <a:ln/>
        </p:spPr>
        <p:txBody>
          <a:bodyPr wrap="square" lIns="0" tIns="0" rIns="0" bIns="0" rtlCol="0" anchor="ctr"/>
          <a:lstStyle/>
          <a:p>
            <a:pPr indent="0" marL="0">
              <a:buNone/>
            </a:pPr>
            <a:r>
              <a:rPr lang="en-US" sz="3600" b="1" dirty="0">
                <a:solidFill>
                  <a:srgbClr val="1A1B1F"/>
                </a:solidFill>
                <a:latin typeface="Georgia" pitchFamily="34" charset="0"/>
                <a:ea typeface="Georgia" pitchFamily="34" charset="-122"/>
                <a:cs typeface="Georgia" pitchFamily="34" charset="-120"/>
              </a:rPr>
              <a:t>Where it falls short</a:t>
            </a:r>
            <a:endParaRPr lang="en-US" sz="36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Knowing the failure modes makes you faster at catching them. Always read the diff.</a:t>
            </a:r>
            <a:endParaRPr lang="en-US" sz="1300" dirty="0"/>
          </a:p>
        </p:txBody>
      </p:sp>
      <p:sp>
        <p:nvSpPr>
          <p:cNvPr id="5" name="Shape 3"/>
          <p:cNvSpPr/>
          <p:nvPr/>
        </p:nvSpPr>
        <p:spPr>
          <a:xfrm>
            <a:off x="502920" y="1965960"/>
            <a:ext cx="4023360" cy="13716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502920" y="1965960"/>
            <a:ext cx="64008" cy="1371600"/>
          </a:xfrm>
          <a:prstGeom prst="rect">
            <a:avLst/>
          </a:prstGeom>
          <a:solidFill>
            <a:srgbClr val="CC785C"/>
          </a:solidFill>
          <a:ln w="12700">
            <a:solidFill>
              <a:srgbClr val="CC785C"/>
            </a:solidFill>
            <a:prstDash val="solid"/>
          </a:ln>
        </p:spPr>
      </p:sp>
      <p:pic>
        <p:nvPicPr>
          <p:cNvPr id="7" name="Image 0" descr="preencoded.png">    </p:cNvPr>
          <p:cNvPicPr>
            <a:picLocks noChangeAspect="1"/>
          </p:cNvPicPr>
          <p:nvPr/>
        </p:nvPicPr>
        <p:blipFill>
          <a:blip r:embed="rId1"/>
          <a:stretch>
            <a:fillRect/>
          </a:stretch>
        </p:blipFill>
        <p:spPr>
          <a:xfrm>
            <a:off x="758952" y="2194560"/>
            <a:ext cx="320040" cy="320040"/>
          </a:xfrm>
          <a:prstGeom prst="rect">
            <a:avLst/>
          </a:prstGeom>
        </p:spPr>
      </p:pic>
      <p:sp>
        <p:nvSpPr>
          <p:cNvPr id="8" name="Text 5"/>
          <p:cNvSpPr/>
          <p:nvPr/>
        </p:nvSpPr>
        <p:spPr>
          <a:xfrm>
            <a:off x="1188720" y="2130552"/>
            <a:ext cx="3200400" cy="320040"/>
          </a:xfrm>
          <a:prstGeom prst="rect">
            <a:avLst/>
          </a:prstGeom>
          <a:noFill/>
          <a:ln/>
        </p:spPr>
        <p:txBody>
          <a:bodyPr wrap="square" lIns="0" tIns="0" rIns="0" bIns="0" rtlCol="0" anchor="ctr"/>
          <a:lstStyle/>
          <a:p>
            <a:pPr indent="0" marL="0">
              <a:buNone/>
            </a:pPr>
            <a:r>
              <a:rPr lang="en-US" sz="1800" b="1" dirty="0">
                <a:solidFill>
                  <a:srgbClr val="1A1B1F"/>
                </a:solidFill>
                <a:latin typeface="Georgia" pitchFamily="34" charset="0"/>
                <a:ea typeface="Georgia" pitchFamily="34" charset="-122"/>
                <a:cs typeface="Georgia" pitchFamily="34" charset="-120"/>
              </a:rPr>
              <a:t>Context</a:t>
            </a:r>
            <a:endParaRPr lang="en-US" sz="1800" dirty="0"/>
          </a:p>
        </p:txBody>
      </p:sp>
      <p:sp>
        <p:nvSpPr>
          <p:cNvPr id="9" name="Text 6"/>
          <p:cNvSpPr/>
          <p:nvPr/>
        </p:nvSpPr>
        <p:spPr>
          <a:xfrm>
            <a:off x="1188720" y="2423160"/>
            <a:ext cx="3200400" cy="219456"/>
          </a:xfrm>
          <a:prstGeom prst="rect">
            <a:avLst/>
          </a:prstGeom>
          <a:noFill/>
          <a:ln/>
        </p:spPr>
        <p:txBody>
          <a:bodyPr wrap="square" lIns="0" tIns="0" rIns="0" bIns="0"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Dropped details</a:t>
            </a:r>
            <a:endParaRPr lang="en-US" sz="1000" dirty="0"/>
          </a:p>
        </p:txBody>
      </p:sp>
      <p:sp>
        <p:nvSpPr>
          <p:cNvPr id="10" name="Text 7"/>
          <p:cNvSpPr/>
          <p:nvPr/>
        </p:nvSpPr>
        <p:spPr>
          <a:xfrm>
            <a:off x="758952" y="2697480"/>
            <a:ext cx="3611880" cy="59436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Long sessions and huge files strain the context window; earlier details get dropped. Reset with /clear, trim with /compact, point with @.</a:t>
            </a:r>
            <a:endParaRPr lang="en-US" sz="1100" dirty="0"/>
          </a:p>
        </p:txBody>
      </p:sp>
      <p:sp>
        <p:nvSpPr>
          <p:cNvPr id="11" name="Shape 8"/>
          <p:cNvSpPr/>
          <p:nvPr/>
        </p:nvSpPr>
        <p:spPr>
          <a:xfrm>
            <a:off x="4617720" y="1965960"/>
            <a:ext cx="4023360" cy="13716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2" name="Shape 9"/>
          <p:cNvSpPr/>
          <p:nvPr/>
        </p:nvSpPr>
        <p:spPr>
          <a:xfrm>
            <a:off x="4617720" y="1965960"/>
            <a:ext cx="64008" cy="1371600"/>
          </a:xfrm>
          <a:prstGeom prst="rect">
            <a:avLst/>
          </a:prstGeom>
          <a:solidFill>
            <a:srgbClr val="CC785C"/>
          </a:solidFill>
          <a:ln w="12700">
            <a:solidFill>
              <a:srgbClr val="CC785C"/>
            </a:solidFill>
            <a:prstDash val="solid"/>
          </a:ln>
        </p:spPr>
      </p:sp>
      <p:pic>
        <p:nvPicPr>
          <p:cNvPr id="13" name="Image 1" descr="preencoded.png">    </p:cNvPr>
          <p:cNvPicPr>
            <a:picLocks noChangeAspect="1"/>
          </p:cNvPicPr>
          <p:nvPr/>
        </p:nvPicPr>
        <p:blipFill>
          <a:blip r:embed="rId2"/>
          <a:stretch>
            <a:fillRect/>
          </a:stretch>
        </p:blipFill>
        <p:spPr>
          <a:xfrm>
            <a:off x="4873752" y="2194560"/>
            <a:ext cx="320040" cy="320040"/>
          </a:xfrm>
          <a:prstGeom prst="rect">
            <a:avLst/>
          </a:prstGeom>
        </p:spPr>
      </p:pic>
      <p:sp>
        <p:nvSpPr>
          <p:cNvPr id="14" name="Text 10"/>
          <p:cNvSpPr/>
          <p:nvPr/>
        </p:nvSpPr>
        <p:spPr>
          <a:xfrm>
            <a:off x="5303520" y="2130552"/>
            <a:ext cx="3200400" cy="320040"/>
          </a:xfrm>
          <a:prstGeom prst="rect">
            <a:avLst/>
          </a:prstGeom>
          <a:noFill/>
          <a:ln/>
        </p:spPr>
        <p:txBody>
          <a:bodyPr wrap="square" lIns="0" tIns="0" rIns="0" bIns="0" rtlCol="0" anchor="ctr"/>
          <a:lstStyle/>
          <a:p>
            <a:pPr indent="0" marL="0">
              <a:buNone/>
            </a:pPr>
            <a:r>
              <a:rPr lang="en-US" sz="1800" b="1" dirty="0">
                <a:solidFill>
                  <a:srgbClr val="1A1B1F"/>
                </a:solidFill>
                <a:latin typeface="Georgia" pitchFamily="34" charset="0"/>
                <a:ea typeface="Georgia" pitchFamily="34" charset="-122"/>
                <a:cs typeface="Georgia" pitchFamily="34" charset="-120"/>
              </a:rPr>
              <a:t>Hallucinations</a:t>
            </a:r>
            <a:endParaRPr lang="en-US" sz="1800" dirty="0"/>
          </a:p>
        </p:txBody>
      </p:sp>
      <p:sp>
        <p:nvSpPr>
          <p:cNvPr id="15" name="Text 11"/>
          <p:cNvSpPr/>
          <p:nvPr/>
        </p:nvSpPr>
        <p:spPr>
          <a:xfrm>
            <a:off x="5303520" y="2423160"/>
            <a:ext cx="3200400" cy="219456"/>
          </a:xfrm>
          <a:prstGeom prst="rect">
            <a:avLst/>
          </a:prstGeom>
          <a:noFill/>
          <a:ln/>
        </p:spPr>
        <p:txBody>
          <a:bodyPr wrap="square" lIns="0" tIns="0" rIns="0" bIns="0"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Plausible but wrong</a:t>
            </a:r>
            <a:endParaRPr lang="en-US" sz="1000" dirty="0"/>
          </a:p>
        </p:txBody>
      </p:sp>
      <p:sp>
        <p:nvSpPr>
          <p:cNvPr id="16" name="Text 12"/>
          <p:cNvSpPr/>
          <p:nvPr/>
        </p:nvSpPr>
        <p:spPr>
          <a:xfrm>
            <a:off x="4873752" y="2697480"/>
            <a:ext cx="3611880" cy="59436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When evidence is thin, Claude still answers assertively. Verify behavior and APIs — not just that the code compiles.</a:t>
            </a:r>
            <a:endParaRPr lang="en-US" sz="1100" dirty="0"/>
          </a:p>
        </p:txBody>
      </p:sp>
      <p:sp>
        <p:nvSpPr>
          <p:cNvPr id="17" name="Shape 13"/>
          <p:cNvSpPr/>
          <p:nvPr/>
        </p:nvSpPr>
        <p:spPr>
          <a:xfrm>
            <a:off x="502920" y="3429000"/>
            <a:ext cx="4023360" cy="13716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18" name="Shape 14"/>
          <p:cNvSpPr/>
          <p:nvPr/>
        </p:nvSpPr>
        <p:spPr>
          <a:xfrm>
            <a:off x="502920" y="3429000"/>
            <a:ext cx="64008" cy="1371600"/>
          </a:xfrm>
          <a:prstGeom prst="rect">
            <a:avLst/>
          </a:prstGeom>
          <a:solidFill>
            <a:srgbClr val="CC785C"/>
          </a:solidFill>
          <a:ln w="12700">
            <a:solidFill>
              <a:srgbClr val="CC785C"/>
            </a:solidFill>
            <a:prstDash val="solid"/>
          </a:ln>
        </p:spPr>
      </p:sp>
      <p:pic>
        <p:nvPicPr>
          <p:cNvPr id="19" name="Image 2" descr="preencoded.png">    </p:cNvPr>
          <p:cNvPicPr>
            <a:picLocks noChangeAspect="1"/>
          </p:cNvPicPr>
          <p:nvPr/>
        </p:nvPicPr>
        <p:blipFill>
          <a:blip r:embed="rId3"/>
          <a:stretch>
            <a:fillRect/>
          </a:stretch>
        </p:blipFill>
        <p:spPr>
          <a:xfrm>
            <a:off x="758952" y="3657600"/>
            <a:ext cx="320040" cy="320040"/>
          </a:xfrm>
          <a:prstGeom prst="rect">
            <a:avLst/>
          </a:prstGeom>
        </p:spPr>
      </p:pic>
      <p:sp>
        <p:nvSpPr>
          <p:cNvPr id="20" name="Text 15"/>
          <p:cNvSpPr/>
          <p:nvPr/>
        </p:nvSpPr>
        <p:spPr>
          <a:xfrm>
            <a:off x="1188720" y="3593592"/>
            <a:ext cx="3200400" cy="320040"/>
          </a:xfrm>
          <a:prstGeom prst="rect">
            <a:avLst/>
          </a:prstGeom>
          <a:noFill/>
          <a:ln/>
        </p:spPr>
        <p:txBody>
          <a:bodyPr wrap="square" lIns="0" tIns="0" rIns="0" bIns="0" rtlCol="0" anchor="ctr"/>
          <a:lstStyle/>
          <a:p>
            <a:pPr indent="0" marL="0">
              <a:buNone/>
            </a:pPr>
            <a:r>
              <a:rPr lang="en-US" sz="1800" b="1" dirty="0">
                <a:solidFill>
                  <a:srgbClr val="1A1B1F"/>
                </a:solidFill>
                <a:latin typeface="Georgia" pitchFamily="34" charset="0"/>
                <a:ea typeface="Georgia" pitchFamily="34" charset="-122"/>
                <a:cs typeface="Georgia" pitchFamily="34" charset="-120"/>
              </a:rPr>
              <a:t>Hidden state</a:t>
            </a:r>
            <a:endParaRPr lang="en-US" sz="1800" dirty="0"/>
          </a:p>
        </p:txBody>
      </p:sp>
      <p:sp>
        <p:nvSpPr>
          <p:cNvPr id="21" name="Text 16"/>
          <p:cNvSpPr/>
          <p:nvPr/>
        </p:nvSpPr>
        <p:spPr>
          <a:xfrm>
            <a:off x="1188720" y="3886200"/>
            <a:ext cx="3200400" cy="219456"/>
          </a:xfrm>
          <a:prstGeom prst="rect">
            <a:avLst/>
          </a:prstGeom>
          <a:noFill/>
          <a:ln/>
        </p:spPr>
        <p:txBody>
          <a:bodyPr wrap="square" lIns="0" tIns="0" rIns="0" bIns="0"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Invisible to the code</a:t>
            </a:r>
            <a:endParaRPr lang="en-US" sz="1000" dirty="0"/>
          </a:p>
        </p:txBody>
      </p:sp>
      <p:sp>
        <p:nvSpPr>
          <p:cNvPr id="22" name="Text 17"/>
          <p:cNvSpPr/>
          <p:nvPr/>
        </p:nvSpPr>
        <p:spPr>
          <a:xfrm>
            <a:off x="758952" y="4160520"/>
            <a:ext cx="3611880" cy="59436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External APIs, runtime config, feature flags, and team conventions don't live in the code. Point Claude at them explicitly.</a:t>
            </a:r>
            <a:endParaRPr lang="en-US" sz="1100" dirty="0"/>
          </a:p>
        </p:txBody>
      </p:sp>
      <p:sp>
        <p:nvSpPr>
          <p:cNvPr id="23" name="Shape 18"/>
          <p:cNvSpPr/>
          <p:nvPr/>
        </p:nvSpPr>
        <p:spPr>
          <a:xfrm>
            <a:off x="4617720" y="3429000"/>
            <a:ext cx="4023360" cy="1371600"/>
          </a:xfrm>
          <a:prstGeom prst="rect">
            <a:avLst/>
          </a:prstGeom>
          <a:solidFill>
            <a:srgbClr val="FFFFFF"/>
          </a:solidFill>
          <a:ln w="9525">
            <a:solidFill>
              <a:srgbClr val="E3DFD7"/>
            </a:solidFill>
            <a:prstDash val="solid"/>
          </a:ln>
          <a:effectLst>
            <a:outerShdw sx="100000" sy="100000" kx="0" ky="0" algn="bl" rotWithShape="0" blurRad="127000" dist="25400" dir="5400000">
              <a:srgbClr val="000000">
                <a:alpha val="8000"/>
              </a:srgbClr>
            </a:outerShdw>
          </a:effectLst>
        </p:spPr>
      </p:sp>
      <p:sp>
        <p:nvSpPr>
          <p:cNvPr id="24" name="Shape 19"/>
          <p:cNvSpPr/>
          <p:nvPr/>
        </p:nvSpPr>
        <p:spPr>
          <a:xfrm>
            <a:off x="4617720" y="3429000"/>
            <a:ext cx="64008" cy="1371600"/>
          </a:xfrm>
          <a:prstGeom prst="rect">
            <a:avLst/>
          </a:prstGeom>
          <a:solidFill>
            <a:srgbClr val="CC785C"/>
          </a:solidFill>
          <a:ln w="12700">
            <a:solidFill>
              <a:srgbClr val="CC785C"/>
            </a:solidFill>
            <a:prstDash val="solid"/>
          </a:ln>
        </p:spPr>
      </p:sp>
      <p:pic>
        <p:nvPicPr>
          <p:cNvPr id="25" name="Image 3" descr="preencoded.png">    </p:cNvPr>
          <p:cNvPicPr>
            <a:picLocks noChangeAspect="1"/>
          </p:cNvPicPr>
          <p:nvPr/>
        </p:nvPicPr>
        <p:blipFill>
          <a:blip r:embed="rId4"/>
          <a:stretch>
            <a:fillRect/>
          </a:stretch>
        </p:blipFill>
        <p:spPr>
          <a:xfrm>
            <a:off x="4873752" y="3657600"/>
            <a:ext cx="320040" cy="320040"/>
          </a:xfrm>
          <a:prstGeom prst="rect">
            <a:avLst/>
          </a:prstGeom>
        </p:spPr>
      </p:pic>
      <p:sp>
        <p:nvSpPr>
          <p:cNvPr id="26" name="Text 20"/>
          <p:cNvSpPr/>
          <p:nvPr/>
        </p:nvSpPr>
        <p:spPr>
          <a:xfrm>
            <a:off x="5303520" y="3593592"/>
            <a:ext cx="3200400" cy="320040"/>
          </a:xfrm>
          <a:prstGeom prst="rect">
            <a:avLst/>
          </a:prstGeom>
          <a:noFill/>
          <a:ln/>
        </p:spPr>
        <p:txBody>
          <a:bodyPr wrap="square" lIns="0" tIns="0" rIns="0" bIns="0" rtlCol="0" anchor="ctr"/>
          <a:lstStyle/>
          <a:p>
            <a:pPr indent="0" marL="0">
              <a:buNone/>
            </a:pPr>
            <a:r>
              <a:rPr lang="en-US" sz="1800" b="1" dirty="0">
                <a:solidFill>
                  <a:srgbClr val="1A1B1F"/>
                </a:solidFill>
                <a:latin typeface="Georgia" pitchFamily="34" charset="0"/>
                <a:ea typeface="Georgia" pitchFamily="34" charset="-122"/>
                <a:cs typeface="Georgia" pitchFamily="34" charset="-120"/>
              </a:rPr>
              <a:t>Review</a:t>
            </a:r>
            <a:endParaRPr lang="en-US" sz="1800" dirty="0"/>
          </a:p>
        </p:txBody>
      </p:sp>
      <p:sp>
        <p:nvSpPr>
          <p:cNvPr id="27" name="Text 21"/>
          <p:cNvSpPr/>
          <p:nvPr/>
        </p:nvSpPr>
        <p:spPr>
          <a:xfrm>
            <a:off x="5303520" y="3886200"/>
            <a:ext cx="3200400" cy="219456"/>
          </a:xfrm>
          <a:prstGeom prst="rect">
            <a:avLst/>
          </a:prstGeom>
          <a:noFill/>
          <a:ln/>
        </p:spPr>
        <p:txBody>
          <a:bodyPr wrap="square" lIns="0" tIns="0" rIns="0" bIns="0"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You own the diff</a:t>
            </a:r>
            <a:endParaRPr lang="en-US" sz="1000" dirty="0"/>
          </a:p>
        </p:txBody>
      </p:sp>
      <p:sp>
        <p:nvSpPr>
          <p:cNvPr id="28" name="Text 22"/>
          <p:cNvSpPr/>
          <p:nvPr/>
        </p:nvSpPr>
        <p:spPr>
          <a:xfrm>
            <a:off x="4873752" y="4160520"/>
            <a:ext cx="3611880" cy="594360"/>
          </a:xfrm>
          <a:prstGeom prst="rect">
            <a:avLst/>
          </a:prstGeom>
          <a:noFill/>
          <a:ln/>
        </p:spPr>
        <p:txBody>
          <a:bodyPr wrap="square" lIns="0" tIns="0" rIns="0" bIns="0" rtlCol="0" anchor="ctr"/>
          <a:lstStyle/>
          <a:p>
            <a:pPr indent="0" marL="0">
              <a:buNone/>
            </a:pPr>
            <a:r>
              <a:rPr lang="en-US" sz="1100" dirty="0">
                <a:solidFill>
                  <a:srgbClr val="6B6A66"/>
                </a:solidFill>
                <a:latin typeface="Calibri" pitchFamily="34" charset="0"/>
                <a:ea typeface="Calibri" pitchFamily="34" charset="-122"/>
                <a:cs typeface="Calibri" pitchFamily="34" charset="-120"/>
              </a:rPr>
              <a:t>Tests can pass on wrong code; commit messages can misstate intent. Read every hunk before merging — Claude is a contributor, not an owner.</a:t>
            </a:r>
            <a:endParaRPr lang="en-US" sz="1100" dirty="0"/>
          </a:p>
        </p:txBody>
      </p:sp>
      <p:sp>
        <p:nvSpPr>
          <p:cNvPr id="29" name="Text 23"/>
          <p:cNvSpPr/>
          <p:nvPr/>
        </p:nvSpPr>
        <p:spPr>
          <a:xfrm>
            <a:off x="8321040" y="4709160"/>
            <a:ext cx="365760" cy="228600"/>
          </a:xfrm>
          <a:prstGeom prst="rect">
            <a:avLst/>
          </a:prstGeom>
          <a:noFill/>
          <a:ln/>
        </p:spPr>
        <p:txBody>
          <a:bodyPr wrap="square" lIns="0" tIns="0" rIns="0" bIns="0" rtlCol="0" anchor="ctr"/>
          <a:lstStyle/>
          <a:p>
            <a:pPr algn="r" indent="0" marL="0">
              <a:buNone/>
            </a:pPr>
            <a:r>
              <a:rPr lang="en-US" sz="1000" dirty="0">
                <a:solidFill>
                  <a:srgbClr val="6B6A6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 team brief</dc:title>
  <dc:subject>PptxGenJS Presentation</dc:subject>
  <dc:creator>Architecture</dc:creator>
  <cp:lastModifiedBy>Architecture</cp:lastModifiedBy>
  <cp:revision>1</cp:revision>
  <dcterms:created xsi:type="dcterms:W3CDTF">2026-04-17T09:29:26Z</dcterms:created>
  <dcterms:modified xsi:type="dcterms:W3CDTF">2026-04-17T09:29:26Z</dcterms:modified>
</cp:coreProperties>
</file>